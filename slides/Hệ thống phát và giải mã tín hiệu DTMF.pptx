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81"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66" d="100"/>
          <a:sy n="66" d="100"/>
        </p:scale>
        <p:origin x="1008" y="7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888962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và các bạn. Em xin đại diện Nhóm 4 trình bày đề tài đánh giá so sánh ba phương pháp phân tích phổ trong giải mã tín hiệu DTMF dưới tác động của nhiễu. Nhóm xây dựng hệ thống phát và giải mã DTMF trên MATLAB với ba cách giải mã là FFT, Goertzel và ngân hàng bộ lọc, rồi so sánh chúng trên cùng một bộ dữ liệu.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4434CC-3203-4C98-A43A-68DAF3820B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A0A6DE1-ECAE-24FB-0DD4-78101300E7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13817-4276-7970-EA05-F351677A6859}"/>
              </a:ext>
            </a:extLst>
          </p:cNvPr>
          <p:cNvSpPr>
            <a:spLocks noGrp="1"/>
          </p:cNvSpPr>
          <p:nvPr>
            <p:ph type="body" idx="1"/>
          </p:nvPr>
        </p:nvSpPr>
        <p:spPr/>
        <p:txBody>
          <a:bodyPr/>
          <a:lstStyle/>
          <a:p>
            <a:r>
              <a:rPr lang="en-US" dirty="0"/>
              <a:t>Mỗi lần bấm một phím, điện thoại phát ra một âm thanh ngắn. Tổng đài không nhận được chữ số mà chỉ nhận được âm thanh đó, và đường truyền thường có nhiễu. Bài toán của nhóm là từ âm thanh có nhiễu, tự động đọc lại đúng chuỗi phím đã bấm. Bên trái là dạng sóng của ba lần bấm. Bên phải là chuỗi số mà bộ giải mã cần trả về.</a:t>
            </a:r>
          </a:p>
        </p:txBody>
      </p:sp>
      <p:sp>
        <p:nvSpPr>
          <p:cNvPr id="4" name="Slide Number Placeholder 3">
            <a:extLst>
              <a:ext uri="{FF2B5EF4-FFF2-40B4-BE49-F238E27FC236}">
                <a16:creationId xmlns:a16="http://schemas.microsoft.com/office/drawing/2014/main" id="{70B137BE-F396-88EE-9614-F45900D7E049}"/>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40168256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bấm một phím, điện thoại phát ra một âm thanh ngắn. Tổng đài không nhận được chữ số mà chỉ nhận được âm thanh đó, và đường truyền thường có nhiễu. Bài toán của nhóm là từ âm thanh có nhiễu, tự động đọc lại đúng chuỗi phím đã bấm. Bên trái là dạng sóng của ba lần bấm. Bên phải là chuỗi số mà bộ giải mã cần trả về.</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năm phần. Đầu tiên là cấu tạo của tín hiệu DTMF. Tiếp theo là ba cách giải mã và luật quyết định dùng chung. Phần ba là phần mềm, gồm ba giao diện MATLAB và một trang web điện thoại. Phần bốn là thực nghiệm về độ bền nhiễu, chi phí tính toán và dung sai tần số. Cuối cùng là kết luận.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Bàn phím điện thoại có 4 hàng và 3 cột. Mỗi hàng được gán một tần số thấp, mỗi cột được gán một tần số cao. Khi bấm một phím, máy phát cùng lúc hai sóng sin, một của hàng và một của cột. Ví dụ phím 5 nằm ở hàng 770 Hz và cột 1336 Hz. Cách mã hoá này có hai lợi ích. Thứ nhất, chỉ cần 7 tần số cho 12 phím. Thứ hai, giọng nói hiếm khi mạnh đúng tại một tần số của mỗi nhóm cùng lúc, nên khó bị nhận nhầm thành phím. Trong đề tài, máy tính ghi 8000 mẫu cho mỗi giây âm thanh, mỗi phím kêu 100 ms rồi nghỉ 50 ms, theo chuẩn quốc tế ITU-T Q.23.</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đánh giá được bộ giải mã, nhóm mô phỏng trọn một tuyến truyền gồm bốn khối. Bộ phát biến chuỗi phím thành âm thanh. Kênh truyền trộn thêm nhiễu, có thể là nhiễu xè xè kiểu AWGN hoặc tiếng ù 50 Hz của điện lưới. Mức nhiễu được đặt bằng SNR, là tỉ số giữa độ mạnh của tín hiệu và độ mạnh của nhiễu. SNR càng nhỏ thì nhiễu càng lớn. Bộ giải mã nhận âm thanh có nhiễu và trả về chuỗi phím. Cuối cùng, khối đánh giá so chuỗi này với chuỗi gốc. Vì chuỗi gốc luôn được giữ lại, ta biết chính xác bộ giải mã đúng hay sai ở từng phím.</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biết phím nào được bấm, bộ giải mã phải đo xem trong âm thanh có những tần số nào. Nhóm làm việc này theo ba cách. FFT tính toàn bộ phổ rồi đọc ra 8 điểm cần dùng. Goertzel chỉ tính đúng 8 điểm đó. Ngân hàng bộ lọc cho tín hiệu đi qua 14 bộ lọc hẹp rồi đo năng lượng ở đầu ra. Điểm quan trọng nằm ở dải bên dưới. Ba bộ giải mã dùng chung mọi bước, chỉ khác ở ô màu cam là bước đo công suất. Nhờ vậy, mọi khác biệt trong kết quả đều do chính cách đo gây ra.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này cho thấy cùng một phím 5 qua ba phương pháp. Hình trên là phổ đồ của chuỗi 0912345. Mỗi phím hiện thành hai vạch ngang, một ở nhóm thấp và một ở nhóm cao. Ba hình dưới là phím 5. FFT cho phổ liên tục với hai đỉnh. Goertzel chỉ có 8 giá trị rời. Ngân hàng lọc gồm các đường cong, mỗi đường bắt một tần số. Cả ba đều thấy hai đỉnh tại 770 Hz và 1336 Hz, chỉ khác nhau ở cách đo.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FFT tính cả 256 điểm của phổ, trong khi bộ giải mã chỉ cần biết độ mạnh của 8 tần số. Goertzel bỏ phần tính thừa đó. Thuật toán dùng 8 bộ đếm nhỏ, mỗi bộ phụ trách một tần số. Mỗi mẫu âm thanh đi qua, mỗi bộ chỉ tốn một phép nhân. Hết một khung 205 mẫu, mỗi bộ cho ra độ mạnh của tần số mà nó phụ trách. Nhờ vậy mỗi khung Goertzel chỉ cần 1672 phép nhân, còn FFT cần 4368. Nhóm chọn khung 205 mẫu vì với độ dài này, điểm đo nằm rất sát tần số chuẩn, lệch nhiều nhất 1,36%. Goertzel rẻ hơn FFT khi cần đo dưới 16 tần số, và DTMF chỉ cần 8. Phần lõi Goertzel do nhóm tự viết. Hàm có sẵn của MATLAB chỉ dùng để đối chiếu khi kiểm thử.</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Cách thứ ba không tính phổ. Âm thanh được cho đi cùng lúc qua 14 bộ lọc. Mỗi bộ lọc giống một cái cửa hẹp, chỉ cho qua âm nằm quanh một tần số, như các hình chuông trên màn hình. Bảy bộ đặt đúng tại 7 tần số chuẩn. Bảy bộ còn lại đặt ở tần số gấp đôi để phát hiện hài, phục vụ việc loại tiếng nói. Mỗi dải lọc rộng khoảng 25 Hz. Bộ lọc được chỉnh để âm đúng tần số chuẩn đi qua trọn vẹn, không bị giảm. Sau đó chỉ cần đo xem ở đầu ra mỗi bộ lọc còn bao nhiêu năng lượng. Bộ lọc nào còn nhiều năng lượng thì tần số đó đang có mặt.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đo được độ mạnh của 8 tần số, cả ba phương pháp dùng chung một luật để quyết định đoạn âm đó có phải là một phím hay không. Đoạn âm phải qua đủ năm điều kiện. Điều kiện một và hai yêu cầu mỗi nhóm có đúng một âm nổi trội, mạnh gấp ít nhất 4 lần âm đứng thứ hai. Điều kiện ba yêu cầu hai âm không chênh nhau quá nhiều, theo giới hạn của chuẩn. Điều kiện bốn yêu cầu 7 tần số chuẩn chiếm ít nhất 70% năng lượng, để loại những đoạn chỉ có nhiễu. Điều kiện năm kiểm tra hài để loại tiếng nói. Hình bên trái là phím 5 qua đủ năm điều kiện, với hai cột nổi bật tại 770 Hz và 1336 Hz. Mốc 70% này sẽ quay lại trong phần thực nghiệm.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mềm. Nhóm chia phần mềm thành bốn lớp. Lớp giao diện chỉ vẽ và phát âm thanh, gồm ba ứng dụng DTMFApp, DTMFLive và DTMFForensic. Lớp điều phối nối giao diện với bộ giải mã. Lớp xử lý chứa ba bộ giải mã. Lớp dữ liệu chứa bảng tần số, bộ phát và bộ cộng nhiễu. Nguyên tắc quan trọng là giao diện không tự giải mã. Mọi chế độ đều đi qua cùng một mã giải mã đã được đánh giá trong thực nghiệm. Cách tách lớp này cũng cho phép kiểm thử tự động mà không cần mở cửa sổ nào, với 266 ca kiểm thử MATLAB và 63 ca phía web.</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DTMFApp là giao diện để khảo sát tín hiệu, đi theo ba bước giống đường đi của tín hiệu. Bước một tạo tín hiệu gốc từ chuỗi phím, từ một tệp âm thanh hoặc từ micro. Bước hai cộng nhiễu với loại nhiễu và mức SNR tuỳ chọn. Bước ba giải mã và đặt kết quả ngay dưới chuỗi đã phát để so sánh. Mỗi bước đều kèm dạng sóng và phổ. Khi đổi mức nhiễu, phần mềm chỉ cộng lại nhiễu vào cùng tín hiệu gốc. Khi đổi bộ giải mã, phần mềm giải lại trên cùng tín hiệu có nhiễu. Nhờ vậy, các phương pháp luôn được so trên cùng một tín hiệu.</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nghe từ micro hay đường dây, âm thanh không có sẵn cả đoạn mà đến dần, mỗi lần 50 ms. Phím cần được báo ngay khi bấm, không đợi hết bản ghi. Nhóm không viết bộ giải mã thứ hai cho trường hợp này. Mỗi lần có đoạn mới, chương trình ghép thêm khoảng 100 ms âm thanh ngay trước nó để bộ lọc kịp ổn định, rồi chạy đúng bộ giải mã cũ. Khi đủ hai khung liên tiếp cùng một phím, phím được báo ngay. Nhóm đã chặt tín hiệu thành các đoạn ngẫu nhiên để thử, và kết quả trùng với giải mã cả khối ở cả 96 trên 96 ca. Vì vậy mọi kết quả thực nghiệm phía sau cũng đúng cho chế độ nghe trực tiếp. Bảng bên phải cho thấy phím được báo sau 40 đến 90 ms tính từ lúc âm bắt đầu, sớm hơn lúc âm 100 ms kết thúc.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trình diễn, nhóm làm thêm một trang web mô phỏng điện thoại, viết bằng React và TypeScript. Nửa trái là màn hình cuộc gọi. Mỗi phím bấm phát đúng cặp âm theo chuẩn Q.23. Nửa phải minh hoạ phím vừa bấm bằng ba hình. Hình a chọn một hàng và một cột trong bảng tần số. Hình b là hai sóng sin và tổng của chúng. Hình c là phổ với đúng hai đỉnh. Tổng đài trên trang dùng giọng thu sẵn để đọc lại từng phím nhận được. Trang cũng cho tải chuỗi phím thành tệp WAV, và cả ba bộ giải mã MATLAB đều đọc đúng tệp này.</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Khi nối với MATLAB, trang web đóng vai điện thoại, còn MATLAB đóng vai tổng đài DTMFLive. Sơ đồ phía trên là đường dây giữa hai bên. Trang không gửi tên phím mà gửi chính âm thanh nó phát ra loa, đã hạ về 8 kHz. Trình duyệt không mở được kết nối TCP, nên một cầu nối Node chuyển âm thanh sang MATLAB. MATLAB giải mã bằng dtmf_listen rồi gửi phím ngược về. Tổng đài trên trang chỉ đọc lại phím mà MATLAB nghe được. Với chuỗi 0912345*#, MATLAB đọc đúng cả 9 phím, và mỗi phím về tới điện thoại khoảng 0,24 giây sau khi bấm. Nhóm dùng đường dây thay cho cách để micro thu tiếng loa, vì trên cùng một laptop, âm của hai hàng 697 và 770 Hz yếu hơn âm cột từ 14 đến 21 dB.</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trình diễn chính. DTMFForensic mô phỏng việc giám định một đoạn ghi âm, trong đó số điện thoại phải được tìm lại chỉ từ âm thanh. Quy trình có bốn bước. Thầy nhập một số bí mật trên trang web. Trang dựng một đoạn ghi âm có người bấm số đó, lẫn tiếng nói chuyện và nhiễu, rồi gửi âm thanh sang MATLAB. MATLAB đọc dần từng chữ số, hết đoạn thì chạy cả ba bộ giải mã và đưa ra kết luận. Chỉ sau khi MATLAB kết luận, trang mới cho công bố số thật để đối chiếu từng chữ số là đúng, sai, sót hay thừa. Vì không ai biết trước đáp án, kết quả trên màn hình là do MATLAB tự nghe ra.</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dựng sẵn bốn mức độ khó, mỗi mức khác nhau ở nhịp bấm, độ lớn tiếng nói và mức nhiễu. Nhóm thử 60 số ngẫu nhiên, mỗi số 10 chữ số. Ở phòng yên tĩnh và quán cà phê, MATLAB đọc đúng cả 60 số. Ngoài đường còn 35 số, và ở mức cực khó, có thêm bấm vội, còn 10 số. Điểm đáng chú ý là giọng nói chưa lần nào bị đọc thành phím. Lỗi xảy ra theo cách khác. Giọng nói làm một khung ở giữa âm bị loại, khiến một lần bấm bị tách thành hai chữ số. Phần kết luận chạy nhanh, chỉ 8 đến 20 ms cho cả đoạn ghi âm dài 7 đến 8 giây.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thực nghiệm. Nhóm cho ba bộ giải mã đọc cùng 240 phím, ở 15 mức nhiễu khác nhau và hai loại nhiễu, tổng cộng 5400 lượt giải mã. Độ chính xác được tính từ số phím bị sót, thừa hoặc sai so với chuỗi gốc. Một nghĩa là đúng hết, không nghĩa là sai hết. Biểu đồ đi từ trái sang phải là nhiễu giảm dần. Khi nhiễu vừa phải, từ mức 7,5 dB trở lên, cả ba phương pháp đều đúng 100%. Khác biệt chỉ xuất hiện khi nhiễu rất mạnh. Ở mức 2,5 dB, ngân hàng lọc vẫn đúng 96%, trong khi Goertzel còn 35% và FFT còn 16%. Với tiếng ù điện lưới ở cùng mức, ngân hàng lọc đúng hết, còn FFT không đọc được phím nào. Kết quả này ngược với dự đoán ban đầu của nhóm rằng FFT sẽ mạnh nhất.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Nguyên nhân nằm ở mốc 70% của điều kiện bốn. Biểu đồ cho thấy, khi chưa có nhiễu, mỗi phương pháp giữ được bao nhiêu phần trăm năng lượng ở 7 tần số chuẩn. Vạch đỏ là mốc 70%, dưới mốc này đoạn âm bị loại. FFT và Goertzel đo ở các điểm hơi lệch khỏi tần số chuẩn, nên hụt đi một phần, chỉ còn 88% và 93%. Bộ lọc thì đặt đúng tại tần số chuẩn nên giữ được 97,5%. Khi nhiễu tăng, con số này tụt dần. Phương pháp nào bắt đầu càng cao thì càng lâu mới chạm mốc 70%, nên chịu được nhiều nhiễu hơn. Thêm một điểm tốt là khi nhiễu mạnh, bộ giải mã chủ yếu bỏ sót phím chứ gần như không đọc nhầm. Ở mức nhiễu 2,5 dB, trong 368 lỗi chỉ có 1 lần đọc thành phím khác.</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Về chi phí, nhóm đếm số phép nhân cho mỗi giây âm thanh. Goertzel cần khoảng 65 nghìn phép nhân, bằng một phần tư FFT và một phần mười ngân hàng lọc. Thời gian đo trong MATLAB cũng xếp Goertzel nhanh nhất, nhưng không tỉ lệ đúng với số phép nhân. Lý do là Goertzel là vòng lặp MATLAB chạy thông dịch, còn hàm fft và filter đã được biên dịch sẵn. Cả ba đều xử lý một giây âm thanh trong vài mili giây, nhanh hơn thời gian thực hàng trăm lần. Khi chuyển sang vi điều khiển, số phép nhân là thước đo đáng tin hơn.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Điện thoại thật không phát đúng tuyệt đối tần số chuẩn. Vì vậy chuẩn ITU-T Q.24 yêu cầu bộ giải mã vẫn nhận phím khi âm lệch tới 1,5%, và phải từ chối khi lệch từ 3,5% trở lên. Nhóm tự kiểm tra yêu cầu này. Bảng cho biết số phím nhận đúng trên 12 phím ở mỗi mức lệch. Ô càng xanh đậm thì nhận càng nhiều. Yêu cầu từ chối ở 3,5% thì cả ba đều đạt khi thử từng phím riêng. Khi thử trong cả chuỗi, ngân hàng lọc còn nhận nhầm một vài âm lệch 3,5%, nhóm sẽ nói ở slide sau. Yêu cầu nhận ở 1,5% thì chưa đạt. Ngân hàng lọc chỉ nhận chắc tới 0,5%, còn FFT và Goertzel bắt đầu sót phím khi lệch khoảng 0,5 đến 1%. Lý do là âm bị lệch thì năng lượng đo được tụt xuống dưới mốc 70%. Với ngân hàng lọc, dải lọc còn hẹp hơn độ lệch mà chuẩn cho phép. Hướng sửa là cho Goertzel đo đúng tại tần số chuẩn thay vì đo ở điểm gần nhất. Ngoài ra, chuẩn yêu cầu nhận được phím chỉ kêu 40 ms, còn bộ giải mã hiện cần phím kêu khoảng 64 đến 77 ms.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thí nghiệm trước dùng tín hiệu sinh ngay trong máy, và khoảng nghỉ giữa hai phím là im lặng tuyệt đối. Để thử những tình huống gần thực tế hơn, nhóm dựng thêm một bộ 139 tệp âm thanh có nhãn. Bộ này gồm cả giọng tổng đài thu thật, người bấm tay giữa tiếng ồn, phím giữ lâu hoặc bấm vội, tám định dạng tệp khác nhau, và 14 tệp hoàn toàn không có phím như âm mời quay số, âm báo bận hay giọng nói. Mỗi tệp được mở đúng như khi bấm nút mở tệp trong DTMFApp. Kết quả là cả ba bộ giải mã đọc đúng toàn bộ 62 tệp phải đọc đúng. Với 18 tệp phải im lặng, FFT và Goertzel không đọc ra phím nào, kể cả với 18 giây giọng nói thật. Ngân hàng lọc thì đọc nhầm 2 phím. Nguyên nhân là dư âm. Khi âm thanh vừa tắt, bộ lọc vẫn còn ngân thêm một lúc ở đúng tần số của nó, nên chương trình tưởng vẫn còn phím. Với phím thật thì dư âm này vô hại, nhưng với giọng nói hay âm lệch tần, nó tạo ra một phím không có thật. Đây là hạn chế mới mà nhóm phát hiện nhờ bộ dữ liệu này.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các kết quả trên, không có phương pháp nào tốt nhất ở mọi mặt, nên lựa chọn phụ thuộc vào ứng dụng. Goertzel hợp với thiết bị nhúng ít tài nguyên vì rẻ nhất, và mỗi điểm đo chỉ cần nhớ hai số. Ngân hàng lọc hợp với môi trường nhiễu mạnh, nhất là nhiễu ù điện lưới, đổi lại chi phí cao nhất và có thể sinh phím giả từ dư âm. FFT dễ cài đặt nhất và cho phổ đầy đủ, nên hợp khi cùng một bộ thu phải phát hiện thêm các tín hiệu khác ngoài DTMF.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nhóm đã xây dựng bộ phát DTMF theo chuẩn kèm bộ cộng nhiễu đúng SNR, cùng ba bộ giải mã dùng chung một luật quyết định và đều đúng 100% từ 7,5 dB. Phần mềm có ba giao diện cho khảo sát, tổng đài và giám định. Nhóm còn thử thêm trên 139 tệp âm thanh có nhãn, và kiểm tra tự động bằng 266 ca MATLAB và 63 ca web. Về hạn chế, thực nghiệm chính mới dùng dữ liệu tổng hợp, giọng nói thật mới có một giọng dài 18 giây, chuẩn Q.24 mới đạt một phần, và ngân hàng lọc còn sinh phím giả từ dư âm. Hướng phát triển quan trọng nhất là cho mốc 70% tự điều chỉnh theo mức nhiễu nền, rồi thử với nhiều giọng nói thật hơn. Tiếp theo là cho Goertzel đo đúng tại tần số chuẩn để đạt dung sai 1,5%, chặn phím giả do dư âm của bộ lọc, và đưa Goertzel lên chạy trên vi điều khiển.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trình bày của nhóm đến đây là hết. Em cảm ơn thầy và các bạn đã lắng nghe. Sau đây nhóm xin trình diễn trực tiếp phần giám định ghi âm, rồi xin nhận câu hỏi.</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DFDF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000"/>
            <a:ext cx="10566401" cy="614646"/>
          </a:xfrm>
          <a:prstGeom prst="rect">
            <a:avLst/>
          </a:prstGeom>
          <a:noFill/>
          <a:ln/>
        </p:spPr>
        <p:txBody>
          <a:bodyPr wrap="square" lIns="0" tIns="0" rIns="0" bIns="0" rtlCol="0" anchor="t"/>
          <a:lstStyle>
            <a:lvl1pPr marL="0" indent="0" algn="l">
              <a:lnSpc>
                <a:spcPct val="115000"/>
              </a:lnSpc>
              <a:buNone/>
              <a:defRPr lang="en-US" sz="4400" dirty="0">
                <a:solidFill>
                  <a:srgbClr val="178A48"/>
                </a:solidFill>
                <a:latin typeface="Tinos" pitchFamily="34" charset="0"/>
                <a:ea typeface="Tinos" pitchFamily="34" charset="-122"/>
                <a:cs typeface="Tinos" pitchFamily="34" charset="-120"/>
              </a:defRPr>
            </a:lvl1pPr>
          </a:lstStyle>
          <a:p>
            <a:pPr marL="0" indent="0" algn="l">
              <a:lnSpc>
                <a:spcPct val="115000"/>
              </a:lnSpc>
              <a:buNone/>
            </a:pPr>
            <a:endParaRPr lang="en-US" sz="4400" dirty="0"/>
          </a:p>
        </p:txBody>
      </p:sp>
      <p:sp>
        <p:nvSpPr>
          <p:cNvPr id="3" name="Text Placeholder 2"/>
          <p:cNvSpPr>
            <a:spLocks noGrp="1"/>
          </p:cNvSpPr>
          <p:nvPr>
            <p:ph type="body" idx="101"/>
          </p:nvPr>
        </p:nvSpPr>
        <p:spPr>
          <a:xfrm>
            <a:off x="812800" y="1046446"/>
            <a:ext cx="10566400" cy="4998754"/>
          </a:xfrm>
          <a:prstGeom prst="rect">
            <a:avLst/>
          </a:prstGeom>
          <a:noFill/>
          <a:ln/>
        </p:spPr>
        <p:txBody>
          <a:bodyPr wrap="square" lIns="0" tIns="0" rIns="0" bIns="0" rtlCol="0" anchor="t"/>
          <a:lstStyle>
            <a:lvl1pPr marL="0" indent="0" algn="l">
              <a:lnSpc>
                <a:spcPct val="140000"/>
              </a:lnSpc>
              <a:buNone/>
              <a:defRPr lang="en-US" sz="1600" dirty="0">
                <a:solidFill>
                  <a:srgbClr val="178A48"/>
                </a:solidFill>
                <a:latin typeface="Open Sans" pitchFamily="34" charset="0"/>
                <a:ea typeface="Open Sans" pitchFamily="34" charset="-122"/>
                <a:cs typeface="Open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DFDF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127000"/>
            <a:ext cx="10566401" cy="614646"/>
          </a:xfrm>
          <a:prstGeom prst="rect">
            <a:avLst/>
          </a:prstGeom>
          <a:noFill/>
          <a:ln/>
        </p:spPr>
        <p:txBody>
          <a:bodyPr wrap="square" lIns="0" tIns="0" rIns="0" bIns="0" rtlCol="0" anchor="t"/>
          <a:lstStyle>
            <a:lvl1pPr marL="0" indent="0" algn="l">
              <a:lnSpc>
                <a:spcPct val="115000"/>
              </a:lnSpc>
              <a:buNone/>
              <a:defRPr lang="en-US" sz="4400" dirty="0">
                <a:solidFill>
                  <a:srgbClr val="178A48"/>
                </a:solidFill>
                <a:latin typeface="Tinos" pitchFamily="34" charset="0"/>
                <a:ea typeface="Tinos" pitchFamily="34" charset="-122"/>
                <a:cs typeface="Tinos" pitchFamily="34" charset="-120"/>
              </a:defRPr>
            </a:lvl1pPr>
          </a:lstStyle>
          <a:p>
            <a:pPr marL="0" indent="0" algn="l">
              <a:lnSpc>
                <a:spcPct val="115000"/>
              </a:lnSpc>
              <a:buNone/>
            </a:pPr>
            <a:endParaRPr lang="en-US" sz="4400" dirty="0"/>
          </a:p>
        </p:txBody>
      </p:sp>
      <p:sp>
        <p:nvSpPr>
          <p:cNvPr id="3" name="Text Placeholder 2"/>
          <p:cNvSpPr>
            <a:spLocks noGrp="1"/>
          </p:cNvSpPr>
          <p:nvPr>
            <p:ph type="body" idx="101"/>
          </p:nvPr>
        </p:nvSpPr>
        <p:spPr>
          <a:xfrm>
            <a:off x="812800" y="1046446"/>
            <a:ext cx="10566400" cy="4998754"/>
          </a:xfrm>
          <a:prstGeom prst="rect">
            <a:avLst/>
          </a:prstGeom>
          <a:noFill/>
          <a:ln/>
        </p:spPr>
        <p:txBody>
          <a:bodyPr wrap="square" lIns="0" tIns="0" rIns="0" bIns="0" rtlCol="0" anchor="t"/>
          <a:lstStyle>
            <a:lvl1pPr marL="0" indent="0" algn="l">
              <a:lnSpc>
                <a:spcPct val="140000"/>
              </a:lnSpc>
              <a:buNone/>
              <a:defRPr lang="en-US" sz="1600" dirty="0">
                <a:solidFill>
                  <a:srgbClr val="178A48"/>
                </a:solidFill>
                <a:latin typeface="Open Sans" pitchFamily="34" charset="0"/>
                <a:ea typeface="Open Sans" pitchFamily="34" charset="-122"/>
                <a:cs typeface="Open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1.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27000"/>
          </a:xfrm>
          <a:prstGeom prst="rect">
            <a:avLst/>
          </a:prstGeom>
          <a:solidFill>
            <a:srgbClr val="F4B183"/>
          </a:solidFill>
          <a:ln/>
        </p:spPr>
      </p:sp>
      <p:sp>
        <p:nvSpPr>
          <p:cNvPr id="3" name="Text 1"/>
          <p:cNvSpPr/>
          <p:nvPr/>
        </p:nvSpPr>
        <p:spPr>
          <a:xfrm>
            <a:off x="609600" y="406400"/>
            <a:ext cx="7194550"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HỌC VIỆN AN NINH NHÂN DÂN</a:t>
            </a:r>
            <a:endParaRPr lang="en-US" sz="1500" dirty="0">
              <a:latin typeface="Times New Roman" panose="02020603050405020304" pitchFamily="18" charset="0"/>
              <a:cs typeface="Times New Roman" panose="02020603050405020304" pitchFamily="18" charset="0"/>
            </a:endParaRPr>
          </a:p>
        </p:txBody>
      </p:sp>
      <p:sp>
        <p:nvSpPr>
          <p:cNvPr id="4" name="Text 2"/>
          <p:cNvSpPr/>
          <p:nvPr/>
        </p:nvSpPr>
        <p:spPr>
          <a:xfrm>
            <a:off x="609600" y="685800"/>
            <a:ext cx="8502650" cy="22349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Khoa An ninh mạng và Phòng, chống tội phạm sử dụng công nghệ cao</a:t>
            </a:r>
            <a:endParaRPr lang="en-US" sz="1200" dirty="0">
              <a:latin typeface="Times New Roman" panose="02020603050405020304" pitchFamily="18" charset="0"/>
              <a:cs typeface="Times New Roman" panose="02020603050405020304" pitchFamily="18" charset="0"/>
            </a:endParaRPr>
          </a:p>
        </p:txBody>
      </p:sp>
      <p:sp>
        <p:nvSpPr>
          <p:cNvPr id="5" name="Text 3"/>
          <p:cNvSpPr/>
          <p:nvPr/>
        </p:nvSpPr>
        <p:spPr>
          <a:xfrm>
            <a:off x="3991902" y="2091645"/>
            <a:ext cx="4208195" cy="203313"/>
          </a:xfrm>
          <a:prstGeom prst="rect">
            <a:avLst/>
          </a:prstGeom>
          <a:noFill/>
          <a:ln/>
        </p:spPr>
        <p:txBody>
          <a:bodyPr wrap="square" lIns="0" tIns="0" rIns="0" bIns="0" rtlCol="0" anchor="t">
            <a:noAutofit/>
          </a:bodyPr>
          <a:lstStyle/>
          <a:p>
            <a:pPr marL="0" indent="0" algn="ctr">
              <a:lnSpc>
                <a:spcPts val="1960"/>
              </a:lnSpc>
              <a:buNone/>
            </a:pPr>
            <a:r>
              <a:rPr lang="en-US" sz="2000" b="1" kern="0" spc="300" dirty="0">
                <a:solidFill>
                  <a:srgbClr val="8A6A00"/>
                </a:solidFill>
                <a:latin typeface="Times New Roman" panose="02020603050405020304" pitchFamily="18" charset="0"/>
                <a:ea typeface="Open Sans" pitchFamily="34" charset="-122"/>
                <a:cs typeface="Times New Roman" panose="02020603050405020304" pitchFamily="18" charset="0"/>
              </a:rPr>
              <a:t>BÁO CÁO KỸ THUẬT</a:t>
            </a:r>
            <a:endParaRPr lang="en-US" sz="2000" dirty="0">
              <a:latin typeface="Times New Roman" panose="02020603050405020304" pitchFamily="18" charset="0"/>
              <a:cs typeface="Times New Roman" panose="02020603050405020304" pitchFamily="18" charset="0"/>
            </a:endParaRPr>
          </a:p>
        </p:txBody>
      </p:sp>
      <p:sp>
        <p:nvSpPr>
          <p:cNvPr id="6" name="Text 4"/>
          <p:cNvSpPr>
            <a:spLocks noGrp="1"/>
          </p:cNvSpPr>
          <p:nvPr>
            <p:ph type="title"/>
          </p:nvPr>
        </p:nvSpPr>
        <p:spPr>
          <a:xfrm>
            <a:off x="462353" y="2446054"/>
            <a:ext cx="11267294" cy="1778000"/>
          </a:xfrm>
          <a:prstGeom prst="rect">
            <a:avLst/>
          </a:prstGeom>
          <a:noFill/>
          <a:ln/>
        </p:spPr>
        <p:txBody>
          <a:bodyPr wrap="square" lIns="0" tIns="0" rIns="0" bIns="0" rtlCol="0" anchor="t">
            <a:normAutofit/>
          </a:bodyPr>
          <a:lstStyle/>
          <a:p>
            <a:pPr marL="0" indent="0" algn="ctr">
              <a:lnSpc>
                <a:spcPts val="4600"/>
              </a:lnSpc>
              <a:buNone/>
            </a:pPr>
            <a:r>
              <a:rPr lang="en-US" sz="3000" b="1" i="0" dirty="0">
                <a:solidFill>
                  <a:srgbClr val="178A48"/>
                </a:solidFill>
                <a:latin typeface="Times New Roman" panose="02020603050405020304" pitchFamily="18" charset="0"/>
                <a:ea typeface="Tinos" pitchFamily="18" charset="-122"/>
                <a:cs typeface="Times New Roman" panose="02020603050405020304" pitchFamily="18" charset="0"/>
              </a:rPr>
              <a:t>ĐÁNH GIÁ SO SÁNH BA PHƯƠNG PHÁP</a:t>
            </a:r>
            <a:br>
              <a:rPr lang="en-US" sz="3000" b="1" dirty="0">
                <a:latin typeface="Times New Roman" panose="02020603050405020304" pitchFamily="18" charset="0"/>
                <a:cs typeface="Times New Roman" panose="02020603050405020304" pitchFamily="18" charset="0"/>
              </a:rPr>
            </a:br>
            <a:r>
              <a:rPr lang="en-US" sz="3000" b="1" i="0" dirty="0">
                <a:solidFill>
                  <a:srgbClr val="178A48"/>
                </a:solidFill>
                <a:latin typeface="Times New Roman" panose="02020603050405020304" pitchFamily="18" charset="0"/>
                <a:ea typeface="Tinos" pitchFamily="18" charset="-122"/>
                <a:cs typeface="Times New Roman" panose="02020603050405020304" pitchFamily="18" charset="0"/>
              </a:rPr>
              <a:t>PHÂN TÍCH PHỔ TRONG GIẢI MÃ TÍN HIỆU DTMF</a:t>
            </a:r>
            <a:br>
              <a:rPr lang="en-US" sz="3000" b="1" dirty="0">
                <a:latin typeface="Times New Roman" panose="02020603050405020304" pitchFamily="18" charset="0"/>
                <a:cs typeface="Times New Roman" panose="02020603050405020304" pitchFamily="18" charset="0"/>
              </a:rPr>
            </a:br>
            <a:r>
              <a:rPr lang="en-US" sz="3000" b="1" i="0" dirty="0">
                <a:solidFill>
                  <a:srgbClr val="178A48"/>
                </a:solidFill>
                <a:latin typeface="Times New Roman" panose="02020603050405020304" pitchFamily="18" charset="0"/>
                <a:ea typeface="Tinos" pitchFamily="18" charset="-122"/>
                <a:cs typeface="Times New Roman" panose="02020603050405020304" pitchFamily="18" charset="0"/>
              </a:rPr>
              <a:t>DƯỚI TÁC ĐỘNG CỦA NHIỄU</a:t>
            </a:r>
            <a:endParaRPr lang="en-US" sz="3000" b="1" dirty="0">
              <a:latin typeface="Times New Roman" panose="02020603050405020304" pitchFamily="18" charset="0"/>
              <a:cs typeface="Times New Roman" panose="02020603050405020304" pitchFamily="18" charset="0"/>
            </a:endParaRPr>
          </a:p>
        </p:txBody>
      </p:sp>
      <p:sp>
        <p:nvSpPr>
          <p:cNvPr id="7" name="Text 5"/>
          <p:cNvSpPr/>
          <p:nvPr/>
        </p:nvSpPr>
        <p:spPr>
          <a:xfrm>
            <a:off x="2520791" y="4411946"/>
            <a:ext cx="7150418" cy="416549"/>
          </a:xfrm>
          <a:prstGeom prst="rect">
            <a:avLst/>
          </a:prstGeom>
          <a:noFill/>
          <a:ln/>
        </p:spPr>
        <p:txBody>
          <a:bodyPr wrap="square" lIns="0" tIns="0" rIns="0" bIns="0" rtlCol="0" anchor="t">
            <a:normAutofit/>
          </a:bodyPr>
          <a:lstStyle/>
          <a:p>
            <a:pPr marL="0" indent="0" algn="ctr">
              <a:lnSpc>
                <a:spcPts val="3080"/>
              </a:lnSpc>
              <a:buNone/>
            </a:pPr>
            <a:r>
              <a:rPr lang="en-US" sz="2200" b="1" i="1" dirty="0">
                <a:solidFill>
                  <a:srgbClr val="1F6FB0"/>
                </a:solidFill>
                <a:latin typeface="Times New Roman" panose="02020603050405020304" pitchFamily="18" charset="0"/>
                <a:ea typeface="Tinos" pitchFamily="18" charset="-122"/>
                <a:cs typeface="Times New Roman" panose="02020603050405020304" pitchFamily="18" charset="0"/>
              </a:rPr>
              <a:t>(FFT, Goertzel và ngân hàng bộ lọc trên MATLAB)</a:t>
            </a:r>
            <a:endParaRPr lang="en-US" sz="2200" dirty="0">
              <a:latin typeface="Times New Roman" panose="02020603050405020304" pitchFamily="18" charset="0"/>
              <a:cs typeface="Times New Roman" panose="02020603050405020304" pitchFamily="18" charset="0"/>
            </a:endParaRPr>
          </a:p>
        </p:txBody>
      </p:sp>
      <p:sp>
        <p:nvSpPr>
          <p:cNvPr id="8" name="Text 6"/>
          <p:cNvSpPr/>
          <p:nvPr/>
        </p:nvSpPr>
        <p:spPr>
          <a:xfrm>
            <a:off x="812800" y="5334000"/>
            <a:ext cx="4970780" cy="594292"/>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Học phần: Xử lý tín hiệu số</a:t>
            </a:r>
            <a:endParaRPr lang="en-US" sz="1600" dirty="0">
              <a:latin typeface="Times New Roman" panose="02020603050405020304" pitchFamily="18" charset="0"/>
              <a:cs typeface="Times New Roman" panose="02020603050405020304" pitchFamily="18" charset="0"/>
            </a:endParaRPr>
          </a:p>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Hà Nội, 10/2026</a:t>
            </a:r>
            <a:endParaRPr lang="en-US" sz="1600" dirty="0">
              <a:latin typeface="Times New Roman" panose="02020603050405020304" pitchFamily="18" charset="0"/>
              <a:cs typeface="Times New Roman" panose="02020603050405020304" pitchFamily="18" charset="0"/>
            </a:endParaRPr>
          </a:p>
        </p:txBody>
      </p:sp>
      <p:sp>
        <p:nvSpPr>
          <p:cNvPr id="9" name="Text 7"/>
          <p:cNvSpPr/>
          <p:nvPr/>
        </p:nvSpPr>
        <p:spPr>
          <a:xfrm>
            <a:off x="7193280" y="5334000"/>
            <a:ext cx="4185920" cy="594292"/>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Nhóm 4</a:t>
            </a:r>
            <a:endParaRPr lang="en-US" sz="1600" dirty="0">
              <a:latin typeface="Times New Roman" panose="02020603050405020304" pitchFamily="18" charset="0"/>
              <a:cs typeface="Times New Roman" panose="02020603050405020304" pitchFamily="18" charset="0"/>
            </a:endParaRPr>
          </a:p>
          <a:p>
            <a:pPr marL="0" indent="0" algn="r">
              <a:lnSpc>
                <a:spcPts val="2240"/>
              </a:lnSpc>
              <a:buNone/>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GVHD: ThS. Trần Hoàng Anh</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BF541-D02E-42CF-0E78-37DE15899653}"/>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4E109AB2-54F7-2831-0B90-5406F25CE4F8}"/>
              </a:ext>
            </a:extLst>
          </p:cNvPr>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a:extLst>
              <a:ext uri="{FF2B5EF4-FFF2-40B4-BE49-F238E27FC236}">
                <a16:creationId xmlns:a16="http://schemas.microsoft.com/office/drawing/2014/main" id="{2AA75943-8763-46D7-2D38-84154576EF03}"/>
              </a:ext>
            </a:extLst>
          </p:cNvPr>
          <p:cNvSpPr>
            <a:spLocks noGrp="1"/>
          </p:cNvSpPr>
          <p:nvPr>
            <p:ph type="title"/>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i="0" dirty="0">
                <a:solidFill>
                  <a:srgbClr val="FDFDFB"/>
                </a:solidFill>
                <a:latin typeface="Times New Roman" panose="02020603050405020304" pitchFamily="18" charset="0"/>
                <a:ea typeface="Tinos" pitchFamily="18" charset="-122"/>
                <a:cs typeface="Times New Roman" panose="02020603050405020304" pitchFamily="18" charset="0"/>
              </a:rPr>
              <a:t>Đặt vấn đề</a:t>
            </a:r>
            <a:endParaRPr lang="en-US" sz="5600" dirty="0">
              <a:latin typeface="Times New Roman" panose="02020603050405020304" pitchFamily="18" charset="0"/>
              <a:cs typeface="Times New Roman" panose="02020603050405020304" pitchFamily="18" charset="0"/>
            </a:endParaRPr>
          </a:p>
        </p:txBody>
      </p:sp>
      <p:pic>
        <p:nvPicPr>
          <p:cNvPr id="15" name="Picture 14">
            <a:extLst>
              <a:ext uri="{FF2B5EF4-FFF2-40B4-BE49-F238E27FC236}">
                <a16:creationId xmlns:a16="http://schemas.microsoft.com/office/drawing/2014/main" id="{F2452A85-CAC8-7E0B-87A8-4AB661081A0E}"/>
              </a:ext>
            </a:extLst>
          </p:cNvPr>
          <p:cNvPicPr>
            <a:picLocks noChangeAspect="1"/>
          </p:cNvPicPr>
          <p:nvPr/>
        </p:nvPicPr>
        <p:blipFill>
          <a:blip r:embed="rId3"/>
          <a:stretch>
            <a:fillRect/>
          </a:stretch>
        </p:blipFill>
        <p:spPr>
          <a:xfrm>
            <a:off x="3751118" y="1219200"/>
            <a:ext cx="4689764" cy="4689764"/>
          </a:xfrm>
          <a:prstGeom prst="rect">
            <a:avLst/>
          </a:prstGeom>
        </p:spPr>
      </p:pic>
    </p:spTree>
    <p:extLst>
      <p:ext uri="{BB962C8B-B14F-4D97-AF65-F5344CB8AC3E}">
        <p14:creationId xmlns:p14="http://schemas.microsoft.com/office/powerpoint/2010/main" val="32029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a:spLocks noGrp="1"/>
          </p:cNvSpPr>
          <p:nvPr>
            <p:ph type="title"/>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i="0" dirty="0">
                <a:solidFill>
                  <a:srgbClr val="FDFDFB"/>
                </a:solidFill>
                <a:latin typeface="Times New Roman" panose="02020603050405020304" pitchFamily="18" charset="0"/>
                <a:ea typeface="Tinos" pitchFamily="18" charset="-122"/>
                <a:cs typeface="Times New Roman" panose="02020603050405020304" pitchFamily="18" charset="0"/>
              </a:rPr>
              <a:t>Đặt vấn đề</a:t>
            </a:r>
            <a:endParaRPr lang="en-US" sz="5600" dirty="0">
              <a:latin typeface="Times New Roman" panose="02020603050405020304" pitchFamily="18" charset="0"/>
              <a:cs typeface="Times New Roman" panose="02020603050405020304" pitchFamily="18" charset="0"/>
            </a:endParaRPr>
          </a:p>
        </p:txBody>
      </p:sp>
      <p:sp>
        <p:nvSpPr>
          <p:cNvPr id="4" name="Text 2"/>
          <p:cNvSpPr/>
          <p:nvPr/>
        </p:nvSpPr>
        <p:spPr>
          <a:xfrm>
            <a:off x="812800" y="1333500"/>
            <a:ext cx="10566401" cy="939800"/>
          </a:xfrm>
          <a:prstGeom prst="rect">
            <a:avLst/>
          </a:prstGeom>
          <a:solidFill>
            <a:srgbClr val="E2EFDA"/>
          </a:solidFill>
          <a:ln/>
        </p:spPr>
        <p:txBody>
          <a:bodyPr wrap="square" lIns="103124" tIns="127000" rIns="103124" bIns="101600" rtlCol="0" anchor="t">
            <a:normAutofit/>
          </a:bodyPr>
          <a:lstStyle/>
          <a:p>
            <a:pPr marL="0" indent="0" algn="ctr">
              <a:lnSpc>
                <a:spcPts val="2700"/>
              </a:lnSpc>
              <a:buNone/>
            </a:pPr>
            <a:r>
              <a:rPr lang="en-US" sz="2000" dirty="0">
                <a:solidFill>
                  <a:srgbClr val="1F4E9A"/>
                </a:solidFill>
                <a:latin typeface="Times New Roman" panose="02020603050405020304" pitchFamily="18" charset="0"/>
                <a:ea typeface="Tinos" pitchFamily="18" charset="-122"/>
                <a:cs typeface="Times New Roman" panose="02020603050405020304" pitchFamily="18" charset="0"/>
              </a:rPr>
              <a:t>Khi bấm một phím điện thoại, làm sao tổng đài “nghe” ra đúng phím đó, kể cả khi đường truyền có nhiễu?</a:t>
            </a:r>
            <a:endParaRPr lang="en-US" sz="2000" dirty="0">
              <a:latin typeface="Times New Roman" panose="02020603050405020304" pitchFamily="18" charset="0"/>
              <a:cs typeface="Times New Roman" panose="02020603050405020304" pitchFamily="18" charset="0"/>
            </a:endParaRPr>
          </a:p>
        </p:txBody>
      </p:sp>
      <p:sp>
        <p:nvSpPr>
          <p:cNvPr id="5" name="Shape 3"/>
          <p:cNvSpPr/>
          <p:nvPr/>
        </p:nvSpPr>
        <p:spPr>
          <a:xfrm>
            <a:off x="822325" y="2536826"/>
            <a:ext cx="4375150" cy="3702050"/>
          </a:xfrm>
          <a:prstGeom prst="rect">
            <a:avLst/>
          </a:prstGeom>
          <a:solidFill>
            <a:srgbClr val="F6F7F9"/>
          </a:solidFill>
          <a:ln w="19050">
            <a:solidFill>
              <a:srgbClr val="DDE1E7"/>
            </a:solidFill>
            <a:prstDash val="solid"/>
          </a:ln>
        </p:spPr>
      </p:sp>
      <p:pic>
        <p:nvPicPr>
          <p:cNvPr id="6" name="Image 0" descr="Dạng sóng ba phím bấm: ba đoạn dao động xen kẽ khoảng lặng"/>
          <p:cNvPicPr>
            <a:picLocks noChangeAspect="1"/>
          </p:cNvPicPr>
          <p:nvPr/>
        </p:nvPicPr>
        <p:blipFill>
          <a:blip r:embed="rId3"/>
          <a:srcRect/>
          <a:stretch/>
        </p:blipFill>
        <p:spPr>
          <a:xfrm>
            <a:off x="977900" y="3162301"/>
            <a:ext cx="4064000" cy="1651000"/>
          </a:xfrm>
          <a:prstGeom prst="rect">
            <a:avLst/>
          </a:prstGeom>
        </p:spPr>
      </p:pic>
      <p:sp>
        <p:nvSpPr>
          <p:cNvPr id="7" name="Text 4"/>
          <p:cNvSpPr/>
          <p:nvPr/>
        </p:nvSpPr>
        <p:spPr>
          <a:xfrm>
            <a:off x="1058710" y="4914901"/>
            <a:ext cx="3902325"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18" charset="-122"/>
                <a:cs typeface="Times New Roman" panose="02020603050405020304" pitchFamily="18" charset="0"/>
              </a:rPr>
              <a:t>Âm thanh của phím bấm</a:t>
            </a:r>
            <a:endParaRPr lang="en-US" sz="2400" dirty="0">
              <a:latin typeface="Times New Roman" panose="02020603050405020304" pitchFamily="18" charset="0"/>
              <a:cs typeface="Times New Roman" panose="02020603050405020304" pitchFamily="18" charset="0"/>
            </a:endParaRPr>
          </a:p>
        </p:txBody>
      </p:sp>
      <p:sp>
        <p:nvSpPr>
          <p:cNvPr id="8" name="Text 5"/>
          <p:cNvSpPr/>
          <p:nvPr/>
        </p:nvSpPr>
        <p:spPr>
          <a:xfrm>
            <a:off x="1721372" y="5382249"/>
            <a:ext cx="2577057"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(Hai sóng sin trộn với nhiễu)</a:t>
            </a:r>
            <a:endParaRPr lang="en-US" sz="1300" dirty="0">
              <a:latin typeface="Times New Roman" panose="02020603050405020304" pitchFamily="18" charset="0"/>
              <a:cs typeface="Times New Roman" panose="02020603050405020304" pitchFamily="18" charset="0"/>
            </a:endParaRPr>
          </a:p>
        </p:txBody>
      </p:sp>
      <p:pic>
        <p:nvPicPr>
          <p:cNvPr id="9" name="Image 1" descr="arrow-right"/>
          <p:cNvPicPr>
            <a:picLocks noChangeAspect="1"/>
          </p:cNvPicPr>
          <p:nvPr/>
        </p:nvPicPr>
        <p:blipFill>
          <a:blip r:embed="rId4"/>
          <a:srcRect/>
          <a:stretch/>
        </p:blipFill>
        <p:spPr>
          <a:xfrm>
            <a:off x="5461000" y="4038601"/>
            <a:ext cx="1270000" cy="698500"/>
          </a:xfrm>
          <a:prstGeom prst="rect">
            <a:avLst/>
          </a:prstGeom>
        </p:spPr>
      </p:pic>
      <p:sp>
        <p:nvSpPr>
          <p:cNvPr id="10" name="Shape 6"/>
          <p:cNvSpPr/>
          <p:nvPr/>
        </p:nvSpPr>
        <p:spPr>
          <a:xfrm>
            <a:off x="6994525" y="2536826"/>
            <a:ext cx="4375150" cy="3702050"/>
          </a:xfrm>
          <a:prstGeom prst="rect">
            <a:avLst/>
          </a:prstGeom>
          <a:solidFill>
            <a:srgbClr val="F6F7F9"/>
          </a:solidFill>
          <a:ln w="19050">
            <a:solidFill>
              <a:srgbClr val="DDE1E7"/>
            </a:solidFill>
            <a:prstDash val="solid"/>
          </a:ln>
        </p:spPr>
      </p:sp>
      <p:sp>
        <p:nvSpPr>
          <p:cNvPr id="11" name="Text 7"/>
          <p:cNvSpPr/>
          <p:nvPr/>
        </p:nvSpPr>
        <p:spPr>
          <a:xfrm>
            <a:off x="7048160" y="3530601"/>
            <a:ext cx="4267880" cy="939800"/>
          </a:xfrm>
          <a:prstGeom prst="rect">
            <a:avLst/>
          </a:prstGeom>
          <a:noFill/>
          <a:ln/>
        </p:spPr>
        <p:txBody>
          <a:bodyPr wrap="square" lIns="0" tIns="0" rIns="0" bIns="0" rtlCol="0" anchor="t">
            <a:normAutofit/>
          </a:bodyPr>
          <a:lstStyle/>
          <a:p>
            <a:pPr marL="0" indent="0" algn="ctr">
              <a:lnSpc>
                <a:spcPts val="7200"/>
              </a:lnSpc>
              <a:buNone/>
            </a:pPr>
            <a:r>
              <a:rPr lang="en-US" sz="6000" b="1" kern="0" spc="400" dirty="0">
                <a:solidFill>
                  <a:srgbClr val="1F2A44"/>
                </a:solidFill>
                <a:latin typeface="Times New Roman" panose="02020603050405020304" pitchFamily="18" charset="0"/>
                <a:ea typeface="Courier New" pitchFamily="49" charset="-122"/>
                <a:cs typeface="Times New Roman" panose="02020603050405020304" pitchFamily="18" charset="0"/>
              </a:rPr>
              <a:t>0912345</a:t>
            </a:r>
            <a:endParaRPr lang="en-US" sz="6000" dirty="0">
              <a:latin typeface="Times New Roman" panose="02020603050405020304" pitchFamily="18" charset="0"/>
              <a:cs typeface="Times New Roman" panose="02020603050405020304" pitchFamily="18" charset="0"/>
            </a:endParaRPr>
          </a:p>
        </p:txBody>
      </p:sp>
      <p:sp>
        <p:nvSpPr>
          <p:cNvPr id="12" name="Text 8"/>
          <p:cNvSpPr/>
          <p:nvPr/>
        </p:nvSpPr>
        <p:spPr>
          <a:xfrm>
            <a:off x="7632320" y="4546601"/>
            <a:ext cx="3099503"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18" charset="-122"/>
                <a:cs typeface="Times New Roman" panose="02020603050405020304" pitchFamily="18" charset="0"/>
              </a:rPr>
              <a:t>Chuỗi phím giải mã</a:t>
            </a:r>
            <a:endParaRPr lang="en-US" sz="2400" dirty="0">
              <a:latin typeface="Times New Roman" panose="02020603050405020304" pitchFamily="18" charset="0"/>
              <a:cs typeface="Times New Roman" panose="02020603050405020304" pitchFamily="18" charset="0"/>
            </a:endParaRPr>
          </a:p>
        </p:txBody>
      </p:sp>
      <p:sp>
        <p:nvSpPr>
          <p:cNvPr id="13" name="Text 9"/>
          <p:cNvSpPr/>
          <p:nvPr/>
        </p:nvSpPr>
        <p:spPr>
          <a:xfrm>
            <a:off x="7089050" y="5013949"/>
            <a:ext cx="4186102"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(Bộ giải mã tự động · so sánh 3 phương pháp)</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a:spLocks noGrp="1"/>
          </p:cNvSpPr>
          <p:nvPr>
            <p:ph type="title"/>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i="0" dirty="0">
                <a:solidFill>
                  <a:srgbClr val="FDFDFB"/>
                </a:solidFill>
                <a:latin typeface="Times New Roman" panose="02020603050405020304" pitchFamily="18" charset="0"/>
                <a:ea typeface="Tinos" pitchFamily="18" charset="-122"/>
                <a:cs typeface="Times New Roman" panose="02020603050405020304" pitchFamily="18" charset="0"/>
              </a:rPr>
              <a:t>Nội dung</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9150" y="1847850"/>
            <a:ext cx="1958295" cy="3670300"/>
          </a:xfrm>
          <a:prstGeom prst="rect">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5" name="Text 3"/>
          <p:cNvSpPr/>
          <p:nvPr/>
        </p:nvSpPr>
        <p:spPr>
          <a:xfrm>
            <a:off x="1452222" y="2217511"/>
            <a:ext cx="692150" cy="692150"/>
          </a:xfrm>
          <a:custGeom>
            <a:avLst/>
            <a:gdLst/>
            <a:ahLst/>
            <a:cxnLst/>
            <a:rect l="l" t="t" r="r" b="b"/>
            <a:pathLst>
              <a:path w="692150" h="692150">
                <a:moveTo>
                  <a:pt x="346075" y="0"/>
                </a:moveTo>
                <a:lnTo>
                  <a:pt x="346075" y="0"/>
                </a:lnTo>
                <a:arcTo wR="346075" hR="346075" stAng="16200000" swAng="5400000"/>
                <a:lnTo>
                  <a:pt x="692150" y="346075"/>
                </a:lnTo>
                <a:arcTo wR="346075" hR="346075" stAng="0" swAng="5400000"/>
                <a:lnTo>
                  <a:pt x="346075" y="692150"/>
                </a:lnTo>
                <a:arcTo wR="346075" hR="346075" stAng="5400000" swAng="5400000"/>
                <a:lnTo>
                  <a:pt x="0" y="346075"/>
                </a:lnTo>
                <a:arcTo wR="346075" hR="346075" stAng="10800000" swAng="5400000"/>
                <a:close/>
              </a:path>
            </a:pathLst>
          </a:custGeom>
          <a:solidFill>
            <a:srgbClr val="FFF59D"/>
          </a:solidFill>
          <a:ln w="19050">
            <a:solidFill>
              <a:srgbClr val="C9A227"/>
            </a:solidFill>
            <a:prstDash val="solid"/>
          </a:ln>
        </p:spPr>
        <p:txBody>
          <a:bodyPr wrap="square" lIns="0" tIns="8618"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18" charset="-122"/>
                <a:cs typeface="Times New Roman" panose="02020603050405020304" pitchFamily="18" charset="0"/>
              </a:rPr>
              <a:t>1</a:t>
            </a:r>
            <a:endParaRPr lang="en-US" sz="2800" dirty="0">
              <a:latin typeface="Times New Roman" panose="02020603050405020304" pitchFamily="18" charset="0"/>
              <a:cs typeface="Times New Roman" panose="02020603050405020304" pitchFamily="18" charset="0"/>
            </a:endParaRPr>
          </a:p>
        </p:txBody>
      </p:sp>
      <p:sp>
        <p:nvSpPr>
          <p:cNvPr id="6" name="Text 4"/>
          <p:cNvSpPr/>
          <p:nvPr/>
        </p:nvSpPr>
        <p:spPr>
          <a:xfrm>
            <a:off x="1317568" y="3084286"/>
            <a:ext cx="96140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Tín hiệu</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DTMF</a:t>
            </a:r>
            <a:endParaRPr lang="en-US" sz="2000" dirty="0">
              <a:latin typeface="Times New Roman" panose="02020603050405020304" pitchFamily="18" charset="0"/>
              <a:cs typeface="Times New Roman" panose="02020603050405020304" pitchFamily="18" charset="0"/>
            </a:endParaRPr>
          </a:p>
        </p:txBody>
      </p:sp>
      <p:pic>
        <p:nvPicPr>
          <p:cNvPr id="7" name="Image 0" descr="line"/>
          <p:cNvPicPr>
            <a:picLocks noChangeAspect="1"/>
          </p:cNvPicPr>
          <p:nvPr/>
        </p:nvPicPr>
        <p:blipFill>
          <a:blip r:embed="rId3"/>
          <a:srcRect l="-2500" r="-2500"/>
          <a:stretch/>
        </p:blipFill>
        <p:spPr>
          <a:xfrm>
            <a:off x="1544297" y="3833586"/>
            <a:ext cx="508000" cy="36286"/>
          </a:xfrm>
          <a:prstGeom prst="rect">
            <a:avLst/>
          </a:prstGeom>
        </p:spPr>
      </p:pic>
      <p:sp>
        <p:nvSpPr>
          <p:cNvPr id="8" name="Text 5"/>
          <p:cNvSpPr/>
          <p:nvPr/>
        </p:nvSpPr>
        <p:spPr>
          <a:xfrm>
            <a:off x="1100818" y="4034972"/>
            <a:ext cx="1394959"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Bảng tần số</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Sơ đồ hệ thống</a:t>
            </a:r>
            <a:endParaRPr lang="en-US" sz="1500" dirty="0">
              <a:latin typeface="Times New Roman" panose="02020603050405020304" pitchFamily="18" charset="0"/>
              <a:cs typeface="Times New Roman" panose="02020603050405020304" pitchFamily="18" charset="0"/>
            </a:endParaRPr>
          </a:p>
        </p:txBody>
      </p:sp>
      <p:sp>
        <p:nvSpPr>
          <p:cNvPr id="9" name="Shape 6"/>
          <p:cNvSpPr/>
          <p:nvPr/>
        </p:nvSpPr>
        <p:spPr>
          <a:xfrm>
            <a:off x="2967945" y="1847850"/>
            <a:ext cx="1958351" cy="3670300"/>
          </a:xfrm>
          <a:prstGeom prst="rect">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0" name="Text 7"/>
          <p:cNvSpPr/>
          <p:nvPr/>
        </p:nvSpPr>
        <p:spPr>
          <a:xfrm>
            <a:off x="3601017" y="2217511"/>
            <a:ext cx="692150" cy="692150"/>
          </a:xfrm>
          <a:custGeom>
            <a:avLst/>
            <a:gdLst/>
            <a:ahLst/>
            <a:cxnLst/>
            <a:rect l="l" t="t" r="r" b="b"/>
            <a:pathLst>
              <a:path w="692150" h="692150">
                <a:moveTo>
                  <a:pt x="346075" y="0"/>
                </a:moveTo>
                <a:lnTo>
                  <a:pt x="346075" y="0"/>
                </a:lnTo>
                <a:arcTo wR="346075" hR="346075" stAng="16200000" swAng="5400000"/>
                <a:lnTo>
                  <a:pt x="692150" y="346075"/>
                </a:lnTo>
                <a:arcTo wR="346075" hR="346075" stAng="0" swAng="5400000"/>
                <a:lnTo>
                  <a:pt x="346075" y="692150"/>
                </a:lnTo>
                <a:arcTo wR="346075" hR="346075" stAng="5400000" swAng="5400000"/>
                <a:lnTo>
                  <a:pt x="0" y="346075"/>
                </a:lnTo>
                <a:arcTo wR="346075" hR="346075" stAng="10800000" swAng="5400000"/>
                <a:close/>
              </a:path>
            </a:pathLst>
          </a:custGeom>
          <a:solidFill>
            <a:srgbClr val="FFF59D"/>
          </a:solidFill>
          <a:ln w="19050">
            <a:solidFill>
              <a:srgbClr val="C9A227"/>
            </a:solidFill>
            <a:prstDash val="solid"/>
          </a:ln>
        </p:spPr>
        <p:txBody>
          <a:bodyPr wrap="square" lIns="0" tIns="8618"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18" charset="-122"/>
                <a:cs typeface="Times New Roman" panose="02020603050405020304" pitchFamily="18" charset="0"/>
              </a:rPr>
              <a:t>2</a:t>
            </a:r>
            <a:endParaRPr lang="en-US" sz="2800" dirty="0">
              <a:latin typeface="Times New Roman" panose="02020603050405020304" pitchFamily="18" charset="0"/>
              <a:cs typeface="Times New Roman" panose="02020603050405020304" pitchFamily="18" charset="0"/>
            </a:endParaRPr>
          </a:p>
        </p:txBody>
      </p:sp>
      <p:sp>
        <p:nvSpPr>
          <p:cNvPr id="11" name="Text 8"/>
          <p:cNvSpPr/>
          <p:nvPr/>
        </p:nvSpPr>
        <p:spPr>
          <a:xfrm>
            <a:off x="3494881" y="3084286"/>
            <a:ext cx="904478"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Ba cách</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giải mã</a:t>
            </a:r>
            <a:endParaRPr lang="en-US" sz="2000" dirty="0">
              <a:latin typeface="Times New Roman" panose="02020603050405020304" pitchFamily="18" charset="0"/>
              <a:cs typeface="Times New Roman" panose="02020603050405020304" pitchFamily="18" charset="0"/>
            </a:endParaRPr>
          </a:p>
        </p:txBody>
      </p:sp>
      <p:pic>
        <p:nvPicPr>
          <p:cNvPr id="12" name="Image 1" descr="line"/>
          <p:cNvPicPr>
            <a:picLocks noChangeAspect="1"/>
          </p:cNvPicPr>
          <p:nvPr/>
        </p:nvPicPr>
        <p:blipFill>
          <a:blip r:embed="rId3"/>
          <a:srcRect l="-2500" r="-2500"/>
          <a:stretch/>
        </p:blipFill>
        <p:spPr>
          <a:xfrm>
            <a:off x="3693092" y="3833586"/>
            <a:ext cx="508000" cy="36286"/>
          </a:xfrm>
          <a:prstGeom prst="rect">
            <a:avLst/>
          </a:prstGeom>
        </p:spPr>
      </p:pic>
      <p:sp>
        <p:nvSpPr>
          <p:cNvPr id="13" name="Text 9"/>
          <p:cNvSpPr/>
          <p:nvPr/>
        </p:nvSpPr>
        <p:spPr>
          <a:xfrm>
            <a:off x="3226084" y="4034972"/>
            <a:ext cx="1442074"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FFT · Goertzel</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Luật quyết định</a:t>
            </a:r>
            <a:endParaRPr lang="en-US" sz="1500" dirty="0">
              <a:latin typeface="Times New Roman" panose="02020603050405020304" pitchFamily="18" charset="0"/>
              <a:cs typeface="Times New Roman" panose="02020603050405020304" pitchFamily="18" charset="0"/>
            </a:endParaRPr>
          </a:p>
        </p:txBody>
      </p:sp>
      <p:sp>
        <p:nvSpPr>
          <p:cNvPr id="14" name="Shape 10"/>
          <p:cNvSpPr/>
          <p:nvPr/>
        </p:nvSpPr>
        <p:spPr>
          <a:xfrm>
            <a:off x="5116796" y="1847850"/>
            <a:ext cx="1958351" cy="3670300"/>
          </a:xfrm>
          <a:prstGeom prst="rect">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5" name="Text 11"/>
          <p:cNvSpPr/>
          <p:nvPr/>
        </p:nvSpPr>
        <p:spPr>
          <a:xfrm>
            <a:off x="5749868" y="2217511"/>
            <a:ext cx="692150" cy="692150"/>
          </a:xfrm>
          <a:custGeom>
            <a:avLst/>
            <a:gdLst/>
            <a:ahLst/>
            <a:cxnLst/>
            <a:rect l="l" t="t" r="r" b="b"/>
            <a:pathLst>
              <a:path w="692150" h="692150">
                <a:moveTo>
                  <a:pt x="346075" y="0"/>
                </a:moveTo>
                <a:lnTo>
                  <a:pt x="346075" y="0"/>
                </a:lnTo>
                <a:arcTo wR="346075" hR="346075" stAng="16200000" swAng="5400000"/>
                <a:lnTo>
                  <a:pt x="692150" y="346075"/>
                </a:lnTo>
                <a:arcTo wR="346075" hR="346075" stAng="0" swAng="5400000"/>
                <a:lnTo>
                  <a:pt x="346075" y="692150"/>
                </a:lnTo>
                <a:arcTo wR="346075" hR="346075" stAng="5400000" swAng="5400000"/>
                <a:lnTo>
                  <a:pt x="0" y="346075"/>
                </a:lnTo>
                <a:arcTo wR="346075" hR="346075" stAng="10800000" swAng="5400000"/>
                <a:close/>
              </a:path>
            </a:pathLst>
          </a:custGeom>
          <a:solidFill>
            <a:srgbClr val="FFF59D"/>
          </a:solidFill>
          <a:ln w="19050">
            <a:solidFill>
              <a:srgbClr val="C9A227"/>
            </a:solidFill>
            <a:prstDash val="solid"/>
          </a:ln>
        </p:spPr>
        <p:txBody>
          <a:bodyPr wrap="square" lIns="0" tIns="8618"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18" charset="-122"/>
                <a:cs typeface="Times New Roman" panose="02020603050405020304" pitchFamily="18" charset="0"/>
              </a:rPr>
              <a:t>3</a:t>
            </a:r>
            <a:endParaRPr lang="en-US" sz="2800" dirty="0">
              <a:latin typeface="Times New Roman" panose="02020603050405020304" pitchFamily="18" charset="0"/>
              <a:cs typeface="Times New Roman" panose="02020603050405020304" pitchFamily="18" charset="0"/>
            </a:endParaRPr>
          </a:p>
        </p:txBody>
      </p:sp>
      <p:sp>
        <p:nvSpPr>
          <p:cNvPr id="16" name="Text 12"/>
          <p:cNvSpPr/>
          <p:nvPr/>
        </p:nvSpPr>
        <p:spPr>
          <a:xfrm>
            <a:off x="5397489" y="3084286"/>
            <a:ext cx="1396909"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Phần mềm</a:t>
            </a:r>
            <a:endParaRPr lang="en-US" sz="2000" dirty="0">
              <a:latin typeface="Times New Roman" panose="02020603050405020304" pitchFamily="18" charset="0"/>
              <a:cs typeface="Times New Roman" panose="02020603050405020304" pitchFamily="18" charset="0"/>
            </a:endParaRPr>
          </a:p>
        </p:txBody>
      </p:sp>
      <p:pic>
        <p:nvPicPr>
          <p:cNvPr id="17" name="Image 2" descr="line"/>
          <p:cNvPicPr>
            <a:picLocks noChangeAspect="1"/>
          </p:cNvPicPr>
          <p:nvPr/>
        </p:nvPicPr>
        <p:blipFill>
          <a:blip r:embed="rId3"/>
          <a:srcRect l="-2500" r="-2500"/>
          <a:stretch/>
        </p:blipFill>
        <p:spPr>
          <a:xfrm>
            <a:off x="5841943" y="3833586"/>
            <a:ext cx="508000" cy="36286"/>
          </a:xfrm>
          <a:prstGeom prst="rect">
            <a:avLst/>
          </a:prstGeom>
        </p:spPr>
      </p:pic>
      <p:sp>
        <p:nvSpPr>
          <p:cNvPr id="18" name="Text 13"/>
          <p:cNvSpPr/>
          <p:nvPr/>
        </p:nvSpPr>
        <p:spPr>
          <a:xfrm>
            <a:off x="5400335" y="4034972"/>
            <a:ext cx="1391217"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3 giao diện</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Web điện thoại</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Giám định</a:t>
            </a:r>
            <a:endParaRPr lang="en-US" sz="1500" dirty="0">
              <a:latin typeface="Times New Roman" panose="02020603050405020304" pitchFamily="18" charset="0"/>
              <a:cs typeface="Times New Roman" panose="02020603050405020304" pitchFamily="18" charset="0"/>
            </a:endParaRPr>
          </a:p>
        </p:txBody>
      </p:sp>
      <p:sp>
        <p:nvSpPr>
          <p:cNvPr id="19" name="Shape 14"/>
          <p:cNvSpPr/>
          <p:nvPr/>
        </p:nvSpPr>
        <p:spPr>
          <a:xfrm>
            <a:off x="7265648" y="1847850"/>
            <a:ext cx="1958351" cy="3670300"/>
          </a:xfrm>
          <a:prstGeom prst="rect">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0" name="Text 15"/>
          <p:cNvSpPr/>
          <p:nvPr/>
        </p:nvSpPr>
        <p:spPr>
          <a:xfrm>
            <a:off x="7898720" y="2217511"/>
            <a:ext cx="692150" cy="692150"/>
          </a:xfrm>
          <a:custGeom>
            <a:avLst/>
            <a:gdLst/>
            <a:ahLst/>
            <a:cxnLst/>
            <a:rect l="l" t="t" r="r" b="b"/>
            <a:pathLst>
              <a:path w="692150" h="692150">
                <a:moveTo>
                  <a:pt x="346075" y="0"/>
                </a:moveTo>
                <a:lnTo>
                  <a:pt x="346075" y="0"/>
                </a:lnTo>
                <a:arcTo wR="346075" hR="346075" stAng="16200000" swAng="5400000"/>
                <a:lnTo>
                  <a:pt x="692150" y="346075"/>
                </a:lnTo>
                <a:arcTo wR="346075" hR="346075" stAng="0" swAng="5400000"/>
                <a:lnTo>
                  <a:pt x="346075" y="692150"/>
                </a:lnTo>
                <a:arcTo wR="346075" hR="346075" stAng="5400000" swAng="5400000"/>
                <a:lnTo>
                  <a:pt x="0" y="346075"/>
                </a:lnTo>
                <a:arcTo wR="346075" hR="346075" stAng="10800000" swAng="5400000"/>
                <a:close/>
              </a:path>
            </a:pathLst>
          </a:custGeom>
          <a:solidFill>
            <a:srgbClr val="FFF59D"/>
          </a:solidFill>
          <a:ln w="19050">
            <a:solidFill>
              <a:srgbClr val="C9A227"/>
            </a:solidFill>
            <a:prstDash val="solid"/>
          </a:ln>
        </p:spPr>
        <p:txBody>
          <a:bodyPr wrap="square" lIns="0" tIns="8618"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18" charset="-122"/>
                <a:cs typeface="Times New Roman" panose="02020603050405020304" pitchFamily="18" charset="0"/>
              </a:rPr>
              <a:t>4</a:t>
            </a:r>
            <a:endParaRPr lang="en-US" sz="2800" dirty="0">
              <a:latin typeface="Times New Roman" panose="02020603050405020304" pitchFamily="18" charset="0"/>
              <a:cs typeface="Times New Roman" panose="02020603050405020304" pitchFamily="18" charset="0"/>
            </a:endParaRPr>
          </a:p>
        </p:txBody>
      </p:sp>
      <p:sp>
        <p:nvSpPr>
          <p:cNvPr id="21" name="Text 16"/>
          <p:cNvSpPr/>
          <p:nvPr/>
        </p:nvSpPr>
        <p:spPr>
          <a:xfrm>
            <a:off x="7378559" y="3084286"/>
            <a:ext cx="1732530"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Thực nghiệm</a:t>
            </a:r>
            <a:endParaRPr lang="en-US" sz="2000" dirty="0">
              <a:latin typeface="Times New Roman" panose="02020603050405020304" pitchFamily="18" charset="0"/>
              <a:cs typeface="Times New Roman" panose="02020603050405020304" pitchFamily="18" charset="0"/>
            </a:endParaRPr>
          </a:p>
        </p:txBody>
      </p:sp>
      <p:pic>
        <p:nvPicPr>
          <p:cNvPr id="22" name="Image 3" descr="line"/>
          <p:cNvPicPr>
            <a:picLocks noChangeAspect="1"/>
          </p:cNvPicPr>
          <p:nvPr/>
        </p:nvPicPr>
        <p:blipFill>
          <a:blip r:embed="rId3"/>
          <a:srcRect l="-2500" r="-2500"/>
          <a:stretch/>
        </p:blipFill>
        <p:spPr>
          <a:xfrm>
            <a:off x="7990795" y="3833586"/>
            <a:ext cx="508000" cy="36286"/>
          </a:xfrm>
          <a:prstGeom prst="rect">
            <a:avLst/>
          </a:prstGeom>
        </p:spPr>
      </p:pic>
      <p:sp>
        <p:nvSpPr>
          <p:cNvPr id="23" name="Text 17"/>
          <p:cNvSpPr/>
          <p:nvPr/>
        </p:nvSpPr>
        <p:spPr>
          <a:xfrm>
            <a:off x="7484552" y="4034972"/>
            <a:ext cx="1520485"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Độ bền nhiễu</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Chi phí tính toán</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Dung sai tần số</a:t>
            </a:r>
            <a:endParaRPr lang="en-US" sz="1500" dirty="0">
              <a:latin typeface="Times New Roman" panose="02020603050405020304" pitchFamily="18" charset="0"/>
              <a:cs typeface="Times New Roman" panose="02020603050405020304" pitchFamily="18" charset="0"/>
            </a:endParaRPr>
          </a:p>
        </p:txBody>
      </p:sp>
      <p:sp>
        <p:nvSpPr>
          <p:cNvPr id="24" name="Shape 18"/>
          <p:cNvSpPr/>
          <p:nvPr/>
        </p:nvSpPr>
        <p:spPr>
          <a:xfrm>
            <a:off x="9414499" y="1847850"/>
            <a:ext cx="1958351" cy="3670300"/>
          </a:xfrm>
          <a:prstGeom prst="rect">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5" name="Text 19"/>
          <p:cNvSpPr/>
          <p:nvPr/>
        </p:nvSpPr>
        <p:spPr>
          <a:xfrm>
            <a:off x="10047571" y="2217511"/>
            <a:ext cx="692150" cy="692150"/>
          </a:xfrm>
          <a:custGeom>
            <a:avLst/>
            <a:gdLst/>
            <a:ahLst/>
            <a:cxnLst/>
            <a:rect l="l" t="t" r="r" b="b"/>
            <a:pathLst>
              <a:path w="692150" h="692150">
                <a:moveTo>
                  <a:pt x="346075" y="0"/>
                </a:moveTo>
                <a:lnTo>
                  <a:pt x="346075" y="0"/>
                </a:lnTo>
                <a:arcTo wR="346075" hR="346075" stAng="16200000" swAng="5400000"/>
                <a:lnTo>
                  <a:pt x="692150" y="346075"/>
                </a:lnTo>
                <a:arcTo wR="346075" hR="346075" stAng="0" swAng="5400000"/>
                <a:lnTo>
                  <a:pt x="346075" y="692150"/>
                </a:lnTo>
                <a:arcTo wR="346075" hR="346075" stAng="5400000" swAng="5400000"/>
                <a:lnTo>
                  <a:pt x="0" y="346075"/>
                </a:lnTo>
                <a:arcTo wR="346075" hR="346075" stAng="10800000" swAng="5400000"/>
                <a:close/>
              </a:path>
            </a:pathLst>
          </a:custGeom>
          <a:solidFill>
            <a:srgbClr val="FFF59D"/>
          </a:solidFill>
          <a:ln w="19050">
            <a:solidFill>
              <a:srgbClr val="C9A227"/>
            </a:solidFill>
            <a:prstDash val="solid"/>
          </a:ln>
        </p:spPr>
        <p:txBody>
          <a:bodyPr wrap="square" lIns="0" tIns="8618"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18" charset="-122"/>
                <a:cs typeface="Times New Roman" panose="02020603050405020304" pitchFamily="18" charset="0"/>
              </a:rPr>
              <a:t>5</a:t>
            </a:r>
            <a:endParaRPr lang="en-US" sz="2800" dirty="0">
              <a:latin typeface="Times New Roman" panose="02020603050405020304" pitchFamily="18" charset="0"/>
              <a:cs typeface="Times New Roman" panose="02020603050405020304" pitchFamily="18" charset="0"/>
            </a:endParaRPr>
          </a:p>
        </p:txBody>
      </p:sp>
      <p:sp>
        <p:nvSpPr>
          <p:cNvPr id="26" name="Text 20"/>
          <p:cNvSpPr/>
          <p:nvPr/>
        </p:nvSpPr>
        <p:spPr>
          <a:xfrm>
            <a:off x="9830577" y="3084286"/>
            <a:ext cx="1126195"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18" charset="-122"/>
                <a:cs typeface="Times New Roman" panose="02020603050405020304" pitchFamily="18" charset="0"/>
              </a:rPr>
              <a:t>Kết luận</a:t>
            </a:r>
            <a:endParaRPr lang="en-US" sz="2000" dirty="0">
              <a:latin typeface="Times New Roman" panose="02020603050405020304" pitchFamily="18" charset="0"/>
              <a:cs typeface="Times New Roman" panose="02020603050405020304" pitchFamily="18" charset="0"/>
            </a:endParaRPr>
          </a:p>
        </p:txBody>
      </p:sp>
      <p:pic>
        <p:nvPicPr>
          <p:cNvPr id="27" name="Image 4" descr="line"/>
          <p:cNvPicPr>
            <a:picLocks noChangeAspect="1"/>
          </p:cNvPicPr>
          <p:nvPr/>
        </p:nvPicPr>
        <p:blipFill>
          <a:blip r:embed="rId3"/>
          <a:srcRect l="-2500" r="-2500"/>
          <a:stretch/>
        </p:blipFill>
        <p:spPr>
          <a:xfrm>
            <a:off x="10139646" y="3833586"/>
            <a:ext cx="508000" cy="36286"/>
          </a:xfrm>
          <a:prstGeom prst="rect">
            <a:avLst/>
          </a:prstGeom>
        </p:spPr>
      </p:pic>
      <p:sp>
        <p:nvSpPr>
          <p:cNvPr id="28" name="Text 21"/>
          <p:cNvSpPr/>
          <p:nvPr/>
        </p:nvSpPr>
        <p:spPr>
          <a:xfrm>
            <a:off x="9520606" y="4034972"/>
            <a:ext cx="1746138"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Chọn phương pháp</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Hướng phát triển</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Tín hiệu DTMF là gì?</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Mỗi phím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tổng hai sóng sin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hàng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thấp) +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cột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cao)</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762000" y="2806303"/>
            <a:ext cx="812800" cy="73660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697 Hz</a:t>
            </a:r>
            <a:endParaRPr lang="en-US" sz="1300" dirty="0">
              <a:latin typeface="Times New Roman" panose="02020603050405020304" pitchFamily="18" charset="0"/>
              <a:cs typeface="Times New Roman" panose="02020603050405020304" pitchFamily="18" charset="0"/>
            </a:endParaRPr>
          </a:p>
        </p:txBody>
      </p:sp>
      <p:sp>
        <p:nvSpPr>
          <p:cNvPr id="7" name="Text 5"/>
          <p:cNvSpPr/>
          <p:nvPr/>
        </p:nvSpPr>
        <p:spPr>
          <a:xfrm>
            <a:off x="762000" y="3631803"/>
            <a:ext cx="812800" cy="736600"/>
          </a:xfrm>
          <a:prstGeom prst="rect">
            <a:avLst/>
          </a:prstGeom>
          <a:noFill/>
          <a:ln/>
        </p:spPr>
        <p:txBody>
          <a:bodyPr wrap="square" lIns="0" tIns="0" rIns="0" bIns="0" rtlCol="0" anchor="t">
            <a:normAutofit/>
          </a:bodyPr>
          <a:lstStyle/>
          <a:p>
            <a:pPr marL="0" indent="0" algn="r">
              <a:lnSpc>
                <a:spcPts val="1820"/>
              </a:lnSpc>
              <a:buNone/>
            </a:pPr>
            <a:r>
              <a:rPr lang="en-US" sz="1300" b="1" dirty="0">
                <a:solidFill>
                  <a:srgbClr val="178A48"/>
                </a:solidFill>
                <a:latin typeface="Times New Roman" panose="02020603050405020304" pitchFamily="18" charset="0"/>
                <a:ea typeface="Open Sans" pitchFamily="34" charset="-122"/>
                <a:cs typeface="Times New Roman" panose="02020603050405020304" pitchFamily="18" charset="0"/>
              </a:rPr>
              <a:t>770 Hz</a:t>
            </a:r>
            <a:endParaRPr lang="en-US" sz="1300" dirty="0">
              <a:latin typeface="Times New Roman" panose="02020603050405020304" pitchFamily="18" charset="0"/>
              <a:cs typeface="Times New Roman" panose="02020603050405020304" pitchFamily="18" charset="0"/>
            </a:endParaRPr>
          </a:p>
        </p:txBody>
      </p:sp>
      <p:sp>
        <p:nvSpPr>
          <p:cNvPr id="8" name="Text 6"/>
          <p:cNvSpPr/>
          <p:nvPr/>
        </p:nvSpPr>
        <p:spPr>
          <a:xfrm>
            <a:off x="762000" y="4457303"/>
            <a:ext cx="812800" cy="73660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852 Hz</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762000" y="5282803"/>
            <a:ext cx="812800" cy="736600"/>
          </a:xfrm>
          <a:prstGeom prst="rect">
            <a:avLst/>
          </a:prstGeom>
          <a:noFill/>
          <a:ln/>
        </p:spPr>
        <p:txBody>
          <a:bodyPr wrap="square" lIns="0" tIns="0" rIns="0" bIns="0" rtlCol="0" anchor="t">
            <a:normAutofit/>
          </a:bodyPr>
          <a:lstStyle/>
          <a:p>
            <a:pPr marL="0" indent="0" algn="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941 Hz</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1930400" y="2171303"/>
            <a:ext cx="939800" cy="330200"/>
          </a:xfrm>
          <a:prstGeom prst="rect">
            <a:avLst/>
          </a:prstGeom>
          <a:noFill/>
          <a:ln/>
        </p:spPr>
        <p:txBody>
          <a:bodyPr wrap="square" lIns="0" tIns="0" rIns="0" bIns="0" rtlCol="0" anchor="t">
            <a:normAutofit/>
          </a:bodyPr>
          <a:lstStyle/>
          <a:p>
            <a:pPr marL="0" indent="0" algn="ctr">
              <a:lnSpc>
                <a:spcPts val="2405"/>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1209 Hz</a:t>
            </a:r>
            <a:endParaRPr lang="en-US" sz="1300" dirty="0">
              <a:latin typeface="Times New Roman" panose="02020603050405020304" pitchFamily="18" charset="0"/>
              <a:cs typeface="Times New Roman" panose="02020603050405020304" pitchFamily="18" charset="0"/>
            </a:endParaRPr>
          </a:p>
        </p:txBody>
      </p:sp>
      <p:sp>
        <p:nvSpPr>
          <p:cNvPr id="11" name="Text 9"/>
          <p:cNvSpPr/>
          <p:nvPr/>
        </p:nvSpPr>
        <p:spPr>
          <a:xfrm>
            <a:off x="2933700" y="2171303"/>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178A48"/>
                </a:solidFill>
                <a:latin typeface="Times New Roman" panose="02020603050405020304" pitchFamily="18" charset="0"/>
                <a:ea typeface="Open Sans" pitchFamily="34" charset="-122"/>
                <a:cs typeface="Times New Roman" panose="02020603050405020304" pitchFamily="18" charset="0"/>
              </a:rPr>
              <a:t>1336 Hz</a:t>
            </a:r>
            <a:endParaRPr lang="en-US" sz="1300" dirty="0">
              <a:latin typeface="Times New Roman" panose="02020603050405020304" pitchFamily="18" charset="0"/>
              <a:cs typeface="Times New Roman" panose="02020603050405020304" pitchFamily="18" charset="0"/>
            </a:endParaRPr>
          </a:p>
        </p:txBody>
      </p:sp>
      <p:sp>
        <p:nvSpPr>
          <p:cNvPr id="12" name="Text 10"/>
          <p:cNvSpPr/>
          <p:nvPr/>
        </p:nvSpPr>
        <p:spPr>
          <a:xfrm>
            <a:off x="3937000" y="2171303"/>
            <a:ext cx="939800" cy="330200"/>
          </a:xfrm>
          <a:prstGeom prst="rect">
            <a:avLst/>
          </a:prstGeom>
          <a:noFill/>
          <a:ln/>
        </p:spPr>
        <p:txBody>
          <a:bodyPr wrap="square" lIns="0" tIns="0" rIns="0" bIns="0" rtlCol="0" anchor="t">
            <a:normAutofit/>
          </a:bodyPr>
          <a:lstStyle/>
          <a:p>
            <a:pPr marL="0" indent="0" algn="ctr">
              <a:lnSpc>
                <a:spcPts val="2405"/>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1477 Hz</a:t>
            </a:r>
            <a:endParaRPr lang="en-US" sz="1300" dirty="0">
              <a:latin typeface="Times New Roman" panose="02020603050405020304" pitchFamily="18" charset="0"/>
              <a:cs typeface="Times New Roman" panose="02020603050405020304" pitchFamily="18" charset="0"/>
            </a:endParaRPr>
          </a:p>
        </p:txBody>
      </p:sp>
      <p:sp>
        <p:nvSpPr>
          <p:cNvPr id="13" name="Shape 11"/>
          <p:cNvSpPr/>
          <p:nvPr/>
        </p:nvSpPr>
        <p:spPr>
          <a:xfrm>
            <a:off x="1730375" y="2580878"/>
            <a:ext cx="3353707" cy="3645807"/>
          </a:xfrm>
          <a:prstGeom prst="rect">
            <a:avLst/>
          </a:prstGeom>
          <a:solidFill>
            <a:srgbClr val="F1F3F6"/>
          </a:solidFill>
          <a:ln w="6350">
            <a:solidFill>
              <a:srgbClr val="D5DAE2"/>
            </a:solidFill>
            <a:prstDash val="solid"/>
          </a:ln>
          <a:effectLst>
            <a:outerShdw blurRad="203200" dist="76200" dir="5400000" algn="bl" rotWithShape="0">
              <a:srgbClr val="1F2A44">
                <a:alpha val="10000"/>
              </a:srgbClr>
            </a:outerShdw>
          </a:effectLst>
        </p:spPr>
      </p:sp>
      <p:sp>
        <p:nvSpPr>
          <p:cNvPr id="14" name="Text 12"/>
          <p:cNvSpPr/>
          <p:nvPr/>
        </p:nvSpPr>
        <p:spPr>
          <a:xfrm>
            <a:off x="1962604" y="28131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txBody>
          <a:bodyPr wrap="square" lIns="454" tIns="454" rIns="454" bIns="454" rtlCol="0" anchor="ctr">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1</a:t>
            </a:r>
            <a:endParaRPr lang="en-US" sz="2300" dirty="0">
              <a:latin typeface="Times New Roman" panose="02020603050405020304" pitchFamily="18" charset="0"/>
              <a:cs typeface="Times New Roman" panose="02020603050405020304" pitchFamily="18" charset="0"/>
            </a:endParaRPr>
          </a:p>
        </p:txBody>
      </p:sp>
      <p:sp>
        <p:nvSpPr>
          <p:cNvPr id="15" name="Shape 13"/>
          <p:cNvSpPr/>
          <p:nvPr/>
        </p:nvSpPr>
        <p:spPr>
          <a:xfrm>
            <a:off x="2965904" y="2813106"/>
            <a:ext cx="882650" cy="704850"/>
          </a:xfrm>
          <a:prstGeom prst="rect">
            <a:avLst/>
          </a:prstGeom>
          <a:solidFill>
            <a:srgbClr val="EAF5EE"/>
          </a:solidFill>
          <a:ln w="6350">
            <a:solidFill>
              <a:srgbClr val="A9D8B8"/>
            </a:solidFill>
            <a:prstDash val="solid"/>
          </a:ln>
        </p:spPr>
      </p:sp>
      <p:sp>
        <p:nvSpPr>
          <p:cNvPr id="16" name="Text 14"/>
          <p:cNvSpPr/>
          <p:nvPr/>
        </p:nvSpPr>
        <p:spPr>
          <a:xfrm>
            <a:off x="3298315" y="29210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2</a:t>
            </a:r>
            <a:endParaRPr lang="en-US" sz="2300" dirty="0">
              <a:latin typeface="Times New Roman" panose="02020603050405020304" pitchFamily="18" charset="0"/>
              <a:cs typeface="Times New Roman" panose="02020603050405020304" pitchFamily="18" charset="0"/>
            </a:endParaRPr>
          </a:p>
        </p:txBody>
      </p:sp>
      <p:sp>
        <p:nvSpPr>
          <p:cNvPr id="17" name="Text 15"/>
          <p:cNvSpPr/>
          <p:nvPr/>
        </p:nvSpPr>
        <p:spPr>
          <a:xfrm>
            <a:off x="3186997" y="3242356"/>
            <a:ext cx="440463"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4E8A68"/>
                </a:solidFill>
                <a:latin typeface="Times New Roman" panose="02020603050405020304" pitchFamily="18" charset="0"/>
                <a:ea typeface="Open Sans" pitchFamily="34" charset="-122"/>
                <a:cs typeface="Times New Roman" panose="02020603050405020304" pitchFamily="18" charset="0"/>
              </a:rPr>
              <a:t>ABC</a:t>
            </a:r>
            <a:endParaRPr lang="en-US" sz="1200" dirty="0">
              <a:latin typeface="Times New Roman" panose="02020603050405020304" pitchFamily="18" charset="0"/>
              <a:cs typeface="Times New Roman" panose="02020603050405020304" pitchFamily="18" charset="0"/>
            </a:endParaRPr>
          </a:p>
        </p:txBody>
      </p:sp>
      <p:sp>
        <p:nvSpPr>
          <p:cNvPr id="18" name="Shape 16"/>
          <p:cNvSpPr/>
          <p:nvPr/>
        </p:nvSpPr>
        <p:spPr>
          <a:xfrm>
            <a:off x="3969204" y="28131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sp>
      <p:sp>
        <p:nvSpPr>
          <p:cNvPr id="19" name="Text 17"/>
          <p:cNvSpPr/>
          <p:nvPr/>
        </p:nvSpPr>
        <p:spPr>
          <a:xfrm>
            <a:off x="4301615" y="29210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3</a:t>
            </a:r>
            <a:endParaRPr lang="en-US" sz="2300" dirty="0">
              <a:latin typeface="Times New Roman" panose="02020603050405020304" pitchFamily="18" charset="0"/>
              <a:cs typeface="Times New Roman" panose="02020603050405020304" pitchFamily="18" charset="0"/>
            </a:endParaRPr>
          </a:p>
        </p:txBody>
      </p:sp>
      <p:sp>
        <p:nvSpPr>
          <p:cNvPr id="20" name="Text 18"/>
          <p:cNvSpPr/>
          <p:nvPr/>
        </p:nvSpPr>
        <p:spPr>
          <a:xfrm>
            <a:off x="4200434" y="3242356"/>
            <a:ext cx="420189"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7A8394"/>
                </a:solidFill>
                <a:latin typeface="Times New Roman" panose="02020603050405020304" pitchFamily="18" charset="0"/>
                <a:ea typeface="Open Sans" pitchFamily="34" charset="-122"/>
                <a:cs typeface="Times New Roman" panose="02020603050405020304" pitchFamily="18" charset="0"/>
              </a:rPr>
              <a:t>DEF</a:t>
            </a:r>
            <a:endParaRPr lang="en-US" sz="1200" dirty="0">
              <a:latin typeface="Times New Roman" panose="02020603050405020304" pitchFamily="18" charset="0"/>
              <a:cs typeface="Times New Roman" panose="02020603050405020304" pitchFamily="18" charset="0"/>
            </a:endParaRPr>
          </a:p>
        </p:txBody>
      </p:sp>
      <p:sp>
        <p:nvSpPr>
          <p:cNvPr id="21" name="Shape 19"/>
          <p:cNvSpPr/>
          <p:nvPr/>
        </p:nvSpPr>
        <p:spPr>
          <a:xfrm>
            <a:off x="1962604" y="3638606"/>
            <a:ext cx="882650" cy="704850"/>
          </a:xfrm>
          <a:prstGeom prst="rect">
            <a:avLst/>
          </a:prstGeom>
          <a:solidFill>
            <a:srgbClr val="EAF5EE"/>
          </a:solidFill>
          <a:ln w="6350">
            <a:solidFill>
              <a:srgbClr val="A9D8B8"/>
            </a:solidFill>
            <a:prstDash val="solid"/>
          </a:ln>
        </p:spPr>
      </p:sp>
      <p:sp>
        <p:nvSpPr>
          <p:cNvPr id="22" name="Text 20"/>
          <p:cNvSpPr/>
          <p:nvPr/>
        </p:nvSpPr>
        <p:spPr>
          <a:xfrm>
            <a:off x="2295015" y="37465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4</a:t>
            </a:r>
            <a:endParaRPr lang="en-US" sz="2300" dirty="0">
              <a:latin typeface="Times New Roman" panose="02020603050405020304" pitchFamily="18" charset="0"/>
              <a:cs typeface="Times New Roman" panose="02020603050405020304" pitchFamily="18" charset="0"/>
            </a:endParaRPr>
          </a:p>
        </p:txBody>
      </p:sp>
      <p:sp>
        <p:nvSpPr>
          <p:cNvPr id="23" name="Text 21"/>
          <p:cNvSpPr/>
          <p:nvPr/>
        </p:nvSpPr>
        <p:spPr>
          <a:xfrm>
            <a:off x="2198739" y="4067856"/>
            <a:ext cx="410323"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4E8A68"/>
                </a:solidFill>
                <a:latin typeface="Times New Roman" panose="02020603050405020304" pitchFamily="18" charset="0"/>
                <a:ea typeface="Open Sans" pitchFamily="34" charset="-122"/>
                <a:cs typeface="Times New Roman" panose="02020603050405020304" pitchFamily="18" charset="0"/>
              </a:rPr>
              <a:t>GHI</a:t>
            </a:r>
            <a:endParaRPr lang="en-US" sz="1200" dirty="0">
              <a:latin typeface="Times New Roman" panose="02020603050405020304" pitchFamily="18" charset="0"/>
              <a:cs typeface="Times New Roman" panose="02020603050405020304" pitchFamily="18" charset="0"/>
            </a:endParaRPr>
          </a:p>
        </p:txBody>
      </p:sp>
      <p:sp>
        <p:nvSpPr>
          <p:cNvPr id="24" name="Shape 22"/>
          <p:cNvSpPr/>
          <p:nvPr/>
        </p:nvSpPr>
        <p:spPr>
          <a:xfrm>
            <a:off x="2965904" y="3638606"/>
            <a:ext cx="882650" cy="704850"/>
          </a:xfrm>
          <a:prstGeom prst="rect">
            <a:avLst/>
          </a:prstGeom>
          <a:solidFill>
            <a:srgbClr val="178A48"/>
          </a:solidFill>
          <a:ln w="6350">
            <a:solidFill>
              <a:srgbClr val="126E3A"/>
            </a:solidFill>
            <a:prstDash val="solid"/>
          </a:ln>
          <a:effectLst>
            <a:outerShdw blurRad="101600" dist="38100" dir="5400000" algn="bl" rotWithShape="0">
              <a:srgbClr val="178A48">
                <a:alpha val="30000"/>
              </a:srgbClr>
            </a:outerShdw>
          </a:effectLst>
        </p:spPr>
      </p:sp>
      <p:sp>
        <p:nvSpPr>
          <p:cNvPr id="25" name="Text 23"/>
          <p:cNvSpPr/>
          <p:nvPr/>
        </p:nvSpPr>
        <p:spPr>
          <a:xfrm>
            <a:off x="3298315" y="37465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b="1" dirty="0">
                <a:solidFill>
                  <a:srgbClr val="FFFFFF"/>
                </a:solidFill>
                <a:latin typeface="Times New Roman" panose="02020603050405020304" pitchFamily="18" charset="0"/>
                <a:ea typeface="Open Sans" pitchFamily="34" charset="-122"/>
                <a:cs typeface="Times New Roman" panose="02020603050405020304" pitchFamily="18" charset="0"/>
              </a:rPr>
              <a:t>5</a:t>
            </a:r>
            <a:endParaRPr lang="en-US" sz="2300" dirty="0">
              <a:latin typeface="Times New Roman" panose="02020603050405020304" pitchFamily="18" charset="0"/>
              <a:cs typeface="Times New Roman" panose="02020603050405020304" pitchFamily="18" charset="0"/>
            </a:endParaRPr>
          </a:p>
        </p:txBody>
      </p:sp>
      <p:sp>
        <p:nvSpPr>
          <p:cNvPr id="26" name="Text 24"/>
          <p:cNvSpPr/>
          <p:nvPr/>
        </p:nvSpPr>
        <p:spPr>
          <a:xfrm>
            <a:off x="3233199" y="4067856"/>
            <a:ext cx="348003"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D8F0E1"/>
                </a:solidFill>
                <a:latin typeface="Times New Roman" panose="02020603050405020304" pitchFamily="18" charset="0"/>
                <a:ea typeface="Open Sans" pitchFamily="34" charset="-122"/>
                <a:cs typeface="Times New Roman" panose="02020603050405020304" pitchFamily="18" charset="0"/>
              </a:rPr>
              <a:t>JKL</a:t>
            </a:r>
            <a:endParaRPr lang="en-US" sz="1200" dirty="0">
              <a:latin typeface="Times New Roman" panose="02020603050405020304" pitchFamily="18" charset="0"/>
              <a:cs typeface="Times New Roman" panose="02020603050405020304" pitchFamily="18" charset="0"/>
            </a:endParaRPr>
          </a:p>
        </p:txBody>
      </p:sp>
      <p:sp>
        <p:nvSpPr>
          <p:cNvPr id="27" name="Shape 25"/>
          <p:cNvSpPr/>
          <p:nvPr/>
        </p:nvSpPr>
        <p:spPr>
          <a:xfrm>
            <a:off x="3969204" y="3638606"/>
            <a:ext cx="882650" cy="704850"/>
          </a:xfrm>
          <a:prstGeom prst="rect">
            <a:avLst/>
          </a:prstGeom>
          <a:solidFill>
            <a:srgbClr val="EAF5EE"/>
          </a:solidFill>
          <a:ln w="6350">
            <a:solidFill>
              <a:srgbClr val="A9D8B8"/>
            </a:solidFill>
            <a:prstDash val="solid"/>
          </a:ln>
        </p:spPr>
      </p:sp>
      <p:sp>
        <p:nvSpPr>
          <p:cNvPr id="28" name="Text 26"/>
          <p:cNvSpPr/>
          <p:nvPr/>
        </p:nvSpPr>
        <p:spPr>
          <a:xfrm>
            <a:off x="4301615" y="37465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6</a:t>
            </a:r>
            <a:endParaRPr lang="en-US" sz="2300" dirty="0">
              <a:latin typeface="Times New Roman" panose="02020603050405020304" pitchFamily="18" charset="0"/>
              <a:cs typeface="Times New Roman" panose="02020603050405020304" pitchFamily="18" charset="0"/>
            </a:endParaRPr>
          </a:p>
        </p:txBody>
      </p:sp>
      <p:sp>
        <p:nvSpPr>
          <p:cNvPr id="29" name="Text 27"/>
          <p:cNvSpPr/>
          <p:nvPr/>
        </p:nvSpPr>
        <p:spPr>
          <a:xfrm>
            <a:off x="4142542" y="4067856"/>
            <a:ext cx="535917"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4E8A68"/>
                </a:solidFill>
                <a:latin typeface="Times New Roman" panose="02020603050405020304" pitchFamily="18" charset="0"/>
                <a:ea typeface="Open Sans" pitchFamily="34" charset="-122"/>
                <a:cs typeface="Times New Roman" panose="02020603050405020304" pitchFamily="18" charset="0"/>
              </a:rPr>
              <a:t>MNO</a:t>
            </a:r>
            <a:endParaRPr lang="en-US" sz="1200" dirty="0">
              <a:latin typeface="Times New Roman" panose="02020603050405020304" pitchFamily="18" charset="0"/>
              <a:cs typeface="Times New Roman" panose="02020603050405020304" pitchFamily="18" charset="0"/>
            </a:endParaRPr>
          </a:p>
        </p:txBody>
      </p:sp>
      <p:sp>
        <p:nvSpPr>
          <p:cNvPr id="30" name="Shape 28"/>
          <p:cNvSpPr/>
          <p:nvPr/>
        </p:nvSpPr>
        <p:spPr>
          <a:xfrm>
            <a:off x="1962604" y="44641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sp>
      <p:sp>
        <p:nvSpPr>
          <p:cNvPr id="31" name="Text 29"/>
          <p:cNvSpPr/>
          <p:nvPr/>
        </p:nvSpPr>
        <p:spPr>
          <a:xfrm>
            <a:off x="2295015" y="45720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7</a:t>
            </a:r>
            <a:endParaRPr lang="en-US" sz="2300" dirty="0">
              <a:latin typeface="Times New Roman" panose="02020603050405020304" pitchFamily="18" charset="0"/>
              <a:cs typeface="Times New Roman" panose="02020603050405020304" pitchFamily="18" charset="0"/>
            </a:endParaRPr>
          </a:p>
        </p:txBody>
      </p:sp>
      <p:sp>
        <p:nvSpPr>
          <p:cNvPr id="32" name="Text 30"/>
          <p:cNvSpPr/>
          <p:nvPr/>
        </p:nvSpPr>
        <p:spPr>
          <a:xfrm>
            <a:off x="2110224" y="4893356"/>
            <a:ext cx="587352"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7A8394"/>
                </a:solidFill>
                <a:latin typeface="Times New Roman" panose="02020603050405020304" pitchFamily="18" charset="0"/>
                <a:ea typeface="Open Sans" pitchFamily="34" charset="-122"/>
                <a:cs typeface="Times New Roman" panose="02020603050405020304" pitchFamily="18" charset="0"/>
              </a:rPr>
              <a:t>PQRS</a:t>
            </a:r>
            <a:endParaRPr lang="en-US" sz="1200" dirty="0">
              <a:latin typeface="Times New Roman" panose="02020603050405020304" pitchFamily="18" charset="0"/>
              <a:cs typeface="Times New Roman" panose="02020603050405020304" pitchFamily="18" charset="0"/>
            </a:endParaRPr>
          </a:p>
        </p:txBody>
      </p:sp>
      <p:sp>
        <p:nvSpPr>
          <p:cNvPr id="33" name="Shape 31"/>
          <p:cNvSpPr/>
          <p:nvPr/>
        </p:nvSpPr>
        <p:spPr>
          <a:xfrm>
            <a:off x="2965904" y="4464106"/>
            <a:ext cx="882650" cy="704850"/>
          </a:xfrm>
          <a:prstGeom prst="rect">
            <a:avLst/>
          </a:prstGeom>
          <a:solidFill>
            <a:srgbClr val="EAF5EE"/>
          </a:solidFill>
          <a:ln w="6350">
            <a:solidFill>
              <a:srgbClr val="A9D8B8"/>
            </a:solidFill>
            <a:prstDash val="solid"/>
          </a:ln>
        </p:spPr>
      </p:sp>
      <p:sp>
        <p:nvSpPr>
          <p:cNvPr id="34" name="Text 32"/>
          <p:cNvSpPr/>
          <p:nvPr/>
        </p:nvSpPr>
        <p:spPr>
          <a:xfrm>
            <a:off x="3298315" y="45720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8</a:t>
            </a:r>
            <a:endParaRPr lang="en-US" sz="2300" dirty="0">
              <a:latin typeface="Times New Roman" panose="02020603050405020304" pitchFamily="18" charset="0"/>
              <a:cs typeface="Times New Roman" panose="02020603050405020304" pitchFamily="18" charset="0"/>
            </a:endParaRPr>
          </a:p>
        </p:txBody>
      </p:sp>
      <p:sp>
        <p:nvSpPr>
          <p:cNvPr id="35" name="Text 33"/>
          <p:cNvSpPr/>
          <p:nvPr/>
        </p:nvSpPr>
        <p:spPr>
          <a:xfrm>
            <a:off x="3189928" y="4893356"/>
            <a:ext cx="434544"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4E8A68"/>
                </a:solidFill>
                <a:latin typeface="Times New Roman" panose="02020603050405020304" pitchFamily="18" charset="0"/>
                <a:ea typeface="Open Sans" pitchFamily="34" charset="-122"/>
                <a:cs typeface="Times New Roman" panose="02020603050405020304" pitchFamily="18" charset="0"/>
              </a:rPr>
              <a:t>TUV</a:t>
            </a:r>
            <a:endParaRPr lang="en-US" sz="1200" dirty="0">
              <a:latin typeface="Times New Roman" panose="02020603050405020304" pitchFamily="18" charset="0"/>
              <a:cs typeface="Times New Roman" panose="02020603050405020304" pitchFamily="18" charset="0"/>
            </a:endParaRPr>
          </a:p>
        </p:txBody>
      </p:sp>
      <p:sp>
        <p:nvSpPr>
          <p:cNvPr id="36" name="Shape 34"/>
          <p:cNvSpPr/>
          <p:nvPr/>
        </p:nvSpPr>
        <p:spPr>
          <a:xfrm>
            <a:off x="3969204" y="44641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sp>
      <p:sp>
        <p:nvSpPr>
          <p:cNvPr id="37" name="Text 35"/>
          <p:cNvSpPr/>
          <p:nvPr/>
        </p:nvSpPr>
        <p:spPr>
          <a:xfrm>
            <a:off x="4301615" y="45720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9</a:t>
            </a:r>
            <a:endParaRPr lang="en-US" sz="2300" dirty="0">
              <a:latin typeface="Times New Roman" panose="02020603050405020304" pitchFamily="18" charset="0"/>
              <a:cs typeface="Times New Roman" panose="02020603050405020304" pitchFamily="18" charset="0"/>
            </a:endParaRPr>
          </a:p>
        </p:txBody>
      </p:sp>
      <p:sp>
        <p:nvSpPr>
          <p:cNvPr id="38" name="Text 36"/>
          <p:cNvSpPr/>
          <p:nvPr/>
        </p:nvSpPr>
        <p:spPr>
          <a:xfrm>
            <a:off x="4108858" y="4893356"/>
            <a:ext cx="603341"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7A8394"/>
                </a:solidFill>
                <a:latin typeface="Times New Roman" panose="02020603050405020304" pitchFamily="18" charset="0"/>
                <a:ea typeface="Open Sans" pitchFamily="34" charset="-122"/>
                <a:cs typeface="Times New Roman" panose="02020603050405020304" pitchFamily="18" charset="0"/>
              </a:rPr>
              <a:t>WXYZ</a:t>
            </a:r>
            <a:endParaRPr lang="en-US" sz="1200" dirty="0">
              <a:latin typeface="Times New Roman" panose="02020603050405020304" pitchFamily="18" charset="0"/>
              <a:cs typeface="Times New Roman" panose="02020603050405020304" pitchFamily="18" charset="0"/>
            </a:endParaRPr>
          </a:p>
        </p:txBody>
      </p:sp>
      <p:sp>
        <p:nvSpPr>
          <p:cNvPr id="39" name="Text 37"/>
          <p:cNvSpPr/>
          <p:nvPr/>
        </p:nvSpPr>
        <p:spPr>
          <a:xfrm>
            <a:off x="1962604" y="52896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txBody>
          <a:bodyPr wrap="square" lIns="454" tIns="454" rIns="454" bIns="454" rtlCol="0" anchor="ctr">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a:t>
            </a:r>
            <a:endParaRPr lang="en-US" sz="2300" dirty="0">
              <a:latin typeface="Times New Roman" panose="02020603050405020304" pitchFamily="18" charset="0"/>
              <a:cs typeface="Times New Roman" panose="02020603050405020304" pitchFamily="18" charset="0"/>
            </a:endParaRPr>
          </a:p>
        </p:txBody>
      </p:sp>
      <p:sp>
        <p:nvSpPr>
          <p:cNvPr id="40" name="Shape 38"/>
          <p:cNvSpPr/>
          <p:nvPr/>
        </p:nvSpPr>
        <p:spPr>
          <a:xfrm>
            <a:off x="2965904" y="5289606"/>
            <a:ext cx="882650" cy="704850"/>
          </a:xfrm>
          <a:prstGeom prst="rect">
            <a:avLst/>
          </a:prstGeom>
          <a:solidFill>
            <a:srgbClr val="EAF5EE"/>
          </a:solidFill>
          <a:ln w="6350">
            <a:solidFill>
              <a:srgbClr val="A9D8B8"/>
            </a:solidFill>
            <a:prstDash val="solid"/>
          </a:ln>
        </p:spPr>
      </p:sp>
      <p:sp>
        <p:nvSpPr>
          <p:cNvPr id="41" name="Text 39"/>
          <p:cNvSpPr/>
          <p:nvPr/>
        </p:nvSpPr>
        <p:spPr>
          <a:xfrm>
            <a:off x="3298315" y="5397556"/>
            <a:ext cx="217828" cy="346699"/>
          </a:xfrm>
          <a:prstGeom prst="rect">
            <a:avLst/>
          </a:prstGeom>
          <a:noFill/>
          <a:ln/>
        </p:spPr>
        <p:txBody>
          <a:bodyPr wrap="square" lIns="0" tIns="0" rIns="0" bIns="0" rtlCol="0" anchor="t">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0</a:t>
            </a:r>
            <a:endParaRPr lang="en-US" sz="2300" dirty="0">
              <a:latin typeface="Times New Roman" panose="02020603050405020304" pitchFamily="18" charset="0"/>
              <a:cs typeface="Times New Roman" panose="02020603050405020304" pitchFamily="18" charset="0"/>
            </a:endParaRPr>
          </a:p>
        </p:txBody>
      </p:sp>
      <p:sp>
        <p:nvSpPr>
          <p:cNvPr id="42" name="Text 40"/>
          <p:cNvSpPr/>
          <p:nvPr/>
        </p:nvSpPr>
        <p:spPr>
          <a:xfrm>
            <a:off x="3325529" y="5718856"/>
            <a:ext cx="163342" cy="192995"/>
          </a:xfrm>
          <a:prstGeom prst="rect">
            <a:avLst/>
          </a:prstGeom>
          <a:noFill/>
          <a:ln/>
        </p:spPr>
        <p:txBody>
          <a:bodyPr wrap="square" lIns="0" tIns="0" rIns="0" bIns="0" rtlCol="0" anchor="t">
            <a:normAutofit/>
          </a:bodyPr>
          <a:lstStyle/>
          <a:p>
            <a:pPr marL="0" indent="0" algn="ctr">
              <a:lnSpc>
                <a:spcPts val="1320"/>
              </a:lnSpc>
              <a:buNone/>
            </a:pPr>
            <a:r>
              <a:rPr lang="en-US" sz="1200" kern="0" spc="200" dirty="0">
                <a:solidFill>
                  <a:srgbClr val="4E8A68"/>
                </a:solidFill>
                <a:latin typeface="Times New Roman" panose="02020603050405020304" pitchFamily="18" charset="0"/>
                <a:ea typeface="Open Sans" pitchFamily="34" charset="-122"/>
                <a:cs typeface="Times New Roman" panose="02020603050405020304" pitchFamily="18" charset="0"/>
              </a:rPr>
              <a:t>+</a:t>
            </a:r>
            <a:endParaRPr lang="en-US" sz="1200" dirty="0">
              <a:latin typeface="Times New Roman" panose="02020603050405020304" pitchFamily="18" charset="0"/>
              <a:cs typeface="Times New Roman" panose="02020603050405020304" pitchFamily="18" charset="0"/>
            </a:endParaRPr>
          </a:p>
        </p:txBody>
      </p:sp>
      <p:sp>
        <p:nvSpPr>
          <p:cNvPr id="43" name="Text 41"/>
          <p:cNvSpPr/>
          <p:nvPr/>
        </p:nvSpPr>
        <p:spPr>
          <a:xfrm>
            <a:off x="3969204" y="5289606"/>
            <a:ext cx="882650" cy="704850"/>
          </a:xfrm>
          <a:prstGeom prst="rect">
            <a:avLst/>
          </a:prstGeom>
          <a:solidFill>
            <a:srgbClr val="FFFFFF"/>
          </a:solidFill>
          <a:ln w="6350">
            <a:solidFill>
              <a:srgbClr val="D5DAE2"/>
            </a:solidFill>
            <a:prstDash val="solid"/>
          </a:ln>
          <a:effectLst>
            <a:outerShdw blurRad="12700" dist="6350" dir="5400000" algn="bl" rotWithShape="0">
              <a:srgbClr val="1F2A44">
                <a:alpha val="8000"/>
              </a:srgbClr>
            </a:outerShdw>
          </a:effectLst>
        </p:spPr>
        <p:txBody>
          <a:bodyPr wrap="square" lIns="454" tIns="454" rIns="454" bIns="454" rtlCol="0" anchor="ctr">
            <a:normAutofit/>
          </a:bodyPr>
          <a:lstStyle/>
          <a:p>
            <a:pPr marL="0" indent="0" algn="ctr">
              <a:lnSpc>
                <a:spcPts val="2530"/>
              </a:lnSpc>
              <a:buNone/>
            </a:pPr>
            <a:r>
              <a:rPr lang="en-US" sz="2300" dirty="0">
                <a:solidFill>
                  <a:srgbClr val="1F2A44"/>
                </a:solidFill>
                <a:latin typeface="Times New Roman" panose="02020603050405020304" pitchFamily="18" charset="0"/>
                <a:ea typeface="Open Sans" pitchFamily="34" charset="-122"/>
                <a:cs typeface="Times New Roman" panose="02020603050405020304" pitchFamily="18" charset="0"/>
              </a:rPr>
              <a:t>#</a:t>
            </a:r>
            <a:endParaRPr lang="en-US" sz="2300" dirty="0">
              <a:latin typeface="Times New Roman" panose="02020603050405020304" pitchFamily="18" charset="0"/>
              <a:cs typeface="Times New Roman" panose="02020603050405020304" pitchFamily="18" charset="0"/>
            </a:endParaRPr>
          </a:p>
        </p:txBody>
      </p:sp>
      <p:sp>
        <p:nvSpPr>
          <p:cNvPr id="44" name="Text 42"/>
          <p:cNvSpPr/>
          <p:nvPr/>
        </p:nvSpPr>
        <p:spPr>
          <a:xfrm>
            <a:off x="5646057" y="3016986"/>
            <a:ext cx="5905137" cy="492749"/>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78A48"/>
                </a:solidFill>
                <a:latin typeface="Times New Roman" panose="02020603050405020304" pitchFamily="18" charset="0"/>
                <a:ea typeface="Tinos" pitchFamily="18" charset="-122"/>
                <a:cs typeface="Times New Roman" panose="02020603050405020304" pitchFamily="18" charset="0"/>
              </a:rPr>
              <a:t>Phím 5 = 770 Hz + 1336 Hz</a:t>
            </a:r>
            <a:endParaRPr lang="en-US" sz="3200" dirty="0">
              <a:latin typeface="Times New Roman" panose="02020603050405020304" pitchFamily="18" charset="0"/>
              <a:cs typeface="Times New Roman" panose="02020603050405020304" pitchFamily="18" charset="0"/>
            </a:endParaRPr>
          </a:p>
        </p:txBody>
      </p:sp>
      <p:sp>
        <p:nvSpPr>
          <p:cNvPr id="45" name="Text 43"/>
          <p:cNvSpPr/>
          <p:nvPr/>
        </p:nvSpPr>
        <p:spPr>
          <a:xfrm>
            <a:off x="5646057" y="3712935"/>
            <a:ext cx="406400" cy="406400"/>
          </a:xfrm>
          <a:custGeom>
            <a:avLst/>
            <a:gdLst/>
            <a:ahLst/>
            <a:cxnLst/>
            <a:rect l="l" t="t" r="r" b="b"/>
            <a:pathLst>
              <a:path w="406400" h="406400">
                <a:moveTo>
                  <a:pt x="203200" y="0"/>
                </a:moveTo>
                <a:lnTo>
                  <a:pt x="203200" y="0"/>
                </a:lnTo>
                <a:arcTo wR="203200" hR="203200" stAng="16200000" swAng="5400000"/>
                <a:lnTo>
                  <a:pt x="406400" y="203200"/>
                </a:lnTo>
                <a:arcTo wR="203200" hR="203200" stAng="0" swAng="5400000"/>
                <a:lnTo>
                  <a:pt x="203200" y="406400"/>
                </a:lnTo>
                <a:arcTo wR="203200" hR="203200" stAng="5400000" swAng="5400000"/>
                <a:lnTo>
                  <a:pt x="0" y="203200"/>
                </a:lnTo>
                <a:arcTo wR="203200" hR="203200" stAng="10800000" swAng="5400000"/>
                <a:close/>
              </a:path>
            </a:pathLst>
          </a:custGeom>
          <a:solidFill>
            <a:srgbClr val="2E9E4F"/>
          </a:solid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46" name="Text 44"/>
          <p:cNvSpPr/>
          <p:nvPr/>
        </p:nvSpPr>
        <p:spPr>
          <a:xfrm>
            <a:off x="6204857" y="3770426"/>
            <a:ext cx="5329573"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7 tần số</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cho 12 phím</a:t>
            </a:r>
            <a:endParaRPr lang="en-US" sz="1700" dirty="0">
              <a:latin typeface="Times New Roman" panose="02020603050405020304" pitchFamily="18" charset="0"/>
              <a:cs typeface="Times New Roman" panose="02020603050405020304" pitchFamily="18" charset="0"/>
            </a:endParaRPr>
          </a:p>
        </p:txBody>
      </p:sp>
      <p:sp>
        <p:nvSpPr>
          <p:cNvPr id="47" name="Text 45"/>
          <p:cNvSpPr/>
          <p:nvPr/>
        </p:nvSpPr>
        <p:spPr>
          <a:xfrm>
            <a:off x="5646057" y="4347935"/>
            <a:ext cx="406400" cy="406400"/>
          </a:xfrm>
          <a:custGeom>
            <a:avLst/>
            <a:gdLst/>
            <a:ahLst/>
            <a:cxnLst/>
            <a:rect l="l" t="t" r="r" b="b"/>
            <a:pathLst>
              <a:path w="406400" h="406400">
                <a:moveTo>
                  <a:pt x="203200" y="0"/>
                </a:moveTo>
                <a:lnTo>
                  <a:pt x="203200" y="0"/>
                </a:lnTo>
                <a:arcTo wR="203200" hR="203200" stAng="16200000" swAng="5400000"/>
                <a:lnTo>
                  <a:pt x="406400" y="203200"/>
                </a:lnTo>
                <a:arcTo wR="203200" hR="203200" stAng="0" swAng="5400000"/>
                <a:lnTo>
                  <a:pt x="203200" y="406400"/>
                </a:lnTo>
                <a:arcTo wR="203200" hR="203200" stAng="5400000" swAng="5400000"/>
                <a:lnTo>
                  <a:pt x="0" y="203200"/>
                </a:lnTo>
                <a:arcTo wR="203200" hR="203200" stAng="10800000" swAng="5400000"/>
                <a:close/>
              </a:path>
            </a:pathLst>
          </a:custGeom>
          <a:solidFill>
            <a:srgbClr val="2E9E4F"/>
          </a:solid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48" name="Text 46"/>
          <p:cNvSpPr/>
          <p:nvPr/>
        </p:nvSpPr>
        <p:spPr>
          <a:xfrm>
            <a:off x="6204857" y="4405426"/>
            <a:ext cx="5329573"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Hai âm cùng lúc → khó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nhận nhầm</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tiếng nói</a:t>
            </a:r>
            <a:endParaRPr lang="en-US" sz="1700" dirty="0">
              <a:latin typeface="Times New Roman" panose="02020603050405020304" pitchFamily="18" charset="0"/>
              <a:cs typeface="Times New Roman" panose="02020603050405020304" pitchFamily="18" charset="0"/>
            </a:endParaRPr>
          </a:p>
        </p:txBody>
      </p:sp>
      <p:sp>
        <p:nvSpPr>
          <p:cNvPr id="49" name="Text 47"/>
          <p:cNvSpPr/>
          <p:nvPr/>
        </p:nvSpPr>
        <p:spPr>
          <a:xfrm>
            <a:off x="5646057" y="4982935"/>
            <a:ext cx="4810012" cy="401297"/>
          </a:xfrm>
          <a:prstGeom prst="rect">
            <a:avLst/>
          </a:prstGeom>
          <a:solidFill>
            <a:srgbClr val="FFF2CC"/>
          </a:solidFill>
          <a:ln/>
        </p:spPr>
        <p:txBody>
          <a:bodyPr wrap="none" lIns="0" tIns="0" rIns="0" bIns="0" rtlCol="0" anchor="ctr">
            <a:normAutofit/>
          </a:bodyPr>
          <a:lstStyle/>
          <a:p>
            <a:pPr marL="0" indent="0" algn="ctr">
              <a:lnSpc>
                <a:spcPts val="1960"/>
              </a:lnSpc>
              <a:buNone/>
            </a:pPr>
            <a:r>
              <a:rPr lang="en-US" sz="1400" b="1" dirty="0">
                <a:solidFill>
                  <a:srgbClr val="6B5300"/>
                </a:solidFill>
                <a:latin typeface="Times New Roman" panose="02020603050405020304" pitchFamily="18" charset="0"/>
                <a:ea typeface="Open Sans" pitchFamily="34" charset="-122"/>
                <a:cs typeface="Times New Roman" panose="02020603050405020304" pitchFamily="18" charset="0"/>
              </a:rPr>
              <a:t>8000 mẫu/giây · mỗi phím kêu 100 ms · nghỉ 50 ms</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Sơ đồ hệ thống</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Mô phỏng trọn một tuyến: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phát → kênh nhiễu → giải mã → đánh giá</a:t>
            </a:r>
            <a:endParaRPr lang="en-US" sz="1700" dirty="0">
              <a:latin typeface="Times New Roman" panose="02020603050405020304" pitchFamily="18" charset="0"/>
              <a:cs typeface="Times New Roman" panose="02020603050405020304" pitchFamily="18" charset="0"/>
            </a:endParaRPr>
          </a:p>
        </p:txBody>
      </p:sp>
      <p:pic>
        <p:nvPicPr>
          <p:cNvPr id="6" name="Image 0" descr="Sơ đồ chức năng: chuỗi phím vào bộ phát DTMF tạo x[n], cộng nhiễu v[n] thành y[n], bộ giải mã FFT, Goertzel hoặc ngân hàng lọc cho chuỗi phím giải mã, khối đánh giá so với nhãn đúng"/>
          <p:cNvPicPr>
            <a:picLocks noChangeAspect="1"/>
          </p:cNvPicPr>
          <p:nvPr/>
        </p:nvPicPr>
        <p:blipFill>
          <a:blip r:embed="rId3"/>
          <a:srcRect t="-30" b="-30"/>
          <a:stretch/>
        </p:blipFill>
        <p:spPr>
          <a:xfrm>
            <a:off x="1143000" y="2489315"/>
            <a:ext cx="9906001" cy="2419350"/>
          </a:xfrm>
          <a:prstGeom prst="rect">
            <a:avLst/>
          </a:prstGeom>
        </p:spPr>
      </p:pic>
      <p:sp>
        <p:nvSpPr>
          <p:cNvPr id="7" name="Shape 4"/>
          <p:cNvSpPr/>
          <p:nvPr/>
        </p:nvSpPr>
        <p:spPr>
          <a:xfrm>
            <a:off x="812800" y="5549900"/>
            <a:ext cx="2527300" cy="749300"/>
          </a:xfrm>
          <a:prstGeom prst="rect">
            <a:avLst/>
          </a:prstGeom>
          <a:solidFill>
            <a:srgbClr val="F3F6FA"/>
          </a:solidFill>
          <a:ln/>
        </p:spPr>
      </p:sp>
      <p:sp>
        <p:nvSpPr>
          <p:cNvPr id="8" name="Text 5"/>
          <p:cNvSpPr/>
          <p:nvPr/>
        </p:nvSpPr>
        <p:spPr>
          <a:xfrm>
            <a:off x="952500" y="5734050"/>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9" name="Text 6"/>
          <p:cNvSpPr/>
          <p:nvPr/>
        </p:nvSpPr>
        <p:spPr>
          <a:xfrm>
            <a:off x="14351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Phát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âm theo chuẩn Q.23</a:t>
            </a:r>
            <a:endParaRPr lang="en-US" sz="1500" dirty="0">
              <a:latin typeface="Times New Roman" panose="02020603050405020304" pitchFamily="18" charset="0"/>
              <a:cs typeface="Times New Roman" panose="02020603050405020304" pitchFamily="18" charset="0"/>
            </a:endParaRPr>
          </a:p>
        </p:txBody>
      </p:sp>
      <p:sp>
        <p:nvSpPr>
          <p:cNvPr id="10" name="Shape 7"/>
          <p:cNvSpPr/>
          <p:nvPr/>
        </p:nvSpPr>
        <p:spPr>
          <a:xfrm>
            <a:off x="3492500" y="5549900"/>
            <a:ext cx="2527300" cy="749300"/>
          </a:xfrm>
          <a:prstGeom prst="rect">
            <a:avLst/>
          </a:prstGeom>
          <a:solidFill>
            <a:srgbClr val="F3F6FA"/>
          </a:solidFill>
          <a:ln/>
        </p:spPr>
      </p:sp>
      <p:sp>
        <p:nvSpPr>
          <p:cNvPr id="11" name="Text 8"/>
          <p:cNvSpPr/>
          <p:nvPr/>
        </p:nvSpPr>
        <p:spPr>
          <a:xfrm>
            <a:off x="3632200" y="5734050"/>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41148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Cộng nhiễu</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AWGN / ù 50 Hz</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6172200" y="5549900"/>
            <a:ext cx="2527300" cy="749300"/>
          </a:xfrm>
          <a:prstGeom prst="rect">
            <a:avLst/>
          </a:prstGeom>
          <a:solidFill>
            <a:srgbClr val="F3F6FA"/>
          </a:solidFill>
          <a:ln/>
        </p:spPr>
      </p:sp>
      <p:sp>
        <p:nvSpPr>
          <p:cNvPr id="14" name="Text 11"/>
          <p:cNvSpPr/>
          <p:nvPr/>
        </p:nvSpPr>
        <p:spPr>
          <a:xfrm>
            <a:off x="6311900" y="5734050"/>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67945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Giải mã</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bằng 1 trong 3 cách</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8851901" y="5549900"/>
            <a:ext cx="2527300" cy="749300"/>
          </a:xfrm>
          <a:prstGeom prst="rect">
            <a:avLst/>
          </a:prstGeom>
          <a:solidFill>
            <a:srgbClr val="F3F6FA"/>
          </a:solidFill>
          <a:ln/>
        </p:spPr>
      </p:sp>
      <p:sp>
        <p:nvSpPr>
          <p:cNvPr id="17" name="Text 14"/>
          <p:cNvSpPr/>
          <p:nvPr/>
        </p:nvSpPr>
        <p:spPr>
          <a:xfrm>
            <a:off x="8991601" y="5734050"/>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18" name="Text 15"/>
          <p:cNvSpPr/>
          <p:nvPr/>
        </p:nvSpPr>
        <p:spPr>
          <a:xfrm>
            <a:off x="9474201" y="5800725"/>
            <a:ext cx="1818259"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So</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với chuỗi gốc</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3"/>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Ba bộ giải mã</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3"/>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Ba bộ giải mã dùng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chung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mọi bước, 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khác ở bước đo công suất</a:t>
            </a:r>
            <a:endParaRPr lang="en-US" sz="1700" dirty="0">
              <a:latin typeface="Times New Roman" panose="02020603050405020304" pitchFamily="18" charset="0"/>
              <a:cs typeface="Times New Roman" panose="02020603050405020304" pitchFamily="18" charset="0"/>
            </a:endParaRPr>
          </a:p>
        </p:txBody>
      </p:sp>
      <p:sp>
        <p:nvSpPr>
          <p:cNvPr id="6" name="Shape 4"/>
          <p:cNvSpPr/>
          <p:nvPr/>
        </p:nvSpPr>
        <p:spPr>
          <a:xfrm>
            <a:off x="822325" y="2516814"/>
            <a:ext cx="3333750" cy="2451894"/>
          </a:xfrm>
          <a:prstGeom prst="rect">
            <a:avLst/>
          </a:prstGeom>
          <a:solidFill>
            <a:srgbClr val="FFFFFF"/>
          </a:solidFill>
          <a:ln w="19050">
            <a:solidFill>
              <a:srgbClr val="0B64A8"/>
            </a:solidFill>
            <a:prstDash val="solid"/>
          </a:ln>
        </p:spPr>
      </p:sp>
      <p:sp>
        <p:nvSpPr>
          <p:cNvPr id="7" name="Text 5"/>
          <p:cNvSpPr/>
          <p:nvPr/>
        </p:nvSpPr>
        <p:spPr>
          <a:xfrm>
            <a:off x="830943" y="2525430"/>
            <a:ext cx="3316515" cy="604497"/>
          </a:xfrm>
          <a:prstGeom prst="rect">
            <a:avLst/>
          </a:prstGeom>
          <a:solidFill>
            <a:srgbClr val="0B64A8"/>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8" name="Text 6"/>
          <p:cNvSpPr/>
          <p:nvPr/>
        </p:nvSpPr>
        <p:spPr>
          <a:xfrm>
            <a:off x="10341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Tính cả phổ, cửa sổ Hamming</a:t>
            </a:r>
            <a:endParaRPr lang="en-US" sz="1500" dirty="0">
              <a:latin typeface="Times New Roman" panose="02020603050405020304" pitchFamily="18" charset="0"/>
              <a:cs typeface="Times New Roman" panose="02020603050405020304" pitchFamily="18" charset="0"/>
            </a:endParaRPr>
          </a:p>
        </p:txBody>
      </p:sp>
      <p:sp>
        <p:nvSpPr>
          <p:cNvPr id="9" name="Shape 7"/>
          <p:cNvSpPr/>
          <p:nvPr/>
        </p:nvSpPr>
        <p:spPr>
          <a:xfrm>
            <a:off x="1034143" y="3631577"/>
            <a:ext cx="2910114" cy="0"/>
          </a:xfrm>
          <a:prstGeom prst="line">
            <a:avLst/>
          </a:prstGeom>
          <a:noFill/>
          <a:ln w="6350">
            <a:solidFill>
              <a:srgbClr val="DDE1E7"/>
            </a:solidFill>
            <a:prstDash val="solid"/>
          </a:ln>
        </p:spPr>
      </p:sp>
      <p:sp>
        <p:nvSpPr>
          <p:cNvPr id="10" name="Text 8"/>
          <p:cNvSpPr/>
          <p:nvPr/>
        </p:nvSpPr>
        <p:spPr>
          <a:xfrm>
            <a:off x="1034143" y="3724560"/>
            <a:ext cx="593408"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11" name="Text 9"/>
          <p:cNvSpPr/>
          <p:nvPr/>
        </p:nvSpPr>
        <p:spPr>
          <a:xfrm>
            <a:off x="2979919" y="3695533"/>
            <a:ext cx="964338"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256 mẫu</a:t>
            </a:r>
            <a:endParaRPr lang="en-US" sz="1500" dirty="0">
              <a:latin typeface="Times New Roman" panose="02020603050405020304" pitchFamily="18" charset="0"/>
              <a:cs typeface="Times New Roman" panose="02020603050405020304" pitchFamily="18" charset="0"/>
            </a:endParaRPr>
          </a:p>
        </p:txBody>
      </p:sp>
      <p:sp>
        <p:nvSpPr>
          <p:cNvPr id="12" name="Shape 10"/>
          <p:cNvSpPr/>
          <p:nvPr/>
        </p:nvSpPr>
        <p:spPr>
          <a:xfrm>
            <a:off x="1034143" y="4054308"/>
            <a:ext cx="2910114" cy="0"/>
          </a:xfrm>
          <a:prstGeom prst="line">
            <a:avLst/>
          </a:prstGeom>
          <a:noFill/>
          <a:ln w="6350">
            <a:solidFill>
              <a:srgbClr val="DDE1E7"/>
            </a:solidFill>
            <a:prstDash val="solid"/>
          </a:ln>
        </p:spPr>
      </p:sp>
      <p:sp>
        <p:nvSpPr>
          <p:cNvPr id="13" name="Text 11"/>
          <p:cNvSpPr/>
          <p:nvPr/>
        </p:nvSpPr>
        <p:spPr>
          <a:xfrm>
            <a:off x="1034143" y="4147288"/>
            <a:ext cx="115790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14" name="Text 12"/>
          <p:cNvSpPr/>
          <p:nvPr/>
        </p:nvSpPr>
        <p:spPr>
          <a:xfrm>
            <a:off x="3010399" y="4118260"/>
            <a:ext cx="933858"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31,25 Hz</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1034143" y="4477035"/>
            <a:ext cx="2910114" cy="0"/>
          </a:xfrm>
          <a:prstGeom prst="line">
            <a:avLst/>
          </a:prstGeom>
          <a:noFill/>
          <a:ln w="6350">
            <a:solidFill>
              <a:srgbClr val="DDE1E7"/>
            </a:solidFill>
            <a:prstDash val="solid"/>
          </a:ln>
        </p:spPr>
      </p:sp>
      <p:sp>
        <p:nvSpPr>
          <p:cNvPr id="16" name="Text 14"/>
          <p:cNvSpPr/>
          <p:nvPr/>
        </p:nvSpPr>
        <p:spPr>
          <a:xfrm>
            <a:off x="1034143" y="4570019"/>
            <a:ext cx="116633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17" name="Text 15"/>
          <p:cNvSpPr/>
          <p:nvPr/>
        </p:nvSpPr>
        <p:spPr>
          <a:xfrm>
            <a:off x="3100614" y="4540988"/>
            <a:ext cx="843643"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273 000</a:t>
            </a:r>
            <a:endParaRPr lang="en-US" sz="1500" dirty="0">
              <a:latin typeface="Times New Roman" panose="02020603050405020304" pitchFamily="18" charset="0"/>
              <a:cs typeface="Times New Roman" panose="02020603050405020304" pitchFamily="18" charset="0"/>
            </a:endParaRPr>
          </a:p>
        </p:txBody>
      </p:sp>
      <p:sp>
        <p:nvSpPr>
          <p:cNvPr id="18" name="Shape 16"/>
          <p:cNvSpPr/>
          <p:nvPr/>
        </p:nvSpPr>
        <p:spPr>
          <a:xfrm>
            <a:off x="4429125" y="2516814"/>
            <a:ext cx="3333750" cy="2451894"/>
          </a:xfrm>
          <a:prstGeom prst="rect">
            <a:avLst/>
          </a:prstGeom>
          <a:solidFill>
            <a:srgbClr val="FFFFFF"/>
          </a:solidFill>
          <a:ln w="19050">
            <a:solidFill>
              <a:srgbClr val="B8480F"/>
            </a:solidFill>
            <a:prstDash val="solid"/>
          </a:ln>
        </p:spPr>
      </p:sp>
      <p:sp>
        <p:nvSpPr>
          <p:cNvPr id="19" name="Text 17"/>
          <p:cNvSpPr/>
          <p:nvPr/>
        </p:nvSpPr>
        <p:spPr>
          <a:xfrm>
            <a:off x="4437743" y="2525430"/>
            <a:ext cx="3316515" cy="604497"/>
          </a:xfrm>
          <a:prstGeom prst="rect">
            <a:avLst/>
          </a:prstGeom>
          <a:solidFill>
            <a:srgbClr val="B8480F"/>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20" name="Text 18"/>
          <p:cNvSpPr/>
          <p:nvPr/>
        </p:nvSpPr>
        <p:spPr>
          <a:xfrm>
            <a:off x="46409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Chỉ tính 8 bin cần dùng</a:t>
            </a:r>
            <a:endParaRPr lang="en-US" sz="1500" dirty="0">
              <a:latin typeface="Times New Roman" panose="02020603050405020304" pitchFamily="18" charset="0"/>
              <a:cs typeface="Times New Roman" panose="02020603050405020304" pitchFamily="18" charset="0"/>
            </a:endParaRPr>
          </a:p>
        </p:txBody>
      </p:sp>
      <p:sp>
        <p:nvSpPr>
          <p:cNvPr id="21" name="Shape 19"/>
          <p:cNvSpPr/>
          <p:nvPr/>
        </p:nvSpPr>
        <p:spPr>
          <a:xfrm>
            <a:off x="4640943" y="3631577"/>
            <a:ext cx="2910114" cy="0"/>
          </a:xfrm>
          <a:prstGeom prst="line">
            <a:avLst/>
          </a:prstGeom>
          <a:noFill/>
          <a:ln w="6350">
            <a:solidFill>
              <a:srgbClr val="DDE1E7"/>
            </a:solidFill>
            <a:prstDash val="solid"/>
          </a:ln>
        </p:spPr>
      </p:sp>
      <p:sp>
        <p:nvSpPr>
          <p:cNvPr id="22" name="Text 20"/>
          <p:cNvSpPr/>
          <p:nvPr/>
        </p:nvSpPr>
        <p:spPr>
          <a:xfrm>
            <a:off x="4640943" y="3724560"/>
            <a:ext cx="593408"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23" name="Text 21"/>
          <p:cNvSpPr/>
          <p:nvPr/>
        </p:nvSpPr>
        <p:spPr>
          <a:xfrm>
            <a:off x="6586719" y="3695533"/>
            <a:ext cx="964338"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205 mẫu</a:t>
            </a:r>
            <a:endParaRPr lang="en-US" sz="1500" dirty="0">
              <a:latin typeface="Times New Roman" panose="02020603050405020304" pitchFamily="18" charset="0"/>
              <a:cs typeface="Times New Roman" panose="02020603050405020304" pitchFamily="18" charset="0"/>
            </a:endParaRPr>
          </a:p>
        </p:txBody>
      </p:sp>
      <p:sp>
        <p:nvSpPr>
          <p:cNvPr id="24" name="Shape 22"/>
          <p:cNvSpPr/>
          <p:nvPr/>
        </p:nvSpPr>
        <p:spPr>
          <a:xfrm>
            <a:off x="4640943" y="4054308"/>
            <a:ext cx="2910114" cy="0"/>
          </a:xfrm>
          <a:prstGeom prst="line">
            <a:avLst/>
          </a:prstGeom>
          <a:noFill/>
          <a:ln w="6350">
            <a:solidFill>
              <a:srgbClr val="DDE1E7"/>
            </a:solidFill>
            <a:prstDash val="solid"/>
          </a:ln>
        </p:spPr>
      </p:sp>
      <p:sp>
        <p:nvSpPr>
          <p:cNvPr id="25" name="Text 23"/>
          <p:cNvSpPr/>
          <p:nvPr/>
        </p:nvSpPr>
        <p:spPr>
          <a:xfrm>
            <a:off x="4640943" y="4147288"/>
            <a:ext cx="115790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26" name="Text 24"/>
          <p:cNvSpPr/>
          <p:nvPr/>
        </p:nvSpPr>
        <p:spPr>
          <a:xfrm>
            <a:off x="6617199" y="4118260"/>
            <a:ext cx="933858"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39,02 Hz</a:t>
            </a:r>
            <a:endParaRPr lang="en-US" sz="1500" dirty="0">
              <a:latin typeface="Times New Roman" panose="02020603050405020304" pitchFamily="18" charset="0"/>
              <a:cs typeface="Times New Roman" panose="02020603050405020304" pitchFamily="18" charset="0"/>
            </a:endParaRPr>
          </a:p>
        </p:txBody>
      </p:sp>
      <p:sp>
        <p:nvSpPr>
          <p:cNvPr id="27" name="Shape 25"/>
          <p:cNvSpPr/>
          <p:nvPr/>
        </p:nvSpPr>
        <p:spPr>
          <a:xfrm>
            <a:off x="4640943" y="4477035"/>
            <a:ext cx="2910114" cy="0"/>
          </a:xfrm>
          <a:prstGeom prst="line">
            <a:avLst/>
          </a:prstGeom>
          <a:noFill/>
          <a:ln w="6350">
            <a:solidFill>
              <a:srgbClr val="DDE1E7"/>
            </a:solidFill>
            <a:prstDash val="solid"/>
          </a:ln>
        </p:spPr>
      </p:sp>
      <p:sp>
        <p:nvSpPr>
          <p:cNvPr id="28" name="Text 26"/>
          <p:cNvSpPr/>
          <p:nvPr/>
        </p:nvSpPr>
        <p:spPr>
          <a:xfrm>
            <a:off x="4640943" y="4570019"/>
            <a:ext cx="116633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29" name="Text 27"/>
          <p:cNvSpPr/>
          <p:nvPr/>
        </p:nvSpPr>
        <p:spPr>
          <a:xfrm>
            <a:off x="5859916" y="4540988"/>
            <a:ext cx="1691141"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65 000 · rẻ nhất</a:t>
            </a:r>
            <a:endParaRPr lang="en-US" sz="1500" dirty="0">
              <a:latin typeface="Times New Roman" panose="02020603050405020304" pitchFamily="18" charset="0"/>
              <a:cs typeface="Times New Roman" panose="02020603050405020304" pitchFamily="18" charset="0"/>
            </a:endParaRPr>
          </a:p>
        </p:txBody>
      </p:sp>
      <p:sp>
        <p:nvSpPr>
          <p:cNvPr id="30" name="Shape 28"/>
          <p:cNvSpPr/>
          <p:nvPr/>
        </p:nvSpPr>
        <p:spPr>
          <a:xfrm>
            <a:off x="8035925" y="2516814"/>
            <a:ext cx="3333750" cy="2451894"/>
          </a:xfrm>
          <a:prstGeom prst="rect">
            <a:avLst/>
          </a:prstGeom>
          <a:solidFill>
            <a:srgbClr val="FFFFFF"/>
          </a:solidFill>
          <a:ln w="19050">
            <a:solidFill>
              <a:srgbClr val="0B7F58"/>
            </a:solidFill>
            <a:prstDash val="solid"/>
          </a:ln>
        </p:spPr>
      </p:sp>
      <p:sp>
        <p:nvSpPr>
          <p:cNvPr id="31" name="Text 29"/>
          <p:cNvSpPr/>
          <p:nvPr/>
        </p:nvSpPr>
        <p:spPr>
          <a:xfrm>
            <a:off x="8044543" y="2525430"/>
            <a:ext cx="3316515" cy="604497"/>
          </a:xfrm>
          <a:prstGeom prst="rect">
            <a:avLst/>
          </a:prstGeom>
          <a:solidFill>
            <a:srgbClr val="0B7F58"/>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32" name="Text 30"/>
          <p:cNvSpPr/>
          <p:nvPr/>
        </p:nvSpPr>
        <p:spPr>
          <a:xfrm>
            <a:off x="82477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14 bộ cộng hưởng song song</a:t>
            </a:r>
            <a:endParaRPr lang="en-US" sz="1500" dirty="0">
              <a:latin typeface="Times New Roman" panose="02020603050405020304" pitchFamily="18" charset="0"/>
              <a:cs typeface="Times New Roman" panose="02020603050405020304" pitchFamily="18" charset="0"/>
            </a:endParaRPr>
          </a:p>
        </p:txBody>
      </p:sp>
      <p:sp>
        <p:nvSpPr>
          <p:cNvPr id="33" name="Shape 31"/>
          <p:cNvSpPr/>
          <p:nvPr/>
        </p:nvSpPr>
        <p:spPr>
          <a:xfrm>
            <a:off x="8247743" y="3631577"/>
            <a:ext cx="2910114" cy="0"/>
          </a:xfrm>
          <a:prstGeom prst="line">
            <a:avLst/>
          </a:prstGeom>
          <a:noFill/>
          <a:ln w="6350">
            <a:solidFill>
              <a:srgbClr val="DDE1E7"/>
            </a:solidFill>
            <a:prstDash val="solid"/>
          </a:ln>
        </p:spPr>
      </p:sp>
      <p:sp>
        <p:nvSpPr>
          <p:cNvPr id="34" name="Text 32"/>
          <p:cNvSpPr/>
          <p:nvPr/>
        </p:nvSpPr>
        <p:spPr>
          <a:xfrm>
            <a:off x="8247743" y="3724560"/>
            <a:ext cx="593408"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35" name="Text 33"/>
          <p:cNvSpPr/>
          <p:nvPr/>
        </p:nvSpPr>
        <p:spPr>
          <a:xfrm>
            <a:off x="10193519" y="3695533"/>
            <a:ext cx="964338"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205 mẫu</a:t>
            </a:r>
            <a:endParaRPr lang="en-US" sz="1500" dirty="0">
              <a:latin typeface="Times New Roman" panose="02020603050405020304" pitchFamily="18" charset="0"/>
              <a:cs typeface="Times New Roman" panose="02020603050405020304" pitchFamily="18" charset="0"/>
            </a:endParaRPr>
          </a:p>
        </p:txBody>
      </p:sp>
      <p:sp>
        <p:nvSpPr>
          <p:cNvPr id="36" name="Shape 34"/>
          <p:cNvSpPr/>
          <p:nvPr/>
        </p:nvSpPr>
        <p:spPr>
          <a:xfrm>
            <a:off x="8247743" y="4054308"/>
            <a:ext cx="2910114" cy="0"/>
          </a:xfrm>
          <a:prstGeom prst="line">
            <a:avLst/>
          </a:prstGeom>
          <a:noFill/>
          <a:ln w="6350">
            <a:solidFill>
              <a:srgbClr val="DDE1E7"/>
            </a:solidFill>
            <a:prstDash val="solid"/>
          </a:ln>
        </p:spPr>
      </p:sp>
      <p:sp>
        <p:nvSpPr>
          <p:cNvPr id="37" name="Text 35"/>
          <p:cNvSpPr/>
          <p:nvPr/>
        </p:nvSpPr>
        <p:spPr>
          <a:xfrm>
            <a:off x="8247743" y="4147288"/>
            <a:ext cx="1059044"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Băng thông</a:t>
            </a:r>
            <a:endParaRPr lang="en-US" sz="1300" dirty="0">
              <a:latin typeface="Times New Roman" panose="02020603050405020304" pitchFamily="18" charset="0"/>
              <a:cs typeface="Times New Roman" panose="02020603050405020304" pitchFamily="18" charset="0"/>
            </a:endParaRPr>
          </a:p>
        </p:txBody>
      </p:sp>
      <p:sp>
        <p:nvSpPr>
          <p:cNvPr id="38" name="Text 36"/>
          <p:cNvSpPr/>
          <p:nvPr/>
        </p:nvSpPr>
        <p:spPr>
          <a:xfrm>
            <a:off x="10164604" y="4118260"/>
            <a:ext cx="993253"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 25,5 Hz</a:t>
            </a:r>
            <a:endParaRPr lang="en-US" sz="1500" dirty="0">
              <a:latin typeface="Times New Roman" panose="02020603050405020304" pitchFamily="18" charset="0"/>
              <a:cs typeface="Times New Roman" panose="02020603050405020304" pitchFamily="18" charset="0"/>
            </a:endParaRPr>
          </a:p>
        </p:txBody>
      </p:sp>
      <p:sp>
        <p:nvSpPr>
          <p:cNvPr id="39" name="Shape 37"/>
          <p:cNvSpPr/>
          <p:nvPr/>
        </p:nvSpPr>
        <p:spPr>
          <a:xfrm>
            <a:off x="8247743" y="4477035"/>
            <a:ext cx="2910114" cy="0"/>
          </a:xfrm>
          <a:prstGeom prst="line">
            <a:avLst/>
          </a:prstGeom>
          <a:noFill/>
          <a:ln w="6350">
            <a:solidFill>
              <a:srgbClr val="DDE1E7"/>
            </a:solidFill>
            <a:prstDash val="solid"/>
          </a:ln>
        </p:spPr>
      </p:sp>
      <p:sp>
        <p:nvSpPr>
          <p:cNvPr id="40" name="Text 38"/>
          <p:cNvSpPr/>
          <p:nvPr/>
        </p:nvSpPr>
        <p:spPr>
          <a:xfrm>
            <a:off x="8247743" y="4570019"/>
            <a:ext cx="116633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41" name="Text 39"/>
          <p:cNvSpPr/>
          <p:nvPr/>
        </p:nvSpPr>
        <p:spPr>
          <a:xfrm>
            <a:off x="10314214" y="4540988"/>
            <a:ext cx="843643" cy="292100"/>
          </a:xfrm>
          <a:prstGeom prst="rect">
            <a:avLst/>
          </a:prstGeom>
          <a:noFill/>
          <a:ln/>
        </p:spPr>
        <p:txBody>
          <a:bodyPr wrap="square" lIns="0" tIns="0" rIns="0" bIns="0" rtlCol="0" anchor="t">
            <a:normAutofit/>
          </a:bodyPr>
          <a:lstStyle/>
          <a:p>
            <a:pPr marL="0" indent="0" algn="r">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672 000</a:t>
            </a:r>
            <a:endParaRPr lang="en-US" sz="1500" dirty="0">
              <a:latin typeface="Times New Roman" panose="02020603050405020304" pitchFamily="18" charset="0"/>
              <a:cs typeface="Times New Roman" panose="02020603050405020304" pitchFamily="18" charset="0"/>
            </a:endParaRPr>
          </a:p>
        </p:txBody>
      </p:sp>
      <p:sp>
        <p:nvSpPr>
          <p:cNvPr id="42" name="Text 40"/>
          <p:cNvSpPr/>
          <p:nvPr/>
        </p:nvSpPr>
        <p:spPr>
          <a:xfrm>
            <a:off x="819150" y="5759338"/>
            <a:ext cx="1327774" cy="417966"/>
          </a:xfrm>
          <a:prstGeom prst="rect">
            <a:avLst/>
          </a:prstGeom>
          <a:solidFill>
            <a:srgbClr val="E2EFDA"/>
          </a:solidFill>
          <a:ln w="12700">
            <a:solidFill>
              <a:srgbClr val="2E9E4F"/>
            </a:solidFill>
            <a:prstDash val="solid"/>
          </a:ln>
        </p:spPr>
        <p:txBody>
          <a:bodyPr wrap="square" lIns="55336" tIns="93436" rIns="55336" bIns="680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Chia khung</a:t>
            </a:r>
            <a:endParaRPr lang="en-US" sz="1400" dirty="0">
              <a:latin typeface="Times New Roman" panose="02020603050405020304" pitchFamily="18" charset="0"/>
              <a:cs typeface="Times New Roman" panose="02020603050405020304" pitchFamily="18" charset="0"/>
            </a:endParaRPr>
          </a:p>
        </p:txBody>
      </p:sp>
      <p:pic>
        <p:nvPicPr>
          <p:cNvPr id="43" name="Image 0" descr="arrow-right"/>
          <p:cNvPicPr>
            <a:picLocks noChangeAspect="1"/>
          </p:cNvPicPr>
          <p:nvPr/>
        </p:nvPicPr>
        <p:blipFill>
          <a:blip r:embed="rId3"/>
          <a:srcRect/>
          <a:stretch/>
        </p:blipFill>
        <p:spPr>
          <a:xfrm>
            <a:off x="2229474" y="5885771"/>
            <a:ext cx="279400" cy="165100"/>
          </a:xfrm>
          <a:prstGeom prst="rect">
            <a:avLst/>
          </a:prstGeom>
        </p:spPr>
      </p:pic>
      <p:sp>
        <p:nvSpPr>
          <p:cNvPr id="44" name="Text 41"/>
          <p:cNvSpPr/>
          <p:nvPr/>
        </p:nvSpPr>
        <p:spPr>
          <a:xfrm>
            <a:off x="2594599" y="5755255"/>
            <a:ext cx="1685868" cy="426130"/>
          </a:xfrm>
          <a:prstGeom prst="rect">
            <a:avLst/>
          </a:prstGeom>
          <a:solidFill>
            <a:srgbClr val="FCE4D6"/>
          </a:solidFill>
          <a:ln w="19050">
            <a:solidFill>
              <a:srgbClr val="C55A11"/>
            </a:solidFill>
            <a:prstDash val="solid"/>
          </a:ln>
        </p:spPr>
        <p:txBody>
          <a:bodyPr wrap="square" lIns="59418" tIns="97518" rIns="59418" bIns="72118" rtlCol="0" anchor="t">
            <a:normAutofit/>
          </a:bodyPr>
          <a:lstStyle/>
          <a:p>
            <a:pPr marL="0" indent="0" algn="ctr">
              <a:lnSpc>
                <a:spcPts val="1820"/>
              </a:lnSpc>
              <a:buNone/>
            </a:pPr>
            <a:r>
              <a:rPr lang="en-US" sz="1400" b="1" dirty="0">
                <a:solidFill>
                  <a:srgbClr val="9C3F0A"/>
                </a:solidFill>
                <a:latin typeface="Times New Roman" panose="02020603050405020304" pitchFamily="18" charset="0"/>
                <a:ea typeface="Open Sans" pitchFamily="34" charset="-122"/>
                <a:cs typeface="Times New Roman" panose="02020603050405020304" pitchFamily="18" charset="0"/>
              </a:rPr>
              <a:t>Đo công suất</a:t>
            </a:r>
            <a:endParaRPr lang="en-US" sz="1400" dirty="0">
              <a:latin typeface="Times New Roman" panose="02020603050405020304" pitchFamily="18" charset="0"/>
              <a:cs typeface="Times New Roman" panose="02020603050405020304" pitchFamily="18" charset="0"/>
            </a:endParaRPr>
          </a:p>
        </p:txBody>
      </p:sp>
      <p:pic>
        <p:nvPicPr>
          <p:cNvPr id="45" name="Image 1" descr="arrow-right"/>
          <p:cNvPicPr>
            <a:picLocks noChangeAspect="1"/>
          </p:cNvPicPr>
          <p:nvPr/>
        </p:nvPicPr>
        <p:blipFill>
          <a:blip r:embed="rId3"/>
          <a:srcRect/>
          <a:stretch/>
        </p:blipFill>
        <p:spPr>
          <a:xfrm>
            <a:off x="4366192" y="5885771"/>
            <a:ext cx="279400" cy="165100"/>
          </a:xfrm>
          <a:prstGeom prst="rect">
            <a:avLst/>
          </a:prstGeom>
        </p:spPr>
      </p:pic>
      <p:sp>
        <p:nvSpPr>
          <p:cNvPr id="46" name="Text 42"/>
          <p:cNvSpPr/>
          <p:nvPr/>
        </p:nvSpPr>
        <p:spPr>
          <a:xfrm>
            <a:off x="4728142" y="5759338"/>
            <a:ext cx="1327830" cy="417966"/>
          </a:xfrm>
          <a:prstGeom prst="rect">
            <a:avLst/>
          </a:prstGeom>
          <a:solidFill>
            <a:srgbClr val="E2EFDA"/>
          </a:solidFill>
          <a:ln w="12700">
            <a:solidFill>
              <a:srgbClr val="2E9E4F"/>
            </a:solidFill>
            <a:prstDash val="solid"/>
          </a:ln>
        </p:spPr>
        <p:txBody>
          <a:bodyPr wrap="square" lIns="55336" tIns="93436" rIns="55336" bIns="680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Chuẩn hoá</a:t>
            </a:r>
            <a:endParaRPr lang="en-US" sz="1400" dirty="0">
              <a:latin typeface="Times New Roman" panose="02020603050405020304" pitchFamily="18" charset="0"/>
              <a:cs typeface="Times New Roman" panose="02020603050405020304" pitchFamily="18" charset="0"/>
            </a:endParaRPr>
          </a:p>
        </p:txBody>
      </p:sp>
      <p:pic>
        <p:nvPicPr>
          <p:cNvPr id="47" name="Image 2" descr="arrow-right"/>
          <p:cNvPicPr>
            <a:picLocks noChangeAspect="1"/>
          </p:cNvPicPr>
          <p:nvPr/>
        </p:nvPicPr>
        <p:blipFill>
          <a:blip r:embed="rId3"/>
          <a:srcRect/>
          <a:stretch/>
        </p:blipFill>
        <p:spPr>
          <a:xfrm>
            <a:off x="6138523" y="5885771"/>
            <a:ext cx="279400" cy="165100"/>
          </a:xfrm>
          <a:prstGeom prst="rect">
            <a:avLst/>
          </a:prstGeom>
        </p:spPr>
      </p:pic>
      <p:sp>
        <p:nvSpPr>
          <p:cNvPr id="48" name="Text 43"/>
          <p:cNvSpPr/>
          <p:nvPr/>
        </p:nvSpPr>
        <p:spPr>
          <a:xfrm>
            <a:off x="6500473" y="5643792"/>
            <a:ext cx="1327774" cy="649061"/>
          </a:xfrm>
          <a:prstGeom prst="rect">
            <a:avLst/>
          </a:prstGeom>
          <a:solidFill>
            <a:srgbClr val="E2EFDA"/>
          </a:solidFill>
          <a:ln w="12700">
            <a:solidFill>
              <a:srgbClr val="2E9E4F"/>
            </a:solidFill>
            <a:prstDash val="solid"/>
          </a:ln>
        </p:spPr>
        <p:txBody>
          <a:bodyPr wrap="square" lIns="55336" tIns="93436" rIns="55336" bIns="680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Luật quyết định</a:t>
            </a:r>
            <a:endParaRPr lang="en-US" sz="1400" dirty="0">
              <a:latin typeface="Times New Roman" panose="02020603050405020304" pitchFamily="18" charset="0"/>
              <a:cs typeface="Times New Roman" panose="02020603050405020304" pitchFamily="18" charset="0"/>
            </a:endParaRPr>
          </a:p>
        </p:txBody>
      </p:sp>
      <p:pic>
        <p:nvPicPr>
          <p:cNvPr id="49" name="Image 3" descr="arrow-right"/>
          <p:cNvPicPr>
            <a:picLocks noChangeAspect="1"/>
          </p:cNvPicPr>
          <p:nvPr/>
        </p:nvPicPr>
        <p:blipFill>
          <a:blip r:embed="rId3"/>
          <a:srcRect/>
          <a:stretch/>
        </p:blipFill>
        <p:spPr>
          <a:xfrm>
            <a:off x="7910796" y="5885771"/>
            <a:ext cx="279400" cy="165100"/>
          </a:xfrm>
          <a:prstGeom prst="rect">
            <a:avLst/>
          </a:prstGeom>
        </p:spPr>
      </p:pic>
      <p:sp>
        <p:nvSpPr>
          <p:cNvPr id="50" name="Text 44"/>
          <p:cNvSpPr/>
          <p:nvPr/>
        </p:nvSpPr>
        <p:spPr>
          <a:xfrm>
            <a:off x="8272746" y="5759338"/>
            <a:ext cx="1327830" cy="417966"/>
          </a:xfrm>
          <a:prstGeom prst="rect">
            <a:avLst/>
          </a:prstGeom>
          <a:solidFill>
            <a:srgbClr val="E2EFDA"/>
          </a:solidFill>
          <a:ln w="12700">
            <a:solidFill>
              <a:srgbClr val="2E9E4F"/>
            </a:solidFill>
            <a:prstDash val="solid"/>
          </a:ln>
        </p:spPr>
        <p:txBody>
          <a:bodyPr wrap="square" lIns="55336" tIns="93436" rIns="55336" bIns="680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Gộp khung</a:t>
            </a:r>
            <a:endParaRPr lang="en-US" sz="1400" dirty="0">
              <a:latin typeface="Times New Roman" panose="02020603050405020304" pitchFamily="18" charset="0"/>
              <a:cs typeface="Times New Roman" panose="02020603050405020304" pitchFamily="18" charset="0"/>
            </a:endParaRPr>
          </a:p>
        </p:txBody>
      </p:sp>
      <p:pic>
        <p:nvPicPr>
          <p:cNvPr id="51" name="Image 4" descr="arrow-right"/>
          <p:cNvPicPr>
            <a:picLocks noChangeAspect="1"/>
          </p:cNvPicPr>
          <p:nvPr/>
        </p:nvPicPr>
        <p:blipFill>
          <a:blip r:embed="rId3"/>
          <a:srcRect/>
          <a:stretch/>
        </p:blipFill>
        <p:spPr>
          <a:xfrm>
            <a:off x="9683127" y="5885771"/>
            <a:ext cx="279400" cy="165100"/>
          </a:xfrm>
          <a:prstGeom prst="rect">
            <a:avLst/>
          </a:prstGeom>
        </p:spPr>
      </p:pic>
      <p:sp>
        <p:nvSpPr>
          <p:cNvPr id="52" name="Text 45"/>
          <p:cNvSpPr/>
          <p:nvPr/>
        </p:nvSpPr>
        <p:spPr>
          <a:xfrm>
            <a:off x="10045077" y="5759338"/>
            <a:ext cx="1327774" cy="417966"/>
          </a:xfrm>
          <a:prstGeom prst="rect">
            <a:avLst/>
          </a:prstGeom>
          <a:solidFill>
            <a:srgbClr val="E2EFDA"/>
          </a:solidFill>
          <a:ln w="12700">
            <a:solidFill>
              <a:srgbClr val="2E9E4F"/>
            </a:solidFill>
            <a:prstDash val="solid"/>
          </a:ln>
        </p:spPr>
        <p:txBody>
          <a:bodyPr wrap="square" lIns="55336" tIns="93436" rIns="55336" bIns="680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Chuỗi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7</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Một phím qua ba phương pháp</a:t>
            </a:r>
            <a:endParaRPr lang="en-US" sz="4400" dirty="0">
              <a:latin typeface="Times New Roman" panose="02020603050405020304" pitchFamily="18" charset="0"/>
              <a:cs typeface="Times New Roman" panose="02020603050405020304" pitchFamily="18" charset="0"/>
            </a:endParaRPr>
          </a:p>
        </p:txBody>
      </p:sp>
      <p:sp>
        <p:nvSpPr>
          <p:cNvPr id="5" name="Shape 3"/>
          <p:cNvSpPr/>
          <p:nvPr/>
        </p:nvSpPr>
        <p:spPr>
          <a:xfrm>
            <a:off x="812800" y="1473200"/>
            <a:ext cx="7874000" cy="4699000"/>
          </a:xfrm>
          <a:prstGeom prst="rect">
            <a:avLst/>
          </a:prstGeom>
          <a:solidFill>
            <a:srgbClr val="FFFFFF"/>
          </a:solidFill>
          <a:ln/>
        </p:spPr>
      </p:sp>
      <p:pic>
        <p:nvPicPr>
          <p:cNvPr id="6" name="Image 0" descr="(a) Phổ đồ STFT chuỗi 0912345 ở SNR 20 dB; (b) phím 5 trên bàn phím; (c) phổ FFT, (d) 8 giá trị Goertzel, (e) đáp ứng ngân hàng bộ lọc cho phím 5"/>
          <p:cNvPicPr>
            <a:picLocks noChangeAspect="1"/>
          </p:cNvPicPr>
          <p:nvPr/>
        </p:nvPicPr>
        <p:blipFill>
          <a:blip r:embed="rId3"/>
          <a:srcRect l="-62" r="-62"/>
          <a:stretch/>
        </p:blipFill>
        <p:spPr>
          <a:xfrm>
            <a:off x="825500" y="1485900"/>
            <a:ext cx="7848600" cy="4673600"/>
          </a:xfrm>
          <a:prstGeom prst="rect">
            <a:avLst/>
          </a:prstGeom>
        </p:spPr>
      </p:pic>
      <p:sp>
        <p:nvSpPr>
          <p:cNvPr id="7" name="Shape 4"/>
          <p:cNvSpPr/>
          <p:nvPr/>
        </p:nvSpPr>
        <p:spPr>
          <a:xfrm>
            <a:off x="819150" y="1479550"/>
            <a:ext cx="7861300" cy="4686300"/>
          </a:xfrm>
          <a:prstGeom prst="rect">
            <a:avLst/>
          </a:prstGeom>
          <a:noFill/>
          <a:ln w="12700">
            <a:solidFill>
              <a:srgbClr val="DDE1E7"/>
            </a:solidFill>
            <a:prstDash val="solid"/>
          </a:ln>
        </p:spPr>
      </p:sp>
      <p:sp>
        <p:nvSpPr>
          <p:cNvPr id="8" name="Shape 5"/>
          <p:cNvSpPr/>
          <p:nvPr/>
        </p:nvSpPr>
        <p:spPr>
          <a:xfrm>
            <a:off x="9010651" y="2390208"/>
            <a:ext cx="0" cy="544796"/>
          </a:xfrm>
          <a:prstGeom prst="line">
            <a:avLst/>
          </a:prstGeom>
          <a:noFill/>
          <a:ln w="38100">
            <a:solidFill>
              <a:srgbClr val="1F3A5F"/>
            </a:solidFill>
            <a:prstDash val="solid"/>
          </a:ln>
        </p:spPr>
      </p:sp>
      <p:sp>
        <p:nvSpPr>
          <p:cNvPr id="9" name="Text 6"/>
          <p:cNvSpPr/>
          <p:nvPr/>
        </p:nvSpPr>
        <p:spPr>
          <a:xfrm>
            <a:off x="9154886" y="2390208"/>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A5F"/>
                </a:solidFill>
                <a:latin typeface="Times New Roman" panose="02020603050405020304" pitchFamily="18" charset="0"/>
                <a:ea typeface="Open Sans" pitchFamily="34" charset="-122"/>
                <a:cs typeface="Times New Roman" panose="02020603050405020304" pitchFamily="18" charset="0"/>
              </a:rPr>
              <a:t>(a) Phổ đồ</a:t>
            </a:r>
            <a:endParaRPr lang="en-US" sz="1500" dirty="0">
              <a:latin typeface="Times New Roman" panose="02020603050405020304" pitchFamily="18" charset="0"/>
              <a:cs typeface="Times New Roman" panose="02020603050405020304" pitchFamily="18" charset="0"/>
            </a:endParaRPr>
          </a:p>
        </p:txBody>
      </p:sp>
      <p:sp>
        <p:nvSpPr>
          <p:cNvPr id="10" name="Text 7"/>
          <p:cNvSpPr/>
          <p:nvPr/>
        </p:nvSpPr>
        <p:spPr>
          <a:xfrm>
            <a:off x="9154886" y="2695008"/>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phím = 2 vạch ngang</a:t>
            </a:r>
            <a:endParaRPr lang="en-US" sz="1400" dirty="0">
              <a:latin typeface="Times New Roman" panose="02020603050405020304" pitchFamily="18" charset="0"/>
              <a:cs typeface="Times New Roman" panose="02020603050405020304" pitchFamily="18" charset="0"/>
            </a:endParaRPr>
          </a:p>
        </p:txBody>
      </p:sp>
      <p:sp>
        <p:nvSpPr>
          <p:cNvPr id="11" name="Shape 8"/>
          <p:cNvSpPr/>
          <p:nvPr/>
        </p:nvSpPr>
        <p:spPr>
          <a:xfrm>
            <a:off x="9010651" y="3163602"/>
            <a:ext cx="0" cy="544796"/>
          </a:xfrm>
          <a:prstGeom prst="line">
            <a:avLst/>
          </a:prstGeom>
          <a:noFill/>
          <a:ln w="38100">
            <a:solidFill>
              <a:srgbClr val="0B64A8"/>
            </a:solidFill>
            <a:prstDash val="solid"/>
          </a:ln>
        </p:spPr>
      </p:sp>
      <p:sp>
        <p:nvSpPr>
          <p:cNvPr id="12" name="Text 9"/>
          <p:cNvSpPr/>
          <p:nvPr/>
        </p:nvSpPr>
        <p:spPr>
          <a:xfrm>
            <a:off x="9154886" y="3163602"/>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(c) FFT</a:t>
            </a:r>
            <a:endParaRPr lang="en-US" sz="1500" dirty="0">
              <a:latin typeface="Times New Roman" panose="02020603050405020304" pitchFamily="18" charset="0"/>
              <a:cs typeface="Times New Roman" panose="02020603050405020304" pitchFamily="18" charset="0"/>
            </a:endParaRPr>
          </a:p>
        </p:txBody>
      </p:sp>
      <p:sp>
        <p:nvSpPr>
          <p:cNvPr id="13" name="Text 10"/>
          <p:cNvSpPr/>
          <p:nvPr/>
        </p:nvSpPr>
        <p:spPr>
          <a:xfrm>
            <a:off x="9154886" y="3468402"/>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Tính 256 bin, đọc 7 điểm</a:t>
            </a:r>
            <a:endParaRPr lang="en-US" sz="1400" dirty="0">
              <a:latin typeface="Times New Roman" panose="02020603050405020304" pitchFamily="18" charset="0"/>
              <a:cs typeface="Times New Roman" panose="02020603050405020304" pitchFamily="18" charset="0"/>
            </a:endParaRPr>
          </a:p>
        </p:txBody>
      </p:sp>
      <p:sp>
        <p:nvSpPr>
          <p:cNvPr id="14" name="Shape 11"/>
          <p:cNvSpPr/>
          <p:nvPr/>
        </p:nvSpPr>
        <p:spPr>
          <a:xfrm>
            <a:off x="9010651" y="3937000"/>
            <a:ext cx="0" cy="544796"/>
          </a:xfrm>
          <a:prstGeom prst="line">
            <a:avLst/>
          </a:prstGeom>
          <a:noFill/>
          <a:ln w="38100">
            <a:solidFill>
              <a:srgbClr val="B8480F"/>
            </a:solidFill>
            <a:prstDash val="solid"/>
          </a:ln>
        </p:spPr>
      </p:sp>
      <p:sp>
        <p:nvSpPr>
          <p:cNvPr id="15" name="Text 12"/>
          <p:cNvSpPr/>
          <p:nvPr/>
        </p:nvSpPr>
        <p:spPr>
          <a:xfrm>
            <a:off x="9154886" y="3937000"/>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(d) Goertzel</a:t>
            </a:r>
            <a:endParaRPr lang="en-US" sz="1500" dirty="0">
              <a:latin typeface="Times New Roman" panose="02020603050405020304" pitchFamily="18" charset="0"/>
              <a:cs typeface="Times New Roman" panose="02020603050405020304" pitchFamily="18" charset="0"/>
            </a:endParaRPr>
          </a:p>
        </p:txBody>
      </p:sp>
      <p:sp>
        <p:nvSpPr>
          <p:cNvPr id="16" name="Text 13"/>
          <p:cNvSpPr/>
          <p:nvPr/>
        </p:nvSpPr>
        <p:spPr>
          <a:xfrm>
            <a:off x="9154886" y="4241800"/>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Chỉ tính 8 điểm</a:t>
            </a:r>
            <a:endParaRPr lang="en-US" sz="1400" dirty="0">
              <a:latin typeface="Times New Roman" panose="02020603050405020304" pitchFamily="18" charset="0"/>
              <a:cs typeface="Times New Roman" panose="02020603050405020304" pitchFamily="18" charset="0"/>
            </a:endParaRPr>
          </a:p>
        </p:txBody>
      </p:sp>
      <p:sp>
        <p:nvSpPr>
          <p:cNvPr id="17" name="Shape 14"/>
          <p:cNvSpPr/>
          <p:nvPr/>
        </p:nvSpPr>
        <p:spPr>
          <a:xfrm>
            <a:off x="9010651" y="4710395"/>
            <a:ext cx="0" cy="544796"/>
          </a:xfrm>
          <a:prstGeom prst="line">
            <a:avLst/>
          </a:prstGeom>
          <a:noFill/>
          <a:ln w="38100">
            <a:solidFill>
              <a:srgbClr val="0B7F58"/>
            </a:solidFill>
            <a:prstDash val="solid"/>
          </a:ln>
        </p:spPr>
      </p:sp>
      <p:sp>
        <p:nvSpPr>
          <p:cNvPr id="18" name="Text 15"/>
          <p:cNvSpPr/>
          <p:nvPr/>
        </p:nvSpPr>
        <p:spPr>
          <a:xfrm>
            <a:off x="9154886" y="4710395"/>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(e) Ngân hàng lọc</a:t>
            </a:r>
            <a:endParaRPr lang="en-US" sz="1500" dirty="0">
              <a:latin typeface="Times New Roman" panose="02020603050405020304" pitchFamily="18" charset="0"/>
              <a:cs typeface="Times New Roman" panose="02020603050405020304" pitchFamily="18" charset="0"/>
            </a:endParaRPr>
          </a:p>
        </p:txBody>
      </p:sp>
      <p:sp>
        <p:nvSpPr>
          <p:cNvPr id="19" name="Text 16"/>
          <p:cNvSpPr/>
          <p:nvPr/>
        </p:nvSpPr>
        <p:spPr>
          <a:xfrm>
            <a:off x="9154886" y="5015195"/>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bộ lọc bắt 1 tần số</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8</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Thuật toán Goertzel</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Cần đo 8 tần số thì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tính đúng 8 tần số</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không tính cả phổ</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155369"/>
            <a:ext cx="1651000" cy="774700"/>
          </a:xfrm>
          <a:prstGeom prst="rect">
            <a:avLst/>
          </a:prstGeom>
          <a:solidFill>
            <a:srgbClr val="F3F6FA"/>
          </a:solidFill>
          <a:ln/>
        </p:spPr>
        <p:txBody>
          <a:bodyPr wrap="square" lIns="50800" tIns="139700" rIns="50800" bIns="114300" rtlCol="0" anchor="t">
            <a:normAutofit/>
          </a:bodyPr>
          <a:lstStyle/>
          <a:p>
            <a:pPr marL="0" indent="0" algn="ctr">
              <a:lnSpc>
                <a:spcPts val="1950"/>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Một khung</a:t>
            </a:r>
            <a:endParaRPr lang="en-US" sz="1500" dirty="0">
              <a:latin typeface="Times New Roman" panose="02020603050405020304" pitchFamily="18" charset="0"/>
              <a:cs typeface="Times New Roman" panose="02020603050405020304" pitchFamily="18" charset="0"/>
            </a:endParaRPr>
          </a:p>
          <a:p>
            <a:pPr marL="0" indent="0" algn="ctr">
              <a:lnSpc>
                <a:spcPts val="1950"/>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205 mẫu</a:t>
            </a:r>
            <a:endParaRPr lang="en-US" sz="1500" dirty="0">
              <a:latin typeface="Times New Roman" panose="02020603050405020304" pitchFamily="18" charset="0"/>
              <a:cs typeface="Times New Roman" panose="02020603050405020304" pitchFamily="18" charset="0"/>
            </a:endParaRPr>
          </a:p>
        </p:txBody>
      </p:sp>
      <p:pic>
        <p:nvPicPr>
          <p:cNvPr id="7" name="Image 0" descr="arrow-right"/>
          <p:cNvPicPr>
            <a:picLocks noChangeAspect="1"/>
          </p:cNvPicPr>
          <p:nvPr/>
        </p:nvPicPr>
        <p:blipFill>
          <a:blip r:embed="rId3"/>
          <a:srcRect/>
          <a:stretch/>
        </p:blipFill>
        <p:spPr>
          <a:xfrm>
            <a:off x="2565400" y="2434769"/>
            <a:ext cx="406400" cy="215900"/>
          </a:xfrm>
          <a:prstGeom prst="rect">
            <a:avLst/>
          </a:prstGeom>
        </p:spPr>
      </p:pic>
      <p:sp>
        <p:nvSpPr>
          <p:cNvPr id="8" name="Shape 5"/>
          <p:cNvSpPr/>
          <p:nvPr/>
        </p:nvSpPr>
        <p:spPr>
          <a:xfrm>
            <a:off x="3082925" y="2136946"/>
            <a:ext cx="5645150" cy="811609"/>
          </a:xfrm>
          <a:prstGeom prst="rect">
            <a:avLst/>
          </a:prstGeom>
          <a:solidFill>
            <a:srgbClr val="FBE5D6"/>
          </a:solidFill>
          <a:ln w="19050">
            <a:solidFill>
              <a:srgbClr val="B8480F"/>
            </a:solidFill>
            <a:prstDash val="solid"/>
          </a:ln>
        </p:spPr>
      </p:sp>
      <p:sp>
        <p:nvSpPr>
          <p:cNvPr id="9" name="Text 6"/>
          <p:cNvSpPr/>
          <p:nvPr/>
        </p:nvSpPr>
        <p:spPr>
          <a:xfrm>
            <a:off x="3164096" y="2272562"/>
            <a:ext cx="5482808" cy="292100"/>
          </a:xfrm>
          <a:prstGeom prst="rect">
            <a:avLst/>
          </a:prstGeom>
          <a:noFill/>
          <a:ln/>
        </p:spPr>
        <p:txBody>
          <a:bodyPr wrap="square" lIns="0" tIns="0" rIns="0" bIns="0" rtlCol="0" anchor="t">
            <a:normAutofit/>
          </a:bodyPr>
          <a:lstStyle/>
          <a:p>
            <a:pPr marL="0" indent="0" algn="ctr">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8 bộ đếm nhỏ chạy song song</a:t>
            </a:r>
            <a:endParaRPr lang="en-US" sz="1500" dirty="0">
              <a:latin typeface="Times New Roman" panose="02020603050405020304" pitchFamily="18" charset="0"/>
              <a:cs typeface="Times New Roman" panose="02020603050405020304" pitchFamily="18" charset="0"/>
            </a:endParaRPr>
          </a:p>
        </p:txBody>
      </p:sp>
      <p:sp>
        <p:nvSpPr>
          <p:cNvPr id="10" name="Text 7"/>
          <p:cNvSpPr/>
          <p:nvPr/>
        </p:nvSpPr>
        <p:spPr>
          <a:xfrm>
            <a:off x="3164096" y="2590062"/>
            <a:ext cx="5482808" cy="248274"/>
          </a:xfrm>
          <a:prstGeom prst="rect">
            <a:avLst/>
          </a:prstGeom>
          <a:noFill/>
          <a:ln/>
        </p:spPr>
        <p:txBody>
          <a:bodyPr wrap="square" lIns="0" tIns="0" rIns="0" bIns="0" rtlCol="0" anchor="t">
            <a:normAutofit/>
          </a:bodyPr>
          <a:lstStyle/>
          <a:p>
            <a:pPr marL="0" indent="0" algn="ctr">
              <a:lnSpc>
                <a:spcPts val="1755"/>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Mỗi mẫu đi qua: 1 phép nhân cho mỗi bộ</a:t>
            </a:r>
            <a:endParaRPr lang="en-US" sz="1300" dirty="0">
              <a:latin typeface="Times New Roman" panose="02020603050405020304" pitchFamily="18" charset="0"/>
              <a:cs typeface="Times New Roman" panose="02020603050405020304" pitchFamily="18" charset="0"/>
            </a:endParaRPr>
          </a:p>
        </p:txBody>
      </p:sp>
      <p:pic>
        <p:nvPicPr>
          <p:cNvPr id="11" name="Image 1" descr="arrow-right"/>
          <p:cNvPicPr>
            <a:picLocks noChangeAspect="1"/>
          </p:cNvPicPr>
          <p:nvPr/>
        </p:nvPicPr>
        <p:blipFill>
          <a:blip r:embed="rId3"/>
          <a:srcRect/>
          <a:stretch/>
        </p:blipFill>
        <p:spPr>
          <a:xfrm>
            <a:off x="8839201" y="2434769"/>
            <a:ext cx="406400" cy="215900"/>
          </a:xfrm>
          <a:prstGeom prst="rect">
            <a:avLst/>
          </a:prstGeom>
        </p:spPr>
      </p:pic>
      <p:sp>
        <p:nvSpPr>
          <p:cNvPr id="12" name="Text 8"/>
          <p:cNvSpPr/>
          <p:nvPr/>
        </p:nvSpPr>
        <p:spPr>
          <a:xfrm>
            <a:off x="9347201" y="2155369"/>
            <a:ext cx="2032000" cy="774700"/>
          </a:xfrm>
          <a:prstGeom prst="rect">
            <a:avLst/>
          </a:prstGeom>
          <a:solidFill>
            <a:srgbClr val="178A48"/>
          </a:solidFill>
          <a:ln/>
        </p:spPr>
        <p:txBody>
          <a:bodyPr wrap="square" lIns="48006" tIns="139700" rIns="48006" bIns="114300" rtlCol="0" anchor="t">
            <a:normAutofit/>
          </a:bodyPr>
          <a:lstStyle/>
          <a:p>
            <a:pPr marL="0" indent="0" algn="ctr">
              <a:lnSpc>
                <a:spcPts val="195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Độ mạnh của</a:t>
            </a:r>
            <a:endParaRPr lang="en-US" sz="1500" dirty="0">
              <a:latin typeface="Times New Roman" panose="02020603050405020304" pitchFamily="18" charset="0"/>
              <a:cs typeface="Times New Roman" panose="02020603050405020304" pitchFamily="18" charset="0"/>
            </a:endParaRPr>
          </a:p>
          <a:p>
            <a:pPr marL="0" indent="0" algn="ctr">
              <a:lnSpc>
                <a:spcPts val="195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8 tần số</a:t>
            </a:r>
            <a:endParaRPr lang="en-US" sz="1500" dirty="0">
              <a:latin typeface="Times New Roman" panose="02020603050405020304" pitchFamily="18" charset="0"/>
              <a:cs typeface="Times New Roman" panose="02020603050405020304" pitchFamily="18" charset="0"/>
            </a:endParaRPr>
          </a:p>
        </p:txBody>
      </p:sp>
      <p:sp>
        <p:nvSpPr>
          <p:cNvPr id="13" name="Shape 9"/>
          <p:cNvSpPr/>
          <p:nvPr/>
        </p:nvSpPr>
        <p:spPr>
          <a:xfrm>
            <a:off x="812800" y="4078799"/>
            <a:ext cx="2527300" cy="1379084"/>
          </a:xfrm>
          <a:prstGeom prst="rect">
            <a:avLst/>
          </a:prstGeom>
          <a:solidFill>
            <a:srgbClr val="FBE5D6"/>
          </a:solidFill>
          <a:ln/>
        </p:spPr>
      </p:sp>
      <p:sp>
        <p:nvSpPr>
          <p:cNvPr id="14" name="Text 10"/>
          <p:cNvSpPr/>
          <p:nvPr/>
        </p:nvSpPr>
        <p:spPr>
          <a:xfrm>
            <a:off x="1356360" y="4231199"/>
            <a:ext cx="1440180" cy="612095"/>
          </a:xfrm>
          <a:prstGeom prst="rect">
            <a:avLst/>
          </a:prstGeom>
          <a:noFill/>
          <a:ln/>
        </p:spPr>
        <p:txBody>
          <a:bodyPr wrap="square" lIns="0" tIns="0" rIns="0" bIns="0" rtlCol="0" anchor="t">
            <a:normAutofit/>
          </a:bodyPr>
          <a:lstStyle/>
          <a:p>
            <a:pPr marL="0" indent="0" algn="ctr">
              <a:lnSpc>
                <a:spcPts val="4620"/>
              </a:lnSpc>
              <a:buNone/>
            </a:pPr>
            <a:r>
              <a:rPr lang="en-US" sz="4200" b="1" dirty="0">
                <a:solidFill>
                  <a:srgbClr val="B8480F"/>
                </a:solidFill>
                <a:latin typeface="Times New Roman" panose="02020603050405020304" pitchFamily="18" charset="0"/>
                <a:ea typeface="Tinos" pitchFamily="18" charset="-122"/>
                <a:cs typeface="Times New Roman" panose="02020603050405020304" pitchFamily="18" charset="0"/>
              </a:rPr>
              <a:t>1 672</a:t>
            </a:r>
            <a:endParaRPr lang="en-US" sz="4200" dirty="0">
              <a:latin typeface="Times New Roman" panose="02020603050405020304" pitchFamily="18" charset="0"/>
              <a:cs typeface="Times New Roman" panose="02020603050405020304" pitchFamily="18" charset="0"/>
            </a:endParaRPr>
          </a:p>
        </p:txBody>
      </p:sp>
      <p:sp>
        <p:nvSpPr>
          <p:cNvPr id="15" name="Text 11"/>
          <p:cNvSpPr/>
          <p:nvPr/>
        </p:nvSpPr>
        <p:spPr>
          <a:xfrm>
            <a:off x="1203937" y="4843292"/>
            <a:ext cx="1744970" cy="487589"/>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 mỗi khung</a:t>
            </a:r>
            <a:endParaRPr lang="en-US" sz="1300" dirty="0">
              <a:latin typeface="Times New Roman" panose="02020603050405020304" pitchFamily="18" charset="0"/>
              <a:cs typeface="Times New Roman" panose="02020603050405020304" pitchFamily="18" charset="0"/>
            </a:endParaRPr>
          </a:p>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Goertzel</a:t>
            </a:r>
            <a:endParaRPr lang="en-US" sz="1300" dirty="0">
              <a:latin typeface="Times New Roman" panose="02020603050405020304" pitchFamily="18" charset="0"/>
              <a:cs typeface="Times New Roman" panose="02020603050405020304" pitchFamily="18" charset="0"/>
            </a:endParaRPr>
          </a:p>
        </p:txBody>
      </p:sp>
      <p:sp>
        <p:nvSpPr>
          <p:cNvPr id="16" name="Shape 12"/>
          <p:cNvSpPr/>
          <p:nvPr/>
        </p:nvSpPr>
        <p:spPr>
          <a:xfrm>
            <a:off x="3492500" y="4078799"/>
            <a:ext cx="2527300" cy="1379084"/>
          </a:xfrm>
          <a:prstGeom prst="rect">
            <a:avLst/>
          </a:prstGeom>
          <a:solidFill>
            <a:srgbClr val="DEEBF7"/>
          </a:solidFill>
          <a:ln/>
        </p:spPr>
      </p:sp>
      <p:sp>
        <p:nvSpPr>
          <p:cNvPr id="17" name="Text 13"/>
          <p:cNvSpPr/>
          <p:nvPr/>
        </p:nvSpPr>
        <p:spPr>
          <a:xfrm>
            <a:off x="4036060" y="4231199"/>
            <a:ext cx="1440180" cy="612095"/>
          </a:xfrm>
          <a:prstGeom prst="rect">
            <a:avLst/>
          </a:prstGeom>
          <a:noFill/>
          <a:ln/>
        </p:spPr>
        <p:txBody>
          <a:bodyPr wrap="square" lIns="0" tIns="0" rIns="0" bIns="0" rtlCol="0" anchor="t">
            <a:normAutofit/>
          </a:bodyPr>
          <a:lstStyle/>
          <a:p>
            <a:pPr marL="0" indent="0" algn="ctr">
              <a:lnSpc>
                <a:spcPts val="4620"/>
              </a:lnSpc>
              <a:buNone/>
            </a:pPr>
            <a:r>
              <a:rPr lang="en-US" sz="4200" b="1" dirty="0">
                <a:solidFill>
                  <a:srgbClr val="0B64A8"/>
                </a:solidFill>
                <a:latin typeface="Times New Roman" panose="02020603050405020304" pitchFamily="18" charset="0"/>
                <a:ea typeface="Tinos" pitchFamily="18" charset="-122"/>
                <a:cs typeface="Times New Roman" panose="02020603050405020304" pitchFamily="18" charset="0"/>
              </a:rPr>
              <a:t>4 368</a:t>
            </a:r>
            <a:endParaRPr lang="en-US" sz="4200" dirty="0">
              <a:latin typeface="Times New Roman" panose="02020603050405020304" pitchFamily="18" charset="0"/>
              <a:cs typeface="Times New Roman" panose="02020603050405020304" pitchFamily="18" charset="0"/>
            </a:endParaRPr>
          </a:p>
        </p:txBody>
      </p:sp>
      <p:sp>
        <p:nvSpPr>
          <p:cNvPr id="18" name="Text 14"/>
          <p:cNvSpPr/>
          <p:nvPr/>
        </p:nvSpPr>
        <p:spPr>
          <a:xfrm>
            <a:off x="3883637" y="4843292"/>
            <a:ext cx="1744970" cy="487589"/>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 mỗi khung</a:t>
            </a:r>
            <a:endParaRPr lang="en-US" sz="1300" dirty="0">
              <a:latin typeface="Times New Roman" panose="02020603050405020304" pitchFamily="18" charset="0"/>
              <a:cs typeface="Times New Roman" panose="02020603050405020304" pitchFamily="18" charset="0"/>
            </a:endParaRPr>
          </a:p>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FFT</a:t>
            </a:r>
            <a:endParaRPr lang="en-US" sz="1300" dirty="0">
              <a:latin typeface="Times New Roman" panose="02020603050405020304" pitchFamily="18" charset="0"/>
              <a:cs typeface="Times New Roman" panose="02020603050405020304" pitchFamily="18" charset="0"/>
            </a:endParaRPr>
          </a:p>
        </p:txBody>
      </p:sp>
      <p:sp>
        <p:nvSpPr>
          <p:cNvPr id="19" name="Shape 15"/>
          <p:cNvSpPr/>
          <p:nvPr/>
        </p:nvSpPr>
        <p:spPr>
          <a:xfrm>
            <a:off x="6394450" y="3702276"/>
            <a:ext cx="0" cy="600642"/>
          </a:xfrm>
          <a:prstGeom prst="line">
            <a:avLst/>
          </a:prstGeom>
          <a:noFill/>
          <a:ln w="38100">
            <a:solidFill>
              <a:srgbClr val="B8480F"/>
            </a:solidFill>
            <a:prstDash val="solid"/>
          </a:ln>
        </p:spPr>
      </p:sp>
      <p:sp>
        <p:nvSpPr>
          <p:cNvPr id="20" name="Text 16"/>
          <p:cNvSpPr/>
          <p:nvPr/>
        </p:nvSpPr>
        <p:spPr>
          <a:xfrm>
            <a:off x="6564086" y="3727676"/>
            <a:ext cx="4959568"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8480F"/>
                </a:solidFill>
                <a:latin typeface="Times New Roman" panose="02020603050405020304" pitchFamily="18" charset="0"/>
                <a:ea typeface="Open Sans" pitchFamily="34" charset="-122"/>
                <a:cs typeface="Times New Roman" panose="02020603050405020304" pitchFamily="18" charset="0"/>
              </a:rPr>
              <a:t>Khung 205 mẫu</a:t>
            </a:r>
            <a:endParaRPr lang="en-US" sz="1600" dirty="0">
              <a:latin typeface="Times New Roman" panose="02020603050405020304" pitchFamily="18" charset="0"/>
              <a:cs typeface="Times New Roman" panose="02020603050405020304" pitchFamily="18" charset="0"/>
            </a:endParaRPr>
          </a:p>
        </p:txBody>
      </p:sp>
      <p:sp>
        <p:nvSpPr>
          <p:cNvPr id="21" name="Text 17"/>
          <p:cNvSpPr/>
          <p:nvPr/>
        </p:nvSpPr>
        <p:spPr>
          <a:xfrm>
            <a:off x="6564086" y="4037524"/>
            <a:ext cx="4959568"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Điểm đo lệch tối đa 1,36% so với tần số chuẩn</a:t>
            </a:r>
            <a:endParaRPr lang="en-US" sz="1400" dirty="0">
              <a:latin typeface="Times New Roman" panose="02020603050405020304" pitchFamily="18" charset="0"/>
              <a:cs typeface="Times New Roman" panose="02020603050405020304" pitchFamily="18" charset="0"/>
            </a:endParaRPr>
          </a:p>
        </p:txBody>
      </p:sp>
      <p:sp>
        <p:nvSpPr>
          <p:cNvPr id="22" name="Shape 18"/>
          <p:cNvSpPr/>
          <p:nvPr/>
        </p:nvSpPr>
        <p:spPr>
          <a:xfrm>
            <a:off x="6394450" y="4468016"/>
            <a:ext cx="0" cy="600642"/>
          </a:xfrm>
          <a:prstGeom prst="line">
            <a:avLst/>
          </a:prstGeom>
          <a:noFill/>
          <a:ln w="38100">
            <a:solidFill>
              <a:srgbClr val="B8480F"/>
            </a:solidFill>
            <a:prstDash val="solid"/>
          </a:ln>
        </p:spPr>
      </p:sp>
      <p:sp>
        <p:nvSpPr>
          <p:cNvPr id="23" name="Text 19"/>
          <p:cNvSpPr/>
          <p:nvPr/>
        </p:nvSpPr>
        <p:spPr>
          <a:xfrm>
            <a:off x="6564086" y="4493416"/>
            <a:ext cx="4959568"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8480F"/>
                </a:solidFill>
                <a:latin typeface="Times New Roman" panose="02020603050405020304" pitchFamily="18" charset="0"/>
                <a:ea typeface="Open Sans" pitchFamily="34" charset="-122"/>
                <a:cs typeface="Times New Roman" panose="02020603050405020304" pitchFamily="18" charset="0"/>
              </a:rPr>
              <a:t>Rẻ hơn FFT</a:t>
            </a:r>
            <a:endParaRPr lang="en-US" sz="1600" dirty="0">
              <a:latin typeface="Times New Roman" panose="02020603050405020304" pitchFamily="18" charset="0"/>
              <a:cs typeface="Times New Roman" panose="02020603050405020304" pitchFamily="18" charset="0"/>
            </a:endParaRPr>
          </a:p>
        </p:txBody>
      </p:sp>
      <p:sp>
        <p:nvSpPr>
          <p:cNvPr id="24" name="Text 20"/>
          <p:cNvSpPr/>
          <p:nvPr/>
        </p:nvSpPr>
        <p:spPr>
          <a:xfrm>
            <a:off x="6564086" y="4803263"/>
            <a:ext cx="4959568"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Khi cần đo dưới 16 tần số, DTMF chỉ cần 8</a:t>
            </a:r>
            <a:endParaRPr lang="en-US" sz="1400" dirty="0">
              <a:latin typeface="Times New Roman" panose="02020603050405020304" pitchFamily="18" charset="0"/>
              <a:cs typeface="Times New Roman" panose="02020603050405020304" pitchFamily="18" charset="0"/>
            </a:endParaRPr>
          </a:p>
        </p:txBody>
      </p:sp>
      <p:sp>
        <p:nvSpPr>
          <p:cNvPr id="25" name="Shape 21"/>
          <p:cNvSpPr/>
          <p:nvPr/>
        </p:nvSpPr>
        <p:spPr>
          <a:xfrm>
            <a:off x="6394450" y="5233761"/>
            <a:ext cx="0" cy="600642"/>
          </a:xfrm>
          <a:prstGeom prst="line">
            <a:avLst/>
          </a:prstGeom>
          <a:noFill/>
          <a:ln w="38100">
            <a:solidFill>
              <a:srgbClr val="B8480F"/>
            </a:solidFill>
            <a:prstDash val="solid"/>
          </a:ln>
        </p:spPr>
      </p:sp>
      <p:sp>
        <p:nvSpPr>
          <p:cNvPr id="26" name="Text 22"/>
          <p:cNvSpPr/>
          <p:nvPr/>
        </p:nvSpPr>
        <p:spPr>
          <a:xfrm>
            <a:off x="6564086" y="5259161"/>
            <a:ext cx="4959568"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B8480F"/>
                </a:solidFill>
                <a:latin typeface="Times New Roman" panose="02020603050405020304" pitchFamily="18" charset="0"/>
                <a:ea typeface="Open Sans" pitchFamily="34" charset="-122"/>
                <a:cs typeface="Times New Roman" panose="02020603050405020304" pitchFamily="18" charset="0"/>
              </a:rPr>
              <a:t>Nhóm tự viết</a:t>
            </a:r>
            <a:endParaRPr lang="en-US" sz="1600" dirty="0">
              <a:latin typeface="Times New Roman" panose="02020603050405020304" pitchFamily="18" charset="0"/>
              <a:cs typeface="Times New Roman" panose="02020603050405020304" pitchFamily="18" charset="0"/>
            </a:endParaRPr>
          </a:p>
        </p:txBody>
      </p:sp>
      <p:sp>
        <p:nvSpPr>
          <p:cNvPr id="27" name="Text 23"/>
          <p:cNvSpPr/>
          <p:nvPr/>
        </p:nvSpPr>
        <p:spPr>
          <a:xfrm>
            <a:off x="6564086" y="5569009"/>
            <a:ext cx="4959568"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Hàm có sẵn của MATLAB chỉ để đối chiếu</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9</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Ngân hàng bộ lọc cộng hưởng</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842169"/>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Mỗi bộ lọc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cho qua một dải hẹp</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quanh một tần số chuẩn, rồi đo xem còn lại bao nhiêu năng lượng</a:t>
            </a:r>
            <a:endParaRPr lang="en-US" sz="1700" dirty="0">
              <a:latin typeface="Times New Roman" panose="02020603050405020304" pitchFamily="18" charset="0"/>
              <a:cs typeface="Times New Roman" panose="02020603050405020304" pitchFamily="18" charset="0"/>
            </a:endParaRPr>
          </a:p>
        </p:txBody>
      </p:sp>
      <p:pic>
        <p:nvPicPr>
          <p:cNvPr id="6" name="Image 0" descr="Bảy bộ lọc dạng chuông hẹp đặt đúng tại bảy tần số chuẩn 697, 770, 852, 941, 1209, 1336 và 1477 Hz"/>
          <p:cNvPicPr>
            <a:picLocks noChangeAspect="1"/>
          </p:cNvPicPr>
          <p:nvPr/>
        </p:nvPicPr>
        <p:blipFill>
          <a:blip r:embed="rId3"/>
          <a:srcRect t="-12" b="-12"/>
          <a:stretch/>
        </p:blipFill>
        <p:spPr>
          <a:xfrm>
            <a:off x="1651000" y="2729371"/>
            <a:ext cx="8890001" cy="1524000"/>
          </a:xfrm>
          <a:prstGeom prst="rect">
            <a:avLst/>
          </a:prstGeom>
        </p:spPr>
      </p:pic>
      <p:sp>
        <p:nvSpPr>
          <p:cNvPr id="7" name="Text 4"/>
          <p:cNvSpPr/>
          <p:nvPr/>
        </p:nvSpPr>
        <p:spPr>
          <a:xfrm>
            <a:off x="179070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697</a:t>
            </a:r>
            <a:endParaRPr lang="en-US" sz="1200" dirty="0">
              <a:latin typeface="Times New Roman" panose="02020603050405020304" pitchFamily="18" charset="0"/>
              <a:cs typeface="Times New Roman" panose="02020603050405020304" pitchFamily="18" charset="0"/>
            </a:endParaRPr>
          </a:p>
        </p:txBody>
      </p:sp>
      <p:sp>
        <p:nvSpPr>
          <p:cNvPr id="8" name="Text 5"/>
          <p:cNvSpPr/>
          <p:nvPr/>
        </p:nvSpPr>
        <p:spPr>
          <a:xfrm>
            <a:off x="253365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770</a:t>
            </a:r>
            <a:endParaRPr lang="en-US" sz="1200" dirty="0">
              <a:latin typeface="Times New Roman" panose="02020603050405020304" pitchFamily="18" charset="0"/>
              <a:cs typeface="Times New Roman" panose="02020603050405020304" pitchFamily="18" charset="0"/>
            </a:endParaRPr>
          </a:p>
        </p:txBody>
      </p:sp>
      <p:sp>
        <p:nvSpPr>
          <p:cNvPr id="9" name="Text 6"/>
          <p:cNvSpPr/>
          <p:nvPr/>
        </p:nvSpPr>
        <p:spPr>
          <a:xfrm>
            <a:off x="337185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852</a:t>
            </a:r>
            <a:endParaRPr lang="en-US" sz="1200" dirty="0">
              <a:latin typeface="Times New Roman" panose="02020603050405020304" pitchFamily="18" charset="0"/>
              <a:cs typeface="Times New Roman" panose="02020603050405020304" pitchFamily="18" charset="0"/>
            </a:endParaRPr>
          </a:p>
        </p:txBody>
      </p:sp>
      <p:sp>
        <p:nvSpPr>
          <p:cNvPr id="10" name="Text 7"/>
          <p:cNvSpPr/>
          <p:nvPr/>
        </p:nvSpPr>
        <p:spPr>
          <a:xfrm>
            <a:off x="427990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941</a:t>
            </a:r>
            <a:endParaRPr lang="en-US" sz="1200" dirty="0">
              <a:latin typeface="Times New Roman" panose="02020603050405020304" pitchFamily="18" charset="0"/>
              <a:cs typeface="Times New Roman" panose="02020603050405020304" pitchFamily="18" charset="0"/>
            </a:endParaRPr>
          </a:p>
        </p:txBody>
      </p:sp>
      <p:sp>
        <p:nvSpPr>
          <p:cNvPr id="11" name="Text 8"/>
          <p:cNvSpPr/>
          <p:nvPr/>
        </p:nvSpPr>
        <p:spPr>
          <a:xfrm>
            <a:off x="702310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1209</a:t>
            </a:r>
            <a:endParaRPr lang="en-US" sz="1200" dirty="0">
              <a:latin typeface="Times New Roman" panose="02020603050405020304" pitchFamily="18" charset="0"/>
              <a:cs typeface="Times New Roman" panose="02020603050405020304" pitchFamily="18" charset="0"/>
            </a:endParaRPr>
          </a:p>
        </p:txBody>
      </p:sp>
      <p:sp>
        <p:nvSpPr>
          <p:cNvPr id="12" name="Text 9"/>
          <p:cNvSpPr/>
          <p:nvPr/>
        </p:nvSpPr>
        <p:spPr>
          <a:xfrm>
            <a:off x="8318500"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1336</a:t>
            </a:r>
            <a:endParaRPr lang="en-US" sz="1200" dirty="0">
              <a:latin typeface="Times New Roman" panose="02020603050405020304" pitchFamily="18" charset="0"/>
              <a:cs typeface="Times New Roman" panose="02020603050405020304" pitchFamily="18" charset="0"/>
            </a:endParaRPr>
          </a:p>
        </p:txBody>
      </p:sp>
      <p:sp>
        <p:nvSpPr>
          <p:cNvPr id="13" name="Text 10"/>
          <p:cNvSpPr/>
          <p:nvPr/>
        </p:nvSpPr>
        <p:spPr>
          <a:xfrm>
            <a:off x="9759951" y="4278771"/>
            <a:ext cx="685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1477</a:t>
            </a:r>
            <a:endParaRPr lang="en-US" sz="1200" dirty="0">
              <a:latin typeface="Times New Roman" panose="02020603050405020304" pitchFamily="18" charset="0"/>
              <a:cs typeface="Times New Roman" panose="02020603050405020304" pitchFamily="18" charset="0"/>
            </a:endParaRPr>
          </a:p>
        </p:txBody>
      </p:sp>
      <p:sp>
        <p:nvSpPr>
          <p:cNvPr id="14" name="Text 11"/>
          <p:cNvSpPr/>
          <p:nvPr/>
        </p:nvSpPr>
        <p:spPr>
          <a:xfrm>
            <a:off x="5181600" y="3491371"/>
            <a:ext cx="17018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tần số (Hz) →</a:t>
            </a:r>
            <a:endParaRPr lang="en-US" sz="1200" dirty="0">
              <a:latin typeface="Times New Roman" panose="02020603050405020304" pitchFamily="18" charset="0"/>
              <a:cs typeface="Times New Roman" panose="02020603050405020304" pitchFamily="18" charset="0"/>
            </a:endParaRPr>
          </a:p>
        </p:txBody>
      </p:sp>
      <p:sp>
        <p:nvSpPr>
          <p:cNvPr id="15" name="Shape 12"/>
          <p:cNvSpPr/>
          <p:nvPr/>
        </p:nvSpPr>
        <p:spPr>
          <a:xfrm>
            <a:off x="812800" y="5213412"/>
            <a:ext cx="3386648" cy="1085793"/>
          </a:xfrm>
          <a:prstGeom prst="rect">
            <a:avLst/>
          </a:prstGeom>
          <a:solidFill>
            <a:srgbClr val="E8F5EE"/>
          </a:solidFill>
          <a:ln/>
        </p:spPr>
      </p:sp>
      <p:sp>
        <p:nvSpPr>
          <p:cNvPr id="16" name="Text 13"/>
          <p:cNvSpPr/>
          <p:nvPr/>
        </p:nvSpPr>
        <p:spPr>
          <a:xfrm>
            <a:off x="2231776" y="5365812"/>
            <a:ext cx="548640" cy="528297"/>
          </a:xfrm>
          <a:prstGeom prst="rect">
            <a:avLst/>
          </a:prstGeom>
          <a:noFill/>
          <a:ln/>
        </p:spPr>
        <p:txBody>
          <a:bodyPr wrap="square" lIns="0" tIns="0" rIns="0" bIns="0" rtlCol="0" anchor="t">
            <a:normAutofit/>
          </a:bodyPr>
          <a:lstStyle/>
          <a:p>
            <a:pPr marL="0" indent="0" algn="ctr">
              <a:lnSpc>
                <a:spcPts val="3960"/>
              </a:lnSpc>
              <a:buNone/>
            </a:pPr>
            <a:r>
              <a:rPr lang="en-US" sz="3600" b="1" dirty="0">
                <a:solidFill>
                  <a:srgbClr val="0B7F58"/>
                </a:solidFill>
                <a:latin typeface="Times New Roman" panose="02020603050405020304" pitchFamily="18" charset="0"/>
                <a:ea typeface="Tinos" pitchFamily="18" charset="-122"/>
                <a:cs typeface="Times New Roman" panose="02020603050405020304" pitchFamily="18" charset="0"/>
              </a:rPr>
              <a:t>14</a:t>
            </a:r>
            <a:endParaRPr lang="en-US" sz="3600" dirty="0">
              <a:latin typeface="Times New Roman" panose="02020603050405020304" pitchFamily="18" charset="0"/>
              <a:cs typeface="Times New Roman" panose="02020603050405020304" pitchFamily="18" charset="0"/>
            </a:endParaRPr>
          </a:p>
        </p:txBody>
      </p:sp>
      <p:sp>
        <p:nvSpPr>
          <p:cNvPr id="17" name="Text 14"/>
          <p:cNvSpPr/>
          <p:nvPr/>
        </p:nvSpPr>
        <p:spPr>
          <a:xfrm>
            <a:off x="1208587" y="5906808"/>
            <a:ext cx="2595018" cy="265396"/>
          </a:xfrm>
          <a:prstGeom prst="rect">
            <a:avLst/>
          </a:prstGeom>
          <a:noFill/>
          <a:ln/>
        </p:spPr>
        <p:txBody>
          <a:bodyPr wrap="square" lIns="0" tIns="0" rIns="0" bIns="0" rtlCol="0" anchor="t">
            <a:normAutofit/>
          </a:bodyPr>
          <a:lstStyle/>
          <a:p>
            <a:pPr marL="0" indent="0" algn="ctr">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bộ lọc: 7 chuẩn + 7 bắt hài</a:t>
            </a:r>
            <a:endParaRPr lang="en-US" sz="1400" dirty="0">
              <a:latin typeface="Times New Roman" panose="02020603050405020304" pitchFamily="18" charset="0"/>
              <a:cs typeface="Times New Roman" panose="02020603050405020304" pitchFamily="18" charset="0"/>
            </a:endParaRPr>
          </a:p>
        </p:txBody>
      </p:sp>
      <p:sp>
        <p:nvSpPr>
          <p:cNvPr id="18" name="Shape 15"/>
          <p:cNvSpPr/>
          <p:nvPr/>
        </p:nvSpPr>
        <p:spPr>
          <a:xfrm>
            <a:off x="4402648" y="5213412"/>
            <a:ext cx="3386705" cy="1085793"/>
          </a:xfrm>
          <a:prstGeom prst="rect">
            <a:avLst/>
          </a:prstGeom>
          <a:solidFill>
            <a:srgbClr val="E8F5EE"/>
          </a:solidFill>
          <a:ln/>
        </p:spPr>
      </p:sp>
      <p:sp>
        <p:nvSpPr>
          <p:cNvPr id="19" name="Text 16"/>
          <p:cNvSpPr/>
          <p:nvPr/>
        </p:nvSpPr>
        <p:spPr>
          <a:xfrm>
            <a:off x="5198813" y="5365812"/>
            <a:ext cx="1794374" cy="528297"/>
          </a:xfrm>
          <a:prstGeom prst="rect">
            <a:avLst/>
          </a:prstGeom>
          <a:noFill/>
          <a:ln/>
        </p:spPr>
        <p:txBody>
          <a:bodyPr wrap="square" lIns="0" tIns="0" rIns="0" bIns="0" rtlCol="0" anchor="t">
            <a:normAutofit/>
          </a:bodyPr>
          <a:lstStyle/>
          <a:p>
            <a:pPr marL="0" indent="0" algn="ctr">
              <a:lnSpc>
                <a:spcPts val="3960"/>
              </a:lnSpc>
              <a:buNone/>
            </a:pPr>
            <a:r>
              <a:rPr lang="en-US" sz="3600" b="1" dirty="0">
                <a:solidFill>
                  <a:srgbClr val="0B7F58"/>
                </a:solidFill>
                <a:latin typeface="Times New Roman" panose="02020603050405020304" pitchFamily="18" charset="0"/>
                <a:ea typeface="Tinos" pitchFamily="18" charset="-122"/>
                <a:cs typeface="Times New Roman" panose="02020603050405020304" pitchFamily="18" charset="0"/>
              </a:rPr>
              <a:t>≈ 25 Hz</a:t>
            </a:r>
            <a:endParaRPr lang="en-US" sz="3600" dirty="0">
              <a:latin typeface="Times New Roman" panose="02020603050405020304" pitchFamily="18" charset="0"/>
              <a:cs typeface="Times New Roman" panose="02020603050405020304" pitchFamily="18" charset="0"/>
            </a:endParaRPr>
          </a:p>
        </p:txBody>
      </p:sp>
      <p:sp>
        <p:nvSpPr>
          <p:cNvPr id="20" name="Text 17"/>
          <p:cNvSpPr/>
          <p:nvPr/>
        </p:nvSpPr>
        <p:spPr>
          <a:xfrm>
            <a:off x="5140852" y="5906808"/>
            <a:ext cx="1910239" cy="265396"/>
          </a:xfrm>
          <a:prstGeom prst="rect">
            <a:avLst/>
          </a:prstGeom>
          <a:noFill/>
          <a:ln/>
        </p:spPr>
        <p:txBody>
          <a:bodyPr wrap="square" lIns="0" tIns="0" rIns="0" bIns="0" rtlCol="0" anchor="t">
            <a:normAutofit/>
          </a:bodyPr>
          <a:lstStyle/>
          <a:p>
            <a:pPr marL="0" indent="0" algn="ctr">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độ rộng mỗi dải lọc</a:t>
            </a:r>
            <a:endParaRPr lang="en-US" sz="1400" dirty="0">
              <a:latin typeface="Times New Roman" panose="02020603050405020304" pitchFamily="18" charset="0"/>
              <a:cs typeface="Times New Roman" panose="02020603050405020304" pitchFamily="18" charset="0"/>
            </a:endParaRPr>
          </a:p>
        </p:txBody>
      </p:sp>
      <p:sp>
        <p:nvSpPr>
          <p:cNvPr id="21" name="Shape 18"/>
          <p:cNvSpPr/>
          <p:nvPr/>
        </p:nvSpPr>
        <p:spPr>
          <a:xfrm>
            <a:off x="7992552" y="5213412"/>
            <a:ext cx="3386648" cy="1085793"/>
          </a:xfrm>
          <a:prstGeom prst="rect">
            <a:avLst/>
          </a:prstGeom>
          <a:solidFill>
            <a:srgbClr val="E8F5EE"/>
          </a:solidFill>
          <a:ln/>
        </p:spPr>
      </p:sp>
      <p:sp>
        <p:nvSpPr>
          <p:cNvPr id="22" name="Text 19"/>
          <p:cNvSpPr/>
          <p:nvPr/>
        </p:nvSpPr>
        <p:spPr>
          <a:xfrm>
            <a:off x="9000048" y="5365812"/>
            <a:ext cx="1371600" cy="528297"/>
          </a:xfrm>
          <a:prstGeom prst="rect">
            <a:avLst/>
          </a:prstGeom>
          <a:noFill/>
          <a:ln/>
        </p:spPr>
        <p:txBody>
          <a:bodyPr wrap="square" lIns="0" tIns="0" rIns="0" bIns="0" rtlCol="0" anchor="t">
            <a:normAutofit/>
          </a:bodyPr>
          <a:lstStyle/>
          <a:p>
            <a:pPr marL="0" indent="0" algn="ctr">
              <a:lnSpc>
                <a:spcPts val="3960"/>
              </a:lnSpc>
              <a:buNone/>
            </a:pPr>
            <a:r>
              <a:rPr lang="en-US" sz="3600" b="1" dirty="0">
                <a:solidFill>
                  <a:srgbClr val="0B7F58"/>
                </a:solidFill>
                <a:latin typeface="Times New Roman" panose="02020603050405020304" pitchFamily="18" charset="0"/>
                <a:ea typeface="Tinos" pitchFamily="18" charset="-122"/>
                <a:cs typeface="Times New Roman" panose="02020603050405020304" pitchFamily="18" charset="0"/>
              </a:rPr>
              <a:t>100%</a:t>
            </a:r>
            <a:endParaRPr lang="en-US" sz="3600" dirty="0">
              <a:latin typeface="Times New Roman" panose="02020603050405020304" pitchFamily="18" charset="0"/>
              <a:cs typeface="Times New Roman" panose="02020603050405020304" pitchFamily="18" charset="0"/>
            </a:endParaRPr>
          </a:p>
        </p:txBody>
      </p:sp>
      <p:sp>
        <p:nvSpPr>
          <p:cNvPr id="23" name="Text 20"/>
          <p:cNvSpPr/>
          <p:nvPr/>
        </p:nvSpPr>
        <p:spPr>
          <a:xfrm>
            <a:off x="7992552" y="5906808"/>
            <a:ext cx="3386591" cy="265396"/>
          </a:xfrm>
          <a:prstGeom prst="rect">
            <a:avLst/>
          </a:prstGeom>
          <a:noFill/>
          <a:ln/>
        </p:spPr>
        <p:txBody>
          <a:bodyPr wrap="square" lIns="0" tIns="0" rIns="0" bIns="0" rtlCol="0" anchor="t">
            <a:normAutofit/>
          </a:bodyPr>
          <a:lstStyle/>
          <a:p>
            <a:pPr marL="0" indent="0" algn="ctr">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tín hiệu đúng tần số đi qua trọn vẹn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10</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Luật quyết định dùng chung</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Khung chỉ được nhận là phím khi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đủ 5 điều kiện</a:t>
            </a:r>
            <a:endParaRPr lang="en-US" sz="1700" dirty="0">
              <a:latin typeface="Times New Roman" panose="02020603050405020304" pitchFamily="18" charset="0"/>
              <a:cs typeface="Times New Roman" panose="02020603050405020304" pitchFamily="18" charset="0"/>
            </a:endParaRPr>
          </a:p>
        </p:txBody>
      </p:sp>
      <p:pic>
        <p:nvPicPr>
          <p:cNvPr id="6" name="Image 0" descr="Công suất chuẩn hoá tại 8 tần số của một khung phím 5: hai cột cao tại 770 Hz và 1336 Hz, các tần số khác gần 0, đường ngưỡng hài đứt nét"/>
          <p:cNvPicPr>
            <a:picLocks noChangeAspect="1"/>
          </p:cNvPicPr>
          <p:nvPr/>
        </p:nvPicPr>
        <p:blipFill>
          <a:blip r:embed="rId3"/>
          <a:srcRect t="-67" b="-67"/>
          <a:stretch/>
        </p:blipFill>
        <p:spPr>
          <a:xfrm>
            <a:off x="812800" y="2599134"/>
            <a:ext cx="4445000" cy="2844800"/>
          </a:xfrm>
          <a:prstGeom prst="rect">
            <a:avLst/>
          </a:prstGeom>
        </p:spPr>
      </p:pic>
      <p:sp>
        <p:nvSpPr>
          <p:cNvPr id="7" name="Text 4"/>
          <p:cNvSpPr/>
          <p:nvPr/>
        </p:nvSpPr>
        <p:spPr>
          <a:xfrm>
            <a:off x="746125" y="5545534"/>
            <a:ext cx="457835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Phím “5”: hai cột nổi tại 770 Hz và 1336 Hz</a:t>
            </a:r>
            <a:endParaRPr lang="en-US" sz="1300" dirty="0">
              <a:latin typeface="Times New Roman" panose="02020603050405020304" pitchFamily="18" charset="0"/>
              <a:cs typeface="Times New Roman" panose="02020603050405020304" pitchFamily="18" charset="0"/>
            </a:endParaRPr>
          </a:p>
        </p:txBody>
      </p:sp>
      <p:sp>
        <p:nvSpPr>
          <p:cNvPr id="8" name="Text 5"/>
          <p:cNvSpPr/>
          <p:nvPr/>
        </p:nvSpPr>
        <p:spPr>
          <a:xfrm>
            <a:off x="5613400" y="2884884"/>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9" name="Text 6"/>
          <p:cNvSpPr/>
          <p:nvPr/>
        </p:nvSpPr>
        <p:spPr>
          <a:xfrm>
            <a:off x="6121400" y="2854443"/>
            <a:ext cx="5257800" cy="441949"/>
          </a:xfrm>
          <a:prstGeom prst="rect">
            <a:avLst/>
          </a:prstGeom>
          <a:solidFill>
            <a:srgbClr val="DEEBF7"/>
          </a:solidFill>
          <a:ln/>
        </p:spPr>
        <p:txBody>
          <a:bodyPr wrap="square" lIns="152400" tIns="88900" rIns="3810" bIns="6350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thấp có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đúng một âm</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nổi trội</a:t>
            </a:r>
            <a:endParaRPr lang="en-US" sz="1600" dirty="0">
              <a:latin typeface="Times New Roman" panose="02020603050405020304" pitchFamily="18" charset="0"/>
              <a:cs typeface="Times New Roman" panose="02020603050405020304" pitchFamily="18" charset="0"/>
            </a:endParaRPr>
          </a:p>
        </p:txBody>
      </p:sp>
      <p:sp>
        <p:nvSpPr>
          <p:cNvPr id="10" name="Text 7"/>
          <p:cNvSpPr/>
          <p:nvPr/>
        </p:nvSpPr>
        <p:spPr>
          <a:xfrm>
            <a:off x="5613400" y="3441136"/>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1" name="Text 8"/>
          <p:cNvSpPr/>
          <p:nvPr/>
        </p:nvSpPr>
        <p:spPr>
          <a:xfrm>
            <a:off x="6121400" y="3410688"/>
            <a:ext cx="5257800" cy="441949"/>
          </a:xfrm>
          <a:prstGeom prst="rect">
            <a:avLst/>
          </a:prstGeom>
          <a:solidFill>
            <a:srgbClr val="E2EFDA"/>
          </a:solidFill>
          <a:ln/>
        </p:spPr>
        <p:txBody>
          <a:bodyPr wrap="square" lIns="152400" tIns="88900" rIns="3810" bIns="6350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cao có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đúng một âm</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nổi trội</a:t>
            </a:r>
            <a:endParaRPr lang="en-US" sz="1600" dirty="0">
              <a:latin typeface="Times New Roman" panose="02020603050405020304" pitchFamily="18" charset="0"/>
              <a:cs typeface="Times New Roman" panose="02020603050405020304" pitchFamily="18" charset="0"/>
            </a:endParaRPr>
          </a:p>
        </p:txBody>
      </p:sp>
      <p:sp>
        <p:nvSpPr>
          <p:cNvPr id="12" name="Text 9"/>
          <p:cNvSpPr/>
          <p:nvPr/>
        </p:nvSpPr>
        <p:spPr>
          <a:xfrm>
            <a:off x="5613400" y="3997387"/>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13" name="Text 10"/>
          <p:cNvSpPr/>
          <p:nvPr/>
        </p:nvSpPr>
        <p:spPr>
          <a:xfrm>
            <a:off x="6121400" y="3966939"/>
            <a:ext cx="5257800" cy="441949"/>
          </a:xfrm>
          <a:prstGeom prst="rect">
            <a:avLst/>
          </a:prstGeom>
          <a:solidFill>
            <a:srgbClr val="FFF2CC"/>
          </a:solidFill>
          <a:ln/>
        </p:spPr>
        <p:txBody>
          <a:bodyPr wrap="square" lIns="152400" tIns="88900" rIns="3810" bIns="6350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Hai âm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không chênh nhau quá nhiều</a:t>
            </a:r>
            <a:endParaRPr lang="en-US" sz="1600" dirty="0">
              <a:latin typeface="Times New Roman" panose="02020603050405020304" pitchFamily="18" charset="0"/>
              <a:cs typeface="Times New Roman" panose="02020603050405020304" pitchFamily="18" charset="0"/>
            </a:endParaRPr>
          </a:p>
        </p:txBody>
      </p:sp>
      <p:sp>
        <p:nvSpPr>
          <p:cNvPr id="14" name="Text 11"/>
          <p:cNvSpPr/>
          <p:nvPr/>
        </p:nvSpPr>
        <p:spPr>
          <a:xfrm>
            <a:off x="5613400" y="4553632"/>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6121400" y="4523184"/>
            <a:ext cx="5257800" cy="441949"/>
          </a:xfrm>
          <a:prstGeom prst="rect">
            <a:avLst/>
          </a:prstGeom>
          <a:solidFill>
            <a:srgbClr val="FBE5D6"/>
          </a:solidFill>
          <a:ln/>
        </p:spPr>
        <p:txBody>
          <a:bodyPr wrap="square" lIns="152400" tIns="88900" rIns="3810" bIns="6350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7 tần số chuẩn giữ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70%</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năng lượng</a:t>
            </a:r>
            <a:endParaRPr lang="en-US" sz="1600" dirty="0">
              <a:latin typeface="Times New Roman" panose="02020603050405020304" pitchFamily="18" charset="0"/>
              <a:cs typeface="Times New Roman" panose="02020603050405020304" pitchFamily="18" charset="0"/>
            </a:endParaRPr>
          </a:p>
        </p:txBody>
      </p:sp>
      <p:sp>
        <p:nvSpPr>
          <p:cNvPr id="16" name="Text 13"/>
          <p:cNvSpPr/>
          <p:nvPr/>
        </p:nvSpPr>
        <p:spPr>
          <a:xfrm>
            <a:off x="5613400" y="5109883"/>
            <a:ext cx="381000" cy="381000"/>
          </a:xfrm>
          <a:custGeom>
            <a:avLst/>
            <a:gdLst/>
            <a:ahLst/>
            <a:cxnLst/>
            <a:rect l="l" t="t" r="r" b="b"/>
            <a:pathLst>
              <a:path w="381000" h="381000">
                <a:moveTo>
                  <a:pt x="190500" y="0"/>
                </a:moveTo>
                <a:lnTo>
                  <a:pt x="190500" y="0"/>
                </a:lnTo>
                <a:arcTo wR="190500" hR="190500" stAng="16200000" swAng="5400000"/>
                <a:lnTo>
                  <a:pt x="381000" y="190500"/>
                </a:lnTo>
                <a:arcTo wR="190500" hR="190500" stAng="0" swAng="5400000"/>
                <a:lnTo>
                  <a:pt x="190500" y="381000"/>
                </a:lnTo>
                <a:arcTo wR="190500" hR="190500" stAng="5400000" swAng="5400000"/>
                <a:lnTo>
                  <a:pt x="0" y="190500"/>
                </a:lnTo>
                <a:arcTo wR="190500" hR="190500" stAng="10800000" swAng="5400000"/>
                <a:close/>
              </a:path>
            </a:pathLst>
          </a:custGeom>
          <a:solidFill>
            <a:srgbClr val="2E9E4F"/>
          </a:solid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5</a:t>
            </a:r>
            <a:endParaRPr lang="en-US" sz="1500" dirty="0">
              <a:latin typeface="Times New Roman" panose="02020603050405020304" pitchFamily="18" charset="0"/>
              <a:cs typeface="Times New Roman" panose="02020603050405020304" pitchFamily="18" charset="0"/>
            </a:endParaRPr>
          </a:p>
        </p:txBody>
      </p:sp>
      <p:sp>
        <p:nvSpPr>
          <p:cNvPr id="17" name="Text 14"/>
          <p:cNvSpPr/>
          <p:nvPr/>
        </p:nvSpPr>
        <p:spPr>
          <a:xfrm>
            <a:off x="6121400" y="5079436"/>
            <a:ext cx="5257800" cy="441949"/>
          </a:xfrm>
          <a:prstGeom prst="rect">
            <a:avLst/>
          </a:prstGeom>
          <a:solidFill>
            <a:srgbClr val="EDEDED"/>
          </a:solidFill>
          <a:ln/>
        </p:spPr>
        <p:txBody>
          <a:bodyPr wrap="square" lIns="152400" tIns="88900" rIns="3810" bIns="6350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Không có hài mạnh →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loại tiếng nói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11</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6"/>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Kiến trúc phần mềm</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6"/>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Giao diện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không tự giải mã</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nên mọi chế độ dùng chung một mã đã được đánh giá</a:t>
            </a:r>
            <a:endParaRPr lang="en-US" sz="1700" dirty="0">
              <a:latin typeface="Times New Roman" panose="02020603050405020304" pitchFamily="18" charset="0"/>
              <a:cs typeface="Times New Roman" panose="02020603050405020304" pitchFamily="18" charset="0"/>
            </a:endParaRPr>
          </a:p>
        </p:txBody>
      </p:sp>
      <p:pic>
        <p:nvPicPr>
          <p:cNvPr id="6" name="Image 0" descr="Kiến trúc bốn lớp: lớp giao diện (DTMFApp, DTMFLive, DTMFForensic) gọi lớp điều phối (dtmf_run, dtmf_listen, dtmf_judge), lớp này chọn bộ giải mã ở lớp xử lý, lớp xử lý tra tần số ở lớp dữ liệu; nguồn âm thanh micro và đường dây đi vào lớp giao diện; tests và scripts gọi thẳng lớp xử lý và dữ liệu"/>
          <p:cNvPicPr>
            <a:picLocks noChangeAspect="1"/>
          </p:cNvPicPr>
          <p:nvPr/>
        </p:nvPicPr>
        <p:blipFill>
          <a:blip r:embed="rId3"/>
          <a:srcRect t="-27" b="-27"/>
          <a:stretch/>
        </p:blipFill>
        <p:spPr>
          <a:xfrm>
            <a:off x="812800" y="2451162"/>
            <a:ext cx="7493000" cy="3473450"/>
          </a:xfrm>
          <a:prstGeom prst="rect">
            <a:avLst/>
          </a:prstGeom>
        </p:spPr>
      </p:pic>
      <p:sp>
        <p:nvSpPr>
          <p:cNvPr id="7" name="Shape 4"/>
          <p:cNvSpPr/>
          <p:nvPr/>
        </p:nvSpPr>
        <p:spPr>
          <a:xfrm>
            <a:off x="8629650" y="2678230"/>
            <a:ext cx="0" cy="565774"/>
          </a:xfrm>
          <a:prstGeom prst="line">
            <a:avLst/>
          </a:prstGeom>
          <a:noFill/>
          <a:ln w="38100">
            <a:solidFill>
              <a:srgbClr val="178A48"/>
            </a:solidFill>
            <a:prstDash val="solid"/>
          </a:ln>
        </p:spPr>
      </p:sp>
      <p:sp>
        <p:nvSpPr>
          <p:cNvPr id="8" name="Text 5"/>
          <p:cNvSpPr/>
          <p:nvPr/>
        </p:nvSpPr>
        <p:spPr>
          <a:xfrm>
            <a:off x="8773886" y="2703630"/>
            <a:ext cx="268347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DTMFApp</a:t>
            </a:r>
            <a:endParaRPr lang="en-US" sz="1500" dirty="0">
              <a:latin typeface="Times New Roman" panose="02020603050405020304" pitchFamily="18" charset="0"/>
              <a:cs typeface="Times New Roman" panose="02020603050405020304" pitchFamily="18" charset="0"/>
            </a:endParaRPr>
          </a:p>
        </p:txBody>
      </p:sp>
      <p:sp>
        <p:nvSpPr>
          <p:cNvPr id="9" name="Text 6"/>
          <p:cNvSpPr/>
          <p:nvPr/>
        </p:nvSpPr>
        <p:spPr>
          <a:xfrm>
            <a:off x="8773886" y="2995730"/>
            <a:ext cx="2683474" cy="248274"/>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Khảo sát tín hiệu</a:t>
            </a:r>
            <a:endParaRPr lang="en-US" sz="1300" dirty="0">
              <a:latin typeface="Times New Roman" panose="02020603050405020304" pitchFamily="18" charset="0"/>
              <a:cs typeface="Times New Roman" panose="02020603050405020304" pitchFamily="18" charset="0"/>
            </a:endParaRPr>
          </a:p>
        </p:txBody>
      </p:sp>
      <p:sp>
        <p:nvSpPr>
          <p:cNvPr id="10" name="Shape 7"/>
          <p:cNvSpPr/>
          <p:nvPr/>
        </p:nvSpPr>
        <p:spPr>
          <a:xfrm>
            <a:off x="8629650" y="3383700"/>
            <a:ext cx="0" cy="565774"/>
          </a:xfrm>
          <a:prstGeom prst="line">
            <a:avLst/>
          </a:prstGeom>
          <a:noFill/>
          <a:ln w="38100">
            <a:solidFill>
              <a:srgbClr val="1F4E9A"/>
            </a:solidFill>
            <a:prstDash val="solid"/>
          </a:ln>
        </p:spPr>
      </p:sp>
      <p:sp>
        <p:nvSpPr>
          <p:cNvPr id="11" name="Text 8"/>
          <p:cNvSpPr/>
          <p:nvPr/>
        </p:nvSpPr>
        <p:spPr>
          <a:xfrm>
            <a:off x="8773886" y="3409100"/>
            <a:ext cx="268347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DTMFLive</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8773886" y="3701200"/>
            <a:ext cx="2683474" cy="248274"/>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Tổng đài trực tiếp</a:t>
            </a:r>
            <a:endParaRPr lang="en-US" sz="1300" dirty="0">
              <a:latin typeface="Times New Roman" panose="02020603050405020304" pitchFamily="18" charset="0"/>
              <a:cs typeface="Times New Roman" panose="02020603050405020304" pitchFamily="18" charset="0"/>
            </a:endParaRPr>
          </a:p>
        </p:txBody>
      </p:sp>
      <p:sp>
        <p:nvSpPr>
          <p:cNvPr id="13" name="Shape 10"/>
          <p:cNvSpPr/>
          <p:nvPr/>
        </p:nvSpPr>
        <p:spPr>
          <a:xfrm>
            <a:off x="8629650" y="4089177"/>
            <a:ext cx="0" cy="565774"/>
          </a:xfrm>
          <a:prstGeom prst="line">
            <a:avLst/>
          </a:prstGeom>
          <a:noFill/>
          <a:ln w="38100">
            <a:solidFill>
              <a:srgbClr val="B8480F"/>
            </a:solidFill>
            <a:prstDash val="solid"/>
          </a:ln>
        </p:spPr>
      </p:sp>
      <p:sp>
        <p:nvSpPr>
          <p:cNvPr id="14" name="Text 11"/>
          <p:cNvSpPr/>
          <p:nvPr/>
        </p:nvSpPr>
        <p:spPr>
          <a:xfrm>
            <a:off x="8773886" y="4114577"/>
            <a:ext cx="268347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DTMFForensic</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8773886" y="4406677"/>
            <a:ext cx="2683474" cy="248274"/>
          </a:xfrm>
          <a:prstGeom prst="rect">
            <a:avLst/>
          </a:prstGeom>
          <a:noFill/>
          <a:ln/>
        </p:spPr>
        <p:txBody>
          <a:bodyPr wrap="square" lIns="0" tIns="0" rIns="0" bIns="0" rtlCol="0" anchor="t">
            <a:normAutofit/>
          </a:bodyPr>
          <a:lstStyle/>
          <a:p>
            <a:pPr marL="0" indent="0" algn="l">
              <a:lnSpc>
                <a:spcPts val="1755"/>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Giám định ghi âm</a:t>
            </a:r>
            <a:endParaRPr lang="en-US" sz="1300" dirty="0">
              <a:latin typeface="Times New Roman" panose="02020603050405020304" pitchFamily="18" charset="0"/>
              <a:cs typeface="Times New Roman" panose="02020603050405020304" pitchFamily="18" charset="0"/>
            </a:endParaRPr>
          </a:p>
        </p:txBody>
      </p:sp>
      <p:sp>
        <p:nvSpPr>
          <p:cNvPr id="16" name="Shape 13"/>
          <p:cNvSpPr/>
          <p:nvPr/>
        </p:nvSpPr>
        <p:spPr>
          <a:xfrm>
            <a:off x="8610600" y="4794653"/>
            <a:ext cx="2768600" cy="902891"/>
          </a:xfrm>
          <a:prstGeom prst="rect">
            <a:avLst/>
          </a:prstGeom>
          <a:solidFill>
            <a:srgbClr val="E8F5EE"/>
          </a:solidFill>
          <a:ln/>
        </p:spPr>
      </p:sp>
      <p:sp>
        <p:nvSpPr>
          <p:cNvPr id="17" name="Text 14"/>
          <p:cNvSpPr/>
          <p:nvPr/>
        </p:nvSpPr>
        <p:spPr>
          <a:xfrm>
            <a:off x="9124389" y="4908953"/>
            <a:ext cx="1740966" cy="472395"/>
          </a:xfrm>
          <a:prstGeom prst="rect">
            <a:avLst/>
          </a:prstGeom>
          <a:noFill/>
          <a:ln/>
        </p:spPr>
        <p:txBody>
          <a:bodyPr wrap="square" lIns="0" tIns="0" rIns="0" bIns="0" rtlCol="0" anchor="t">
            <a:normAutofit/>
          </a:bodyPr>
          <a:lstStyle/>
          <a:p>
            <a:pPr marL="0" indent="0" algn="ctr">
              <a:lnSpc>
                <a:spcPts val="3520"/>
              </a:lnSpc>
              <a:buNone/>
            </a:pPr>
            <a:r>
              <a:rPr lang="en-US" sz="3200" b="1" dirty="0">
                <a:solidFill>
                  <a:srgbClr val="178A48"/>
                </a:solidFill>
                <a:latin typeface="Times New Roman" panose="02020603050405020304" pitchFamily="18" charset="0"/>
                <a:ea typeface="Tinos" pitchFamily="18" charset="-122"/>
                <a:cs typeface="Times New Roman" panose="02020603050405020304" pitchFamily="18" charset="0"/>
              </a:rPr>
              <a:t>266 + 63</a:t>
            </a:r>
            <a:endParaRPr lang="en-US" sz="3200" dirty="0">
              <a:latin typeface="Times New Roman" panose="02020603050405020304" pitchFamily="18" charset="0"/>
              <a:cs typeface="Times New Roman" panose="02020603050405020304" pitchFamily="18" charset="0"/>
            </a:endParaRPr>
          </a:p>
        </p:txBody>
      </p:sp>
      <p:sp>
        <p:nvSpPr>
          <p:cNvPr id="18" name="Text 15"/>
          <p:cNvSpPr/>
          <p:nvPr/>
        </p:nvSpPr>
        <p:spPr>
          <a:xfrm>
            <a:off x="8743384" y="5368646"/>
            <a:ext cx="2503034" cy="239996"/>
          </a:xfrm>
          <a:prstGeom prst="rect">
            <a:avLst/>
          </a:prstGeom>
          <a:noFill/>
          <a:ln/>
        </p:spPr>
        <p:txBody>
          <a:bodyPr wrap="square" lIns="0" tIns="0" rIns="0" bIns="0" rtlCol="0" anchor="t">
            <a:normAutofit/>
          </a:bodyPr>
          <a:lstStyle/>
          <a:p>
            <a:pPr marL="0" indent="0" algn="ctr">
              <a:lnSpc>
                <a:spcPts val="169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ca kiểm thử MATLAB + web</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12</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err="1">
                <a:solidFill>
                  <a:srgbClr val="178A48"/>
                </a:solidFill>
                <a:latin typeface="Times New Roman" panose="02020603050405020304" pitchFamily="18" charset="0"/>
                <a:ea typeface="Tinos" pitchFamily="18" charset="-122"/>
                <a:cs typeface="Times New Roman" panose="02020603050405020304" pitchFamily="18" charset="0"/>
              </a:rPr>
              <a:t>DTMFApp</a:t>
            </a:r>
            <a:r>
              <a:rPr lang="en-US" b="1" dirty="0">
                <a:latin typeface="Times New Roman" panose="02020603050405020304" pitchFamily="18" charset="0"/>
                <a:ea typeface="Tinos" pitchFamily="18" charset="-122"/>
                <a:cs typeface="Times New Roman" panose="02020603050405020304" pitchFamily="18" charset="0"/>
              </a:rPr>
              <a:t> - </a:t>
            </a:r>
            <a:r>
              <a:rPr lang="en-US" b="1" dirty="0" err="1">
                <a:latin typeface="Times New Roman" panose="02020603050405020304" pitchFamily="18" charset="0"/>
                <a:ea typeface="Tinos" pitchFamily="18" charset="-122"/>
                <a:cs typeface="Times New Roman" panose="02020603050405020304" pitchFamily="18" charset="0"/>
              </a:rPr>
              <a:t>K</a:t>
            </a:r>
            <a:r>
              <a:rPr lang="en-US" sz="4400" b="1" i="0" dirty="0" err="1">
                <a:solidFill>
                  <a:srgbClr val="178A48"/>
                </a:solidFill>
                <a:latin typeface="Times New Roman" panose="02020603050405020304" pitchFamily="18" charset="0"/>
                <a:ea typeface="Tinos" pitchFamily="18" charset="-122"/>
                <a:cs typeface="Times New Roman" panose="02020603050405020304" pitchFamily="18" charset="0"/>
              </a:rPr>
              <a:t>hảo</a:t>
            </a: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 sát tín hiệu</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Ba bước theo đường đi của tín hiệu: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tạo âm → thêm nhiễu → đọc lại phím</a:t>
            </a:r>
            <a:endParaRPr lang="en-US" sz="1700" dirty="0">
              <a:latin typeface="Times New Roman" panose="02020603050405020304" pitchFamily="18" charset="0"/>
              <a:cs typeface="Times New Roman" panose="02020603050405020304" pitchFamily="18" charset="0"/>
            </a:endParaRPr>
          </a:p>
        </p:txBody>
      </p:sp>
      <p:pic>
        <p:nvPicPr>
          <p:cNvPr id="6" name="Image 0" descr="Giao diện DTMFApp ba bước: 1 tín hiệu gốc từ chuỗi 0912345 với dạng sóng và phổ công suất; 2 kênh nhiễu AWGN SNR 20 dB; 3 giải mã Goertzel với bản đồ năng lượng 8 bin, đọc được 0912345, khớp 7/7 phím"/>
          <p:cNvPicPr>
            <a:picLocks noChangeAspect="1"/>
          </p:cNvPicPr>
          <p:nvPr/>
        </p:nvPicPr>
        <p:blipFill>
          <a:blip r:embed="rId3"/>
          <a:srcRect l="-147" r="-147"/>
          <a:stretch/>
        </p:blipFill>
        <p:spPr>
          <a:xfrm>
            <a:off x="825500" y="2279706"/>
            <a:ext cx="6578600" cy="3816350"/>
          </a:xfrm>
          <a:prstGeom prst="rect">
            <a:avLst/>
          </a:prstGeom>
          <a:effectLst>
            <a:outerShdw blurRad="152400" dist="50800" dir="5400000" algn="bl" rotWithShape="0">
              <a:srgbClr val="1F2A44">
                <a:alpha val="12000"/>
              </a:srgbClr>
            </a:outerShdw>
          </a:effectLst>
        </p:spPr>
      </p:pic>
      <p:sp>
        <p:nvSpPr>
          <p:cNvPr id="7" name="Shape 4"/>
          <p:cNvSpPr/>
          <p:nvPr/>
        </p:nvSpPr>
        <p:spPr>
          <a:xfrm>
            <a:off x="819150" y="2273356"/>
            <a:ext cx="6591300" cy="3829050"/>
          </a:xfrm>
          <a:prstGeom prst="rect">
            <a:avLst/>
          </a:prstGeom>
          <a:noFill/>
          <a:ln w="12700">
            <a:solidFill>
              <a:srgbClr val="DDE1E7"/>
            </a:solidFill>
            <a:prstDash val="solid"/>
          </a:ln>
        </p:spPr>
      </p:sp>
      <p:sp>
        <p:nvSpPr>
          <p:cNvPr id="8" name="Text 5"/>
          <p:cNvSpPr/>
          <p:nvPr/>
        </p:nvSpPr>
        <p:spPr>
          <a:xfrm>
            <a:off x="7721600" y="2757370"/>
            <a:ext cx="355600" cy="355600"/>
          </a:xfrm>
          <a:custGeom>
            <a:avLst/>
            <a:gdLst/>
            <a:ahLst/>
            <a:cxnLst/>
            <a:rect l="l" t="t" r="r" b="b"/>
            <a:pathLst>
              <a:path w="355600" h="355600">
                <a:moveTo>
                  <a:pt x="177800" y="0"/>
                </a:moveTo>
                <a:lnTo>
                  <a:pt x="177800" y="0"/>
                </a:lnTo>
                <a:arcTo wR="177800" hR="177800" stAng="16200000" swAng="5400000"/>
                <a:lnTo>
                  <a:pt x="355600" y="177800"/>
                </a:lnTo>
                <a:arcTo wR="177800" hR="177800" stAng="0" swAng="5400000"/>
                <a:lnTo>
                  <a:pt x="177800" y="355600"/>
                </a:lnTo>
                <a:arcTo wR="177800" hR="177800" stAng="5400000" swAng="5400000"/>
                <a:lnTo>
                  <a:pt x="0" y="177800"/>
                </a:lnTo>
                <a:arcTo wR="177800" hR="177800" stAng="10800000" swAng="5400000"/>
                <a:close/>
              </a:path>
            </a:pathLst>
          </a:custGeom>
          <a:solidFill>
            <a:srgbClr val="2E9E4F"/>
          </a:solidFill>
          <a:ln/>
        </p:spPr>
        <p:txBody>
          <a:bodyPr wrap="square" lIns="0" tIns="0" rIns="0" bIns="0" rtlCol="0" anchor="t">
            <a:normAutofit/>
          </a:bodyPr>
          <a:lstStyle/>
          <a:p>
            <a:pPr marL="0" indent="0" algn="ctr">
              <a:lnSpc>
                <a:spcPts val="2800"/>
              </a:lnSpc>
              <a:buNone/>
            </a:pPr>
            <a:r>
              <a:rPr lang="en-US" sz="14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400" dirty="0">
              <a:latin typeface="Times New Roman" panose="02020603050405020304" pitchFamily="18" charset="0"/>
              <a:cs typeface="Times New Roman" panose="02020603050405020304" pitchFamily="18" charset="0"/>
            </a:endParaRPr>
          </a:p>
        </p:txBody>
      </p:sp>
      <p:sp>
        <p:nvSpPr>
          <p:cNvPr id="9" name="Text 6"/>
          <p:cNvSpPr/>
          <p:nvPr/>
        </p:nvSpPr>
        <p:spPr>
          <a:xfrm>
            <a:off x="8191500" y="2757370"/>
            <a:ext cx="3283331"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Tín hiệu gốc</a:t>
            </a:r>
            <a:endParaRPr lang="en-US" sz="1600" dirty="0">
              <a:latin typeface="Times New Roman" panose="02020603050405020304" pitchFamily="18" charset="0"/>
              <a:cs typeface="Times New Roman" panose="02020603050405020304" pitchFamily="18" charset="0"/>
            </a:endParaRPr>
          </a:p>
        </p:txBody>
      </p:sp>
      <p:sp>
        <p:nvSpPr>
          <p:cNvPr id="10" name="Text 7"/>
          <p:cNvSpPr/>
          <p:nvPr/>
        </p:nvSpPr>
        <p:spPr>
          <a:xfrm>
            <a:off x="8191500" y="3067217"/>
            <a:ext cx="3825240"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Chuỗi phím, tệp âm thanh hoặc micro</a:t>
            </a:r>
            <a:endParaRPr lang="en-US" sz="1400" dirty="0">
              <a:latin typeface="Times New Roman" panose="02020603050405020304" pitchFamily="18" charset="0"/>
              <a:cs typeface="Times New Roman" panose="02020603050405020304" pitchFamily="18" charset="0"/>
            </a:endParaRPr>
          </a:p>
        </p:txBody>
      </p:sp>
      <p:sp>
        <p:nvSpPr>
          <p:cNvPr id="11" name="Text 8"/>
          <p:cNvSpPr/>
          <p:nvPr/>
        </p:nvSpPr>
        <p:spPr>
          <a:xfrm>
            <a:off x="7721600" y="3497715"/>
            <a:ext cx="355600" cy="355600"/>
          </a:xfrm>
          <a:custGeom>
            <a:avLst/>
            <a:gdLst/>
            <a:ahLst/>
            <a:cxnLst/>
            <a:rect l="l" t="t" r="r" b="b"/>
            <a:pathLst>
              <a:path w="355600" h="355600">
                <a:moveTo>
                  <a:pt x="177800" y="0"/>
                </a:moveTo>
                <a:lnTo>
                  <a:pt x="177800" y="0"/>
                </a:lnTo>
                <a:arcTo wR="177800" hR="177800" stAng="16200000" swAng="5400000"/>
                <a:lnTo>
                  <a:pt x="355600" y="177800"/>
                </a:lnTo>
                <a:arcTo wR="177800" hR="177800" stAng="0" swAng="5400000"/>
                <a:lnTo>
                  <a:pt x="177800" y="355600"/>
                </a:lnTo>
                <a:arcTo wR="177800" hR="177800" stAng="5400000" swAng="5400000"/>
                <a:lnTo>
                  <a:pt x="0" y="177800"/>
                </a:lnTo>
                <a:arcTo wR="177800" hR="177800" stAng="10800000" swAng="5400000"/>
                <a:close/>
              </a:path>
            </a:pathLst>
          </a:custGeom>
          <a:solidFill>
            <a:srgbClr val="2E9E4F"/>
          </a:solidFill>
          <a:ln/>
        </p:spPr>
        <p:txBody>
          <a:bodyPr wrap="square" lIns="0" tIns="0" rIns="0" bIns="0" rtlCol="0" anchor="t">
            <a:normAutofit/>
          </a:bodyPr>
          <a:lstStyle/>
          <a:p>
            <a:pPr marL="0" indent="0" algn="ctr">
              <a:lnSpc>
                <a:spcPts val="2800"/>
              </a:lnSpc>
              <a:buNone/>
            </a:pPr>
            <a:r>
              <a:rPr lang="en-US" sz="14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400" dirty="0">
              <a:latin typeface="Times New Roman" panose="02020603050405020304" pitchFamily="18" charset="0"/>
              <a:cs typeface="Times New Roman" panose="02020603050405020304" pitchFamily="18" charset="0"/>
            </a:endParaRPr>
          </a:p>
        </p:txBody>
      </p:sp>
      <p:sp>
        <p:nvSpPr>
          <p:cNvPr id="12" name="Text 9"/>
          <p:cNvSpPr/>
          <p:nvPr/>
        </p:nvSpPr>
        <p:spPr>
          <a:xfrm>
            <a:off x="8191500" y="3497715"/>
            <a:ext cx="3283331"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Kênh nhiễu</a:t>
            </a:r>
            <a:endParaRPr lang="en-US" sz="1600" dirty="0">
              <a:latin typeface="Times New Roman" panose="02020603050405020304" pitchFamily="18" charset="0"/>
              <a:cs typeface="Times New Roman" panose="02020603050405020304" pitchFamily="18" charset="0"/>
            </a:endParaRPr>
          </a:p>
        </p:txBody>
      </p:sp>
      <p:sp>
        <p:nvSpPr>
          <p:cNvPr id="13" name="Text 10"/>
          <p:cNvSpPr/>
          <p:nvPr/>
        </p:nvSpPr>
        <p:spPr>
          <a:xfrm>
            <a:off x="8191500" y="3807557"/>
            <a:ext cx="3283331"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AWGN / ù 50 Hz, SNR −5 → 30 dB</a:t>
            </a:r>
            <a:endParaRPr lang="en-US" sz="1400" dirty="0">
              <a:latin typeface="Times New Roman" panose="02020603050405020304" pitchFamily="18" charset="0"/>
              <a:cs typeface="Times New Roman" panose="02020603050405020304" pitchFamily="18" charset="0"/>
            </a:endParaRPr>
          </a:p>
        </p:txBody>
      </p:sp>
      <p:sp>
        <p:nvSpPr>
          <p:cNvPr id="14" name="Text 11"/>
          <p:cNvSpPr/>
          <p:nvPr/>
        </p:nvSpPr>
        <p:spPr>
          <a:xfrm>
            <a:off x="7721600" y="4238054"/>
            <a:ext cx="355600" cy="355600"/>
          </a:xfrm>
          <a:custGeom>
            <a:avLst/>
            <a:gdLst/>
            <a:ahLst/>
            <a:cxnLst/>
            <a:rect l="l" t="t" r="r" b="b"/>
            <a:pathLst>
              <a:path w="355600" h="355600">
                <a:moveTo>
                  <a:pt x="177800" y="0"/>
                </a:moveTo>
                <a:lnTo>
                  <a:pt x="177800" y="0"/>
                </a:lnTo>
                <a:arcTo wR="177800" hR="177800" stAng="16200000" swAng="5400000"/>
                <a:lnTo>
                  <a:pt x="355600" y="177800"/>
                </a:lnTo>
                <a:arcTo wR="177800" hR="177800" stAng="0" swAng="5400000"/>
                <a:lnTo>
                  <a:pt x="177800" y="355600"/>
                </a:lnTo>
                <a:arcTo wR="177800" hR="177800" stAng="5400000" swAng="5400000"/>
                <a:lnTo>
                  <a:pt x="0" y="177800"/>
                </a:lnTo>
                <a:arcTo wR="177800" hR="177800" stAng="10800000" swAng="5400000"/>
                <a:close/>
              </a:path>
            </a:pathLst>
          </a:custGeom>
          <a:solidFill>
            <a:srgbClr val="2E9E4F"/>
          </a:solidFill>
          <a:ln/>
        </p:spPr>
        <p:txBody>
          <a:bodyPr wrap="square" lIns="0" tIns="0" rIns="0" bIns="0" rtlCol="0" anchor="t">
            <a:normAutofit/>
          </a:bodyPr>
          <a:lstStyle/>
          <a:p>
            <a:pPr marL="0" indent="0" algn="ctr">
              <a:lnSpc>
                <a:spcPts val="2800"/>
              </a:lnSpc>
              <a:buNone/>
            </a:pPr>
            <a:r>
              <a:rPr lang="en-US" sz="14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400" dirty="0">
              <a:latin typeface="Times New Roman" panose="02020603050405020304" pitchFamily="18" charset="0"/>
              <a:cs typeface="Times New Roman" panose="02020603050405020304" pitchFamily="18" charset="0"/>
            </a:endParaRPr>
          </a:p>
        </p:txBody>
      </p:sp>
      <p:sp>
        <p:nvSpPr>
          <p:cNvPr id="15" name="Text 12"/>
          <p:cNvSpPr/>
          <p:nvPr/>
        </p:nvSpPr>
        <p:spPr>
          <a:xfrm>
            <a:off x="8191500" y="4238054"/>
            <a:ext cx="3283331"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Giải mã</a:t>
            </a:r>
            <a:endParaRPr lang="en-US" sz="1600" dirty="0">
              <a:latin typeface="Times New Roman" panose="02020603050405020304" pitchFamily="18" charset="0"/>
              <a:cs typeface="Times New Roman" panose="02020603050405020304" pitchFamily="18" charset="0"/>
            </a:endParaRPr>
          </a:p>
        </p:txBody>
      </p:sp>
      <p:sp>
        <p:nvSpPr>
          <p:cNvPr id="16" name="Text 13"/>
          <p:cNvSpPr/>
          <p:nvPr/>
        </p:nvSpPr>
        <p:spPr>
          <a:xfrm>
            <a:off x="8191500" y="4547902"/>
            <a:ext cx="3283331"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Đặt dưới chuỗi đã phát để so</a:t>
            </a:r>
            <a:endParaRPr lang="en-US" sz="1400" dirty="0">
              <a:latin typeface="Times New Roman" panose="02020603050405020304" pitchFamily="18" charset="0"/>
              <a:cs typeface="Times New Roman" panose="02020603050405020304" pitchFamily="18" charset="0"/>
            </a:endParaRPr>
          </a:p>
        </p:txBody>
      </p:sp>
      <p:sp>
        <p:nvSpPr>
          <p:cNvPr id="17" name="Text 14"/>
          <p:cNvSpPr/>
          <p:nvPr/>
        </p:nvSpPr>
        <p:spPr>
          <a:xfrm>
            <a:off x="7721600" y="4978400"/>
            <a:ext cx="3657600" cy="639989"/>
          </a:xfrm>
          <a:prstGeom prst="rect">
            <a:avLst/>
          </a:prstGeom>
          <a:solidFill>
            <a:srgbClr val="FFF2CC"/>
          </a:solidFill>
          <a:ln/>
        </p:spPr>
        <p:txBody>
          <a:bodyPr wrap="square" lIns="127000" tIns="88900" rIns="24892" bIns="63500" rtlCol="0" anchor="t">
            <a:normAutofit/>
          </a:bodyPr>
          <a:lstStyle/>
          <a:p>
            <a:pPr marL="0" indent="0" algn="l">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Mỗi bước kèm </a:t>
            </a:r>
            <a:r>
              <a:rPr lang="en-US" sz="1300" b="1" dirty="0">
                <a:solidFill>
                  <a:srgbClr val="1F2A44"/>
                </a:solidFill>
                <a:latin typeface="Times New Roman" panose="02020603050405020304" pitchFamily="18" charset="0"/>
                <a:ea typeface="Open Sans" pitchFamily="34" charset="-122"/>
                <a:cs typeface="Times New Roman" panose="02020603050405020304" pitchFamily="18" charset="0"/>
              </a:rPr>
              <a:t>dạng sóng + phổ</a:t>
            </a: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 của tín hiệu ở bước đó</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13</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Giải mã theo luồng</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Mẫu đến từng đoạn 50 ms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dùng lại nguyên bộ giải mã khối</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không viết bộ thứ hai</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127417"/>
            <a:ext cx="1587500" cy="510495"/>
          </a:xfrm>
          <a:prstGeom prst="rect">
            <a:avLst/>
          </a:prstGeom>
          <a:solidFill>
            <a:srgbClr val="E4E7EC"/>
          </a:solidFill>
          <a:ln/>
        </p:spPr>
        <p:txBody>
          <a:bodyPr wrap="square" lIns="50800" tIns="139700" rIns="50800" bIns="114300" rtlCol="0" anchor="t">
            <a:normAutofit/>
          </a:bodyPr>
          <a:lstStyle/>
          <a:p>
            <a:pPr marL="0" indent="0" algn="ctr">
              <a:lnSpc>
                <a:spcPts val="1820"/>
              </a:lnSpc>
              <a:buNone/>
            </a:pPr>
            <a:r>
              <a:rPr lang="en-US" sz="1400" dirty="0">
                <a:solidFill>
                  <a:srgbClr val="33415C"/>
                </a:solidFill>
                <a:latin typeface="Times New Roman" panose="02020603050405020304" pitchFamily="18" charset="0"/>
                <a:ea typeface="Open Sans" pitchFamily="34" charset="-122"/>
                <a:cs typeface="Times New Roman" panose="02020603050405020304" pitchFamily="18" charset="0"/>
              </a:rPr>
              <a:t>Lịch sử ~100 ms</a:t>
            </a:r>
            <a:endParaRPr lang="en-US" sz="1400" dirty="0">
              <a:latin typeface="Times New Roman" panose="02020603050405020304" pitchFamily="18" charset="0"/>
              <a:cs typeface="Times New Roman" panose="02020603050405020304" pitchFamily="18" charset="0"/>
            </a:endParaRPr>
          </a:p>
        </p:txBody>
      </p:sp>
      <p:sp>
        <p:nvSpPr>
          <p:cNvPr id="7" name="Text 5"/>
          <p:cNvSpPr/>
          <p:nvPr/>
        </p:nvSpPr>
        <p:spPr>
          <a:xfrm>
            <a:off x="2400300" y="2127417"/>
            <a:ext cx="1587500" cy="510495"/>
          </a:xfrm>
          <a:prstGeom prst="rect">
            <a:avLst/>
          </a:prstGeom>
          <a:solidFill>
            <a:srgbClr val="1F4E9A"/>
          </a:solidFill>
          <a:ln/>
        </p:spPr>
        <p:txBody>
          <a:bodyPr wrap="square" lIns="50800" tIns="139700" rIns="50800" bIns="114300" rtlCol="0" anchor="t">
            <a:normAutofit/>
          </a:bodyPr>
          <a:lstStyle/>
          <a:p>
            <a:pPr marL="0" indent="0" algn="ctr">
              <a:lnSpc>
                <a:spcPts val="1820"/>
              </a:lnSpc>
              <a:buNone/>
            </a:pPr>
            <a:r>
              <a:rPr lang="en-US" sz="1400" b="1" dirty="0">
                <a:solidFill>
                  <a:srgbClr val="FDFDFB"/>
                </a:solidFill>
                <a:latin typeface="Times New Roman" panose="02020603050405020304" pitchFamily="18" charset="0"/>
                <a:ea typeface="Open Sans" pitchFamily="34" charset="-122"/>
                <a:cs typeface="Times New Roman" panose="02020603050405020304" pitchFamily="18" charset="0"/>
              </a:rPr>
              <a:t>Đoạn mới 50 ms</a:t>
            </a:r>
            <a:endParaRPr lang="en-US" sz="1400" dirty="0">
              <a:latin typeface="Times New Roman" panose="02020603050405020304" pitchFamily="18" charset="0"/>
              <a:cs typeface="Times New Roman" panose="02020603050405020304" pitchFamily="18" charset="0"/>
            </a:endParaRPr>
          </a:p>
        </p:txBody>
      </p:sp>
      <p:sp>
        <p:nvSpPr>
          <p:cNvPr id="8" name="Text 6"/>
          <p:cNvSpPr/>
          <p:nvPr/>
        </p:nvSpPr>
        <p:spPr>
          <a:xfrm>
            <a:off x="812800" y="2701410"/>
            <a:ext cx="3270250"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Ghép thêm để bộ lọc qua quá độ 62 ms</a:t>
            </a:r>
            <a:endParaRPr lang="en-US" sz="1200" dirty="0">
              <a:latin typeface="Times New Roman" panose="02020603050405020304" pitchFamily="18" charset="0"/>
              <a:cs typeface="Times New Roman" panose="02020603050405020304" pitchFamily="18" charset="0"/>
            </a:endParaRPr>
          </a:p>
        </p:txBody>
      </p:sp>
      <p:pic>
        <p:nvPicPr>
          <p:cNvPr id="9" name="Image 0" descr="arrow-right"/>
          <p:cNvPicPr>
            <a:picLocks noChangeAspect="1"/>
          </p:cNvPicPr>
          <p:nvPr/>
        </p:nvPicPr>
        <p:blipFill>
          <a:blip r:embed="rId3"/>
          <a:srcRect/>
          <a:stretch/>
        </p:blipFill>
        <p:spPr>
          <a:xfrm>
            <a:off x="4089400" y="2413112"/>
            <a:ext cx="406400" cy="215900"/>
          </a:xfrm>
          <a:prstGeom prst="rect">
            <a:avLst/>
          </a:prstGeom>
        </p:spPr>
      </p:pic>
      <p:sp>
        <p:nvSpPr>
          <p:cNvPr id="10" name="Text 7"/>
          <p:cNvSpPr/>
          <p:nvPr/>
        </p:nvSpPr>
        <p:spPr>
          <a:xfrm>
            <a:off x="4606925" y="2257196"/>
            <a:ext cx="1852046" cy="527730"/>
          </a:xfrm>
          <a:prstGeom prst="rect">
            <a:avLst/>
          </a:prstGeom>
          <a:solidFill>
            <a:srgbClr val="FFFFFF"/>
          </a:solidFill>
          <a:ln w="19050">
            <a:solidFill>
              <a:srgbClr val="33415C"/>
            </a:solidFill>
            <a:prstDash val="solid"/>
          </a:ln>
        </p:spPr>
        <p:txBody>
          <a:bodyPr wrap="square" lIns="84818" tIns="148318" rIns="84818" bIns="122918" rtlCol="0" anchor="t">
            <a:normAutofit/>
          </a:bodyPr>
          <a:lstStyle/>
          <a:p>
            <a:pPr marL="0" indent="0" algn="ctr">
              <a:lnSpc>
                <a:spcPts val="1820"/>
              </a:lnSpc>
              <a:buNone/>
            </a:pPr>
            <a:r>
              <a:rPr lang="en-US" sz="1400" b="1" dirty="0">
                <a:solidFill>
                  <a:srgbClr val="1F2A44"/>
                </a:solidFill>
                <a:latin typeface="Times New Roman" panose="02020603050405020304" pitchFamily="18" charset="0"/>
                <a:ea typeface="Open Sans" pitchFamily="34" charset="-122"/>
                <a:cs typeface="Times New Roman" panose="02020603050405020304" pitchFamily="18" charset="0"/>
              </a:rPr>
              <a:t>Bộ giải mã khối</a:t>
            </a:r>
            <a:endParaRPr lang="en-US" sz="1400" dirty="0">
              <a:latin typeface="Times New Roman" panose="02020603050405020304" pitchFamily="18" charset="0"/>
              <a:cs typeface="Times New Roman" panose="02020603050405020304" pitchFamily="18" charset="0"/>
            </a:endParaRPr>
          </a:p>
        </p:txBody>
      </p:sp>
      <p:pic>
        <p:nvPicPr>
          <p:cNvPr id="11" name="Image 1" descr="arrow-right"/>
          <p:cNvPicPr>
            <a:picLocks noChangeAspect="1"/>
          </p:cNvPicPr>
          <p:nvPr/>
        </p:nvPicPr>
        <p:blipFill>
          <a:blip r:embed="rId3"/>
          <a:srcRect/>
          <a:stretch/>
        </p:blipFill>
        <p:spPr>
          <a:xfrm>
            <a:off x="6570096" y="2413112"/>
            <a:ext cx="406400" cy="215900"/>
          </a:xfrm>
          <a:prstGeom prst="rect">
            <a:avLst/>
          </a:prstGeom>
        </p:spPr>
      </p:pic>
      <p:sp>
        <p:nvSpPr>
          <p:cNvPr id="12" name="Text 8"/>
          <p:cNvSpPr/>
          <p:nvPr/>
        </p:nvSpPr>
        <p:spPr>
          <a:xfrm>
            <a:off x="7084446" y="2261276"/>
            <a:ext cx="1843938" cy="519566"/>
          </a:xfrm>
          <a:prstGeom prst="rect">
            <a:avLst/>
          </a:prstGeom>
          <a:solidFill>
            <a:srgbClr val="E2EFDA"/>
          </a:solidFill>
          <a:ln w="12700">
            <a:solidFill>
              <a:srgbClr val="2E9E4F"/>
            </a:solidFill>
            <a:prstDash val="solid"/>
          </a:ln>
        </p:spPr>
        <p:txBody>
          <a:bodyPr wrap="square" lIns="80736" tIns="144236" rIns="80736" bIns="118836"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Đủ 2 khung</a:t>
            </a:r>
            <a:endParaRPr lang="en-US" sz="1400" dirty="0">
              <a:latin typeface="Times New Roman" panose="02020603050405020304" pitchFamily="18" charset="0"/>
              <a:cs typeface="Times New Roman" panose="02020603050405020304" pitchFamily="18" charset="0"/>
            </a:endParaRPr>
          </a:p>
        </p:txBody>
      </p:sp>
      <p:pic>
        <p:nvPicPr>
          <p:cNvPr id="13" name="Image 2" descr="arrow-right"/>
          <p:cNvPicPr>
            <a:picLocks noChangeAspect="1"/>
          </p:cNvPicPr>
          <p:nvPr/>
        </p:nvPicPr>
        <p:blipFill>
          <a:blip r:embed="rId3"/>
          <a:srcRect/>
          <a:stretch/>
        </p:blipFill>
        <p:spPr>
          <a:xfrm>
            <a:off x="9036334" y="2413112"/>
            <a:ext cx="406400" cy="215900"/>
          </a:xfrm>
          <a:prstGeom prst="rect">
            <a:avLst/>
          </a:prstGeom>
        </p:spPr>
      </p:pic>
      <p:sp>
        <p:nvSpPr>
          <p:cNvPr id="14" name="Text 9"/>
          <p:cNvSpPr/>
          <p:nvPr/>
        </p:nvSpPr>
        <p:spPr>
          <a:xfrm>
            <a:off x="9544334" y="2265815"/>
            <a:ext cx="1834867" cy="510495"/>
          </a:xfrm>
          <a:prstGeom prst="rect">
            <a:avLst/>
          </a:prstGeom>
          <a:solidFill>
            <a:srgbClr val="178A48"/>
          </a:solidFill>
          <a:ln/>
        </p:spPr>
        <p:txBody>
          <a:bodyPr wrap="square" lIns="76200" tIns="139700" rIns="76200" bIns="114300" rtlCol="0" anchor="t">
            <a:normAutofit/>
          </a:bodyPr>
          <a:lstStyle/>
          <a:p>
            <a:pPr marL="0" indent="0" algn="ctr">
              <a:lnSpc>
                <a:spcPts val="1820"/>
              </a:lnSpc>
              <a:buNone/>
            </a:pPr>
            <a:r>
              <a:rPr lang="en-US" sz="1400" b="1" dirty="0">
                <a:solidFill>
                  <a:srgbClr val="FDFDFB"/>
                </a:solidFill>
                <a:latin typeface="Times New Roman" panose="02020603050405020304" pitchFamily="18" charset="0"/>
                <a:ea typeface="Open Sans" pitchFamily="34" charset="-122"/>
                <a:cs typeface="Times New Roman" panose="02020603050405020304" pitchFamily="18" charset="0"/>
              </a:rPr>
              <a:t>Báo phím ngay</a:t>
            </a:r>
            <a:endParaRPr lang="en-US" sz="1400" dirty="0">
              <a:latin typeface="Times New Roman" panose="02020603050405020304" pitchFamily="18" charset="0"/>
              <a:cs typeface="Times New Roman" panose="02020603050405020304" pitchFamily="18" charset="0"/>
            </a:endParaRPr>
          </a:p>
        </p:txBody>
      </p:sp>
      <p:sp>
        <p:nvSpPr>
          <p:cNvPr id="15" name="Shape 10"/>
          <p:cNvSpPr/>
          <p:nvPr/>
        </p:nvSpPr>
        <p:spPr>
          <a:xfrm>
            <a:off x="812800" y="3669785"/>
            <a:ext cx="2667000" cy="1000692"/>
          </a:xfrm>
          <a:prstGeom prst="rect">
            <a:avLst/>
          </a:prstGeom>
          <a:solidFill>
            <a:srgbClr val="E8F5EE"/>
          </a:solidFill>
          <a:ln/>
        </p:spPr>
      </p:sp>
      <p:sp>
        <p:nvSpPr>
          <p:cNvPr id="16" name="Text 11"/>
          <p:cNvSpPr/>
          <p:nvPr/>
        </p:nvSpPr>
        <p:spPr>
          <a:xfrm>
            <a:off x="1384238" y="3796785"/>
            <a:ext cx="1524068" cy="528297"/>
          </a:xfrm>
          <a:prstGeom prst="rect">
            <a:avLst/>
          </a:prstGeom>
          <a:noFill/>
          <a:ln/>
        </p:spPr>
        <p:txBody>
          <a:bodyPr wrap="square" lIns="0" tIns="0" rIns="0" bIns="0" rtlCol="0" anchor="t">
            <a:normAutofit/>
          </a:bodyPr>
          <a:lstStyle/>
          <a:p>
            <a:pPr marL="0" indent="0" algn="ctr">
              <a:lnSpc>
                <a:spcPts val="3960"/>
              </a:lnSpc>
              <a:buNone/>
            </a:pPr>
            <a:r>
              <a:rPr lang="en-US" sz="3600" b="1" dirty="0">
                <a:solidFill>
                  <a:srgbClr val="178A48"/>
                </a:solidFill>
                <a:latin typeface="Times New Roman" panose="02020603050405020304" pitchFamily="18" charset="0"/>
                <a:ea typeface="Tinos" pitchFamily="18" charset="-122"/>
                <a:cs typeface="Times New Roman" panose="02020603050405020304" pitchFamily="18" charset="0"/>
              </a:rPr>
              <a:t>96 / 96</a:t>
            </a:r>
            <a:endParaRPr lang="en-US" sz="3600" dirty="0">
              <a:latin typeface="Times New Roman" panose="02020603050405020304" pitchFamily="18" charset="0"/>
              <a:cs typeface="Times New Roman" panose="02020603050405020304" pitchFamily="18" charset="0"/>
            </a:endParaRPr>
          </a:p>
        </p:txBody>
      </p:sp>
      <p:sp>
        <p:nvSpPr>
          <p:cNvPr id="17" name="Text 12"/>
          <p:cNvSpPr/>
          <p:nvPr/>
        </p:nvSpPr>
        <p:spPr>
          <a:xfrm>
            <a:off x="1097943" y="4312382"/>
            <a:ext cx="2096657"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ca luồng khớp hệt khối</a:t>
            </a:r>
            <a:endParaRPr lang="en-US" sz="1300" dirty="0">
              <a:latin typeface="Times New Roman" panose="02020603050405020304" pitchFamily="18" charset="0"/>
              <a:cs typeface="Times New Roman" panose="02020603050405020304" pitchFamily="18" charset="0"/>
            </a:endParaRPr>
          </a:p>
        </p:txBody>
      </p:sp>
      <p:sp>
        <p:nvSpPr>
          <p:cNvPr id="18" name="Shape 13"/>
          <p:cNvSpPr/>
          <p:nvPr/>
        </p:nvSpPr>
        <p:spPr>
          <a:xfrm>
            <a:off x="812800" y="4822881"/>
            <a:ext cx="2667000" cy="1000692"/>
          </a:xfrm>
          <a:prstGeom prst="rect">
            <a:avLst/>
          </a:prstGeom>
          <a:solidFill>
            <a:srgbClr val="DEEBF7"/>
          </a:solidFill>
          <a:ln/>
        </p:spPr>
      </p:sp>
      <p:sp>
        <p:nvSpPr>
          <p:cNvPr id="19" name="Text 14"/>
          <p:cNvSpPr/>
          <p:nvPr/>
        </p:nvSpPr>
        <p:spPr>
          <a:xfrm>
            <a:off x="1106040" y="4949881"/>
            <a:ext cx="2080464" cy="528297"/>
          </a:xfrm>
          <a:prstGeom prst="rect">
            <a:avLst/>
          </a:prstGeom>
          <a:noFill/>
          <a:ln/>
        </p:spPr>
        <p:txBody>
          <a:bodyPr wrap="square" lIns="0" tIns="0" rIns="0" bIns="0" rtlCol="0" anchor="t">
            <a:normAutofit/>
          </a:bodyPr>
          <a:lstStyle/>
          <a:p>
            <a:pPr marL="0" indent="0" algn="ctr">
              <a:lnSpc>
                <a:spcPts val="3960"/>
              </a:lnSpc>
              <a:buNone/>
            </a:pPr>
            <a:r>
              <a:rPr lang="en-US" sz="3600" b="1" dirty="0">
                <a:solidFill>
                  <a:srgbClr val="1F4E9A"/>
                </a:solidFill>
                <a:latin typeface="Times New Roman" panose="02020603050405020304" pitchFamily="18" charset="0"/>
                <a:ea typeface="Tinos" pitchFamily="18" charset="-122"/>
                <a:cs typeface="Times New Roman" panose="02020603050405020304" pitchFamily="18" charset="0"/>
              </a:rPr>
              <a:t>&lt; 100 ms</a:t>
            </a:r>
            <a:endParaRPr lang="en-US" sz="3600" dirty="0">
              <a:latin typeface="Times New Roman" panose="02020603050405020304" pitchFamily="18" charset="0"/>
              <a:cs typeface="Times New Roman" panose="02020603050405020304" pitchFamily="18" charset="0"/>
            </a:endParaRPr>
          </a:p>
        </p:txBody>
      </p:sp>
      <p:sp>
        <p:nvSpPr>
          <p:cNvPr id="20" name="Text 15"/>
          <p:cNvSpPr/>
          <p:nvPr/>
        </p:nvSpPr>
        <p:spPr>
          <a:xfrm>
            <a:off x="812800" y="5465477"/>
            <a:ext cx="266700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trễ thuật toán, trước khi âm tắt</a:t>
            </a:r>
            <a:endParaRPr lang="en-US" sz="1300" dirty="0">
              <a:latin typeface="Times New Roman" panose="02020603050405020304" pitchFamily="18" charset="0"/>
              <a:cs typeface="Times New Roman" panose="02020603050405020304" pitchFamily="18" charset="0"/>
            </a:endParaRPr>
          </a:p>
        </p:txBody>
      </p:sp>
      <p:sp>
        <p:nvSpPr>
          <p:cNvPr id="21" name="Text 16"/>
          <p:cNvSpPr/>
          <p:nvPr/>
        </p:nvSpPr>
        <p:spPr>
          <a:xfrm>
            <a:off x="3784600" y="3655219"/>
            <a:ext cx="7822438"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F4E9A"/>
                </a:solidFill>
                <a:latin typeface="Times New Roman" panose="02020603050405020304" pitchFamily="18" charset="0"/>
                <a:ea typeface="Open Sans" pitchFamily="34" charset="-122"/>
                <a:cs typeface="Times New Roman" panose="02020603050405020304" pitchFamily="18" charset="0"/>
              </a:rPr>
              <a:t>Độ trễ báo phím, tính từ lúc âm bắt đầu</a:t>
            </a:r>
            <a:endParaRPr lang="en-US" sz="1400" dirty="0">
              <a:latin typeface="Times New Roman" panose="02020603050405020304" pitchFamily="18" charset="0"/>
              <a:cs typeface="Times New Roman" panose="02020603050405020304" pitchFamily="18" charset="0"/>
            </a:endParaRPr>
          </a:p>
        </p:txBody>
      </p:sp>
      <p:sp>
        <p:nvSpPr>
          <p:cNvPr id="22" name="Shape 17"/>
          <p:cNvSpPr/>
          <p:nvPr/>
        </p:nvSpPr>
        <p:spPr>
          <a:xfrm>
            <a:off x="3784600" y="3985758"/>
            <a:ext cx="7594600" cy="0"/>
          </a:xfrm>
          <a:prstGeom prst="line">
            <a:avLst/>
          </a:prstGeom>
          <a:noFill/>
          <a:ln w="10886">
            <a:solidFill>
              <a:srgbClr val="141413">
                <a:alpha val="22000"/>
              </a:srgbClr>
            </a:solidFill>
            <a:prstDash val="solid"/>
          </a:ln>
        </p:spPr>
      </p:sp>
      <p:sp>
        <p:nvSpPr>
          <p:cNvPr id="23" name="Shape 18"/>
          <p:cNvSpPr/>
          <p:nvPr/>
        </p:nvSpPr>
        <p:spPr>
          <a:xfrm>
            <a:off x="3790043" y="3980315"/>
            <a:ext cx="0" cy="1857829"/>
          </a:xfrm>
          <a:prstGeom prst="line">
            <a:avLst/>
          </a:prstGeom>
          <a:noFill/>
          <a:ln w="10886">
            <a:solidFill>
              <a:srgbClr val="141413">
                <a:alpha val="22000"/>
              </a:srgbClr>
            </a:solidFill>
            <a:prstDash val="solid"/>
          </a:ln>
        </p:spPr>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922486" y="4092801"/>
          <a:ext cx="7329714" cy="1643744"/>
        </p:xfrm>
        <a:graphic>
          <a:graphicData uri="http://schemas.openxmlformats.org/drawingml/2006/table">
            <a:tbl>
              <a:tblPr/>
              <a:tblGrid>
                <a:gridCol w="2931886">
                  <a:extLst>
                    <a:ext uri="{9D8B030D-6E8A-4147-A177-3AD203B41FA5}">
                      <a16:colId xmlns:a16="http://schemas.microsoft.com/office/drawing/2014/main" val="20000"/>
                    </a:ext>
                  </a:extLst>
                </a:gridCol>
                <a:gridCol w="2198914">
                  <a:extLst>
                    <a:ext uri="{9D8B030D-6E8A-4147-A177-3AD203B41FA5}">
                      <a16:colId xmlns:a16="http://schemas.microsoft.com/office/drawing/2014/main" val="20001"/>
                    </a:ext>
                  </a:extLst>
                </a:gridCol>
                <a:gridCol w="2198914">
                  <a:extLst>
                    <a:ext uri="{9D8B030D-6E8A-4147-A177-3AD203B41FA5}">
                      <a16:colId xmlns:a16="http://schemas.microsoft.com/office/drawing/2014/main" val="20002"/>
                    </a:ext>
                  </a:extLst>
                </a:gridCol>
              </a:tblGrid>
              <a:tr h="410936">
                <a:tc>
                  <a:txBody>
                    <a:bodyPr/>
                    <a:lstStyle/>
                    <a:p>
                      <a:pPr marL="0" indent="0">
                        <a:lnSpc>
                          <a:spcPts val="2100"/>
                        </a:lnSpc>
                        <a:buNone/>
                      </a:pPr>
                      <a:r>
                        <a:rPr lang="en-US" sz="1500" b="1" dirty="0">
                          <a:solidFill>
                            <a:srgbClr val="1F2A44"/>
                          </a:solidFill>
                          <a:latin typeface="Open Sans" pitchFamily="34" charset="0"/>
                          <a:ea typeface="Open Sans" pitchFamily="34" charset="-122"/>
                          <a:cs typeface="Open Sans" pitchFamily="34" charset="-120"/>
                        </a:rPr>
                        <a:t>Phương pháp</a:t>
                      </a:r>
                      <a:endParaRPr lang="en-US" sz="1500" dirty="0">
                        <a:latin typeface="Open Sans" charset="0"/>
                        <a:ea typeface="Open Sans" charset="0"/>
                        <a:cs typeface="Open Sans" charset="0"/>
                      </a:endParaRPr>
                    </a:p>
                  </a:txBody>
                  <a:tcPr marL="66675" marR="66675" marT="66675" marB="66675">
                    <a:lnL w="0" cap="flat" cmpd="sng" algn="ctr">
                      <a:noFill/>
                    </a:lnL>
                    <a:lnR w="12700" cap="flat" cmpd="sng" algn="ctr">
                      <a:solidFill>
                        <a:srgbClr val="BEC0C3"/>
                      </a:solidFill>
                      <a:prstDash val="solid"/>
                      <a:round/>
                      <a:headEnd type="none" w="med" len="med"/>
                      <a:tailEnd type="none" w="med" len="med"/>
                    </a:lnR>
                    <a:lnT w="0" cap="flat" cmpd="sng" algn="ctr">
                      <a:noFill/>
                    </a:lnT>
                    <a:lnB w="12700" cap="flat" cmpd="sng" algn="ctr">
                      <a:solidFill>
                        <a:srgbClr val="BEC0C3"/>
                      </a:solidFill>
                      <a:prstDash val="solid"/>
                      <a:round/>
                      <a:headEnd type="none" w="med" len="med"/>
                      <a:tailEnd type="none" w="med" len="med"/>
                    </a:lnB>
                    <a:solidFill>
                      <a:srgbClr val="EEF1F5"/>
                    </a:solidFill>
                  </a:tcPr>
                </a:tc>
                <a:tc>
                  <a:txBody>
                    <a:bodyPr/>
                    <a:lstStyle/>
                    <a:p>
                      <a:pPr marL="0" indent="0" algn="ctr">
                        <a:lnSpc>
                          <a:spcPts val="2100"/>
                        </a:lnSpc>
                        <a:buNone/>
                      </a:pPr>
                      <a:r>
                        <a:rPr lang="en-US" sz="1500" b="1" dirty="0">
                          <a:solidFill>
                            <a:srgbClr val="1F2A44"/>
                          </a:solidFill>
                          <a:latin typeface="Open Sans" pitchFamily="34" charset="0"/>
                          <a:ea typeface="Open Sans" pitchFamily="34" charset="-122"/>
                          <a:cs typeface="Open Sans" pitchFamily="34" charset="-120"/>
                        </a:rPr>
                        <a:t>Thuật toán</a:t>
                      </a:r>
                      <a:endParaRPr lang="en-US" sz="1500" dirty="0">
                        <a:latin typeface="Open Sans" charset="0"/>
                        <a:ea typeface="Open Sans" charset="0"/>
                        <a:cs typeface="Open Sans" charset="0"/>
                      </a:endParaRPr>
                    </a:p>
                  </a:txBody>
                  <a:tcPr marL="66675" marR="66675" marT="66675" marB="66675">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0" cap="flat" cmpd="sng" algn="ctr">
                      <a:noFill/>
                    </a:lnT>
                    <a:lnB w="12700" cap="flat" cmpd="sng" algn="ctr">
                      <a:solidFill>
                        <a:srgbClr val="BEC0C3"/>
                      </a:solidFill>
                      <a:prstDash val="solid"/>
                      <a:round/>
                      <a:headEnd type="none" w="med" len="med"/>
                      <a:tailEnd type="none" w="med" len="med"/>
                    </a:lnB>
                    <a:solidFill>
                      <a:srgbClr val="EEF1F5"/>
                    </a:solidFill>
                  </a:tcPr>
                </a:tc>
                <a:tc>
                  <a:txBody>
                    <a:bodyPr/>
                    <a:lstStyle/>
                    <a:p>
                      <a:pPr marL="0" indent="0" algn="ctr">
                        <a:lnSpc>
                          <a:spcPts val="2100"/>
                        </a:lnSpc>
                        <a:buNone/>
                      </a:pPr>
                      <a:r>
                        <a:rPr lang="en-US" sz="1500" b="1" dirty="0">
                          <a:solidFill>
                            <a:srgbClr val="1F2A44"/>
                          </a:solidFill>
                          <a:latin typeface="Open Sans" pitchFamily="34" charset="0"/>
                          <a:ea typeface="Open Sans" pitchFamily="34" charset="-122"/>
                          <a:cs typeface="Open Sans" pitchFamily="34" charset="-120"/>
                        </a:rPr>
                        <a:t>Đọc mỗi 50 ms</a:t>
                      </a:r>
                      <a:endParaRPr lang="en-US" sz="1500" dirty="0">
                        <a:latin typeface="Open Sans" charset="0"/>
                        <a:ea typeface="Open Sans" charset="0"/>
                        <a:cs typeface="Open Sans" charset="0"/>
                      </a:endParaRPr>
                    </a:p>
                  </a:txBody>
                  <a:tcPr marL="66675" marR="66675" marT="66675" marB="66675">
                    <a:lnL w="12700" cap="flat" cmpd="sng" algn="ctr">
                      <a:solidFill>
                        <a:srgbClr val="BEC0C3"/>
                      </a:solidFill>
                      <a:prstDash val="solid"/>
                      <a:round/>
                      <a:headEnd type="none" w="med" len="med"/>
                      <a:tailEnd type="none" w="med" len="med"/>
                    </a:lnL>
                    <a:lnR w="12700" cap="flat" cmpd="sng" algn="ctr">
                      <a:solidFill>
                        <a:srgbClr val="BEC0C3"/>
                      </a:solidFill>
                      <a:prstDash val="solid"/>
                      <a:round/>
                      <a:headEnd type="none" w="med" len="med"/>
                      <a:tailEnd type="none" w="med" len="med"/>
                    </a:lnR>
                    <a:lnT w="0" cap="flat" cmpd="sng" algn="ctr">
                      <a:noFill/>
                    </a:lnT>
                    <a:lnB w="12700" cap="flat" cmpd="sng" algn="ctr">
                      <a:solidFill>
                        <a:srgbClr val="BEC0C3"/>
                      </a:solidFill>
                      <a:prstDash val="solid"/>
                      <a:round/>
                      <a:headEnd type="none" w="med" len="med"/>
                      <a:tailEnd type="none" w="med" len="med"/>
                    </a:lnB>
                    <a:solidFill>
                      <a:srgbClr val="EEF1F5"/>
                    </a:solidFill>
                  </a:tcPr>
                </a:tc>
                <a:extLst>
                  <a:ext uri="{0D108BD9-81ED-4DB2-BD59-A6C34878D82A}">
                    <a16:rowId xmlns:a16="http://schemas.microsoft.com/office/drawing/2014/main" val="10000"/>
                  </a:ext>
                </a:extLst>
              </a:tr>
              <a:tr h="410936">
                <a:tc>
                  <a:txBody>
                    <a:bodyPr/>
                    <a:lstStyle/>
                    <a:p>
                      <a:pPr marL="0" indent="0">
                        <a:lnSpc>
                          <a:spcPts val="2100"/>
                        </a:lnSpc>
                        <a:buNone/>
                      </a:pPr>
                      <a:r>
                        <a:rPr lang="en-US" sz="1500" dirty="0">
                          <a:solidFill>
                            <a:srgbClr val="0B64A8"/>
                          </a:solidFill>
                          <a:latin typeface="Open Sans" pitchFamily="34" charset="0"/>
                          <a:ea typeface="Open Sans" pitchFamily="34" charset="-122"/>
                          <a:cs typeface="Open Sans" pitchFamily="34" charset="-120"/>
                        </a:rPr>
                        <a:t>FFT</a:t>
                      </a:r>
                      <a:endParaRPr lang="en-US" sz="1500" dirty="0">
                        <a:latin typeface="Open Sans" charset="0"/>
                        <a:ea typeface="Open Sans" charset="0"/>
                        <a:cs typeface="Open Sans" charset="0"/>
                      </a:endParaRPr>
                    </a:p>
                  </a:txBody>
                  <a:tcPr marL="66675" marR="66675" marT="66675" marB="66675">
                    <a:lnL w="0" cap="flat" cmpd="sng" algn="ctr">
                      <a:noFill/>
                    </a:lnL>
                    <a:lnR w="12700" cap="flat" cmpd="sng" algn="ctr">
                      <a:solidFill>
                        <a:srgbClr val="CACA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40–61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44–93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BEC0C3"/>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extLst>
                  <a:ext uri="{0D108BD9-81ED-4DB2-BD59-A6C34878D82A}">
                    <a16:rowId xmlns:a16="http://schemas.microsoft.com/office/drawing/2014/main" val="10001"/>
                  </a:ext>
                </a:extLst>
              </a:tr>
              <a:tr h="410936">
                <a:tc>
                  <a:txBody>
                    <a:bodyPr/>
                    <a:lstStyle/>
                    <a:p>
                      <a:pPr marL="0" indent="0">
                        <a:lnSpc>
                          <a:spcPts val="2100"/>
                        </a:lnSpc>
                        <a:buNone/>
                      </a:pPr>
                      <a:r>
                        <a:rPr lang="en-US" sz="1500" dirty="0">
                          <a:solidFill>
                            <a:srgbClr val="B8480F"/>
                          </a:solidFill>
                          <a:latin typeface="Open Sans" pitchFamily="34" charset="0"/>
                          <a:ea typeface="Open Sans" pitchFamily="34" charset="-122"/>
                          <a:cs typeface="Open Sans" pitchFamily="34" charset="-120"/>
                        </a:rPr>
                        <a:t>Goertzel</a:t>
                      </a:r>
                      <a:endParaRPr lang="en-US" sz="1500" dirty="0">
                        <a:latin typeface="Open Sans" charset="0"/>
                        <a:ea typeface="Open Sans" charset="0"/>
                        <a:cs typeface="Open Sans" charset="0"/>
                      </a:endParaRPr>
                    </a:p>
                  </a:txBody>
                  <a:tcPr marL="66675" marR="66675" marT="66675" marB="66675">
                    <a:lnL w="0" cap="flat" cmpd="sng" algn="ctr">
                      <a:noFill/>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49–74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68–117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extLst>
                  <a:ext uri="{0D108BD9-81ED-4DB2-BD59-A6C34878D82A}">
                    <a16:rowId xmlns:a16="http://schemas.microsoft.com/office/drawing/2014/main" val="10002"/>
                  </a:ext>
                </a:extLst>
              </a:tr>
              <a:tr h="410936">
                <a:tc>
                  <a:txBody>
                    <a:bodyPr/>
                    <a:lstStyle/>
                    <a:p>
                      <a:pPr marL="0" indent="0">
                        <a:lnSpc>
                          <a:spcPts val="2100"/>
                        </a:lnSpc>
                        <a:buNone/>
                      </a:pPr>
                      <a:r>
                        <a:rPr lang="en-US" sz="1500" dirty="0">
                          <a:solidFill>
                            <a:srgbClr val="0B7F58"/>
                          </a:solidFill>
                          <a:latin typeface="Open Sans" pitchFamily="34" charset="0"/>
                          <a:ea typeface="Open Sans" pitchFamily="34" charset="-122"/>
                          <a:cs typeface="Open Sans" pitchFamily="34" charset="-120"/>
                        </a:rPr>
                        <a:t>Ngân hàng lọc</a:t>
                      </a:r>
                      <a:endParaRPr lang="en-US" sz="1500" dirty="0">
                        <a:latin typeface="Open Sans" charset="0"/>
                        <a:ea typeface="Open Sans" charset="0"/>
                        <a:cs typeface="Open Sans" charset="0"/>
                      </a:endParaRPr>
                    </a:p>
                  </a:txBody>
                  <a:tcPr marL="66675" marR="66675" marT="66675" marB="66675">
                    <a:lnL w="0" cap="flat" cmpd="sng" algn="ctr">
                      <a:noFill/>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65–90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tc>
                  <a:txBody>
                    <a:bodyPr/>
                    <a:lstStyle/>
                    <a:p>
                      <a:pPr marL="0" indent="0" algn="ctr">
                        <a:lnSpc>
                          <a:spcPts val="2100"/>
                        </a:lnSpc>
                        <a:buNone/>
                      </a:pPr>
                      <a:r>
                        <a:rPr lang="en-US" sz="1500" dirty="0">
                          <a:solidFill>
                            <a:srgbClr val="1F2A44"/>
                          </a:solidFill>
                          <a:latin typeface="Open Sans" pitchFamily="34" charset="0"/>
                          <a:ea typeface="Open Sans" pitchFamily="34" charset="-122"/>
                          <a:cs typeface="Open Sans" pitchFamily="34" charset="-120"/>
                        </a:rPr>
                        <a:t>84–134 ms</a:t>
                      </a:r>
                      <a:endParaRPr lang="en-US" sz="1500" dirty="0">
                        <a:latin typeface="Open Sans" charset="0"/>
                        <a:ea typeface="Open Sans" charset="0"/>
                        <a:cs typeface="Open Sans" charset="0"/>
                      </a:endParaRPr>
                    </a:p>
                  </a:txBody>
                  <a:tcPr marL="66675" marR="66675" marT="66675" marB="66675">
                    <a:lnL w="12700" cap="flat" cmpd="sng" algn="ctr">
                      <a:solidFill>
                        <a:srgbClr val="CACAC8"/>
                      </a:solidFill>
                      <a:prstDash val="solid"/>
                      <a:round/>
                      <a:headEnd type="none" w="med" len="med"/>
                      <a:tailEnd type="none" w="med" len="med"/>
                    </a:lnL>
                    <a:lnR w="12700" cap="flat" cmpd="sng" algn="ctr">
                      <a:solidFill>
                        <a:srgbClr val="CACAC8"/>
                      </a:solidFill>
                      <a:prstDash val="solid"/>
                      <a:round/>
                      <a:headEnd type="none" w="med" len="med"/>
                      <a:tailEnd type="none" w="med" len="med"/>
                    </a:lnR>
                    <a:lnT w="12700" cap="flat" cmpd="sng" algn="ctr">
                      <a:solidFill>
                        <a:srgbClr val="CACAC8"/>
                      </a:solidFill>
                      <a:prstDash val="solid"/>
                      <a:round/>
                      <a:headEnd type="none" w="med" len="med"/>
                      <a:tailEnd type="none" w="med" len="med"/>
                    </a:lnT>
                    <a:lnB w="12700" cap="flat" cmpd="sng" algn="ctr">
                      <a:solidFill>
                        <a:srgbClr val="CACAC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14</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Web điện thoại</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Bấm phím như trên điện thoại thật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xem ngay tín hiệu trong hai miền</a:t>
            </a:r>
            <a:endParaRPr lang="en-US" sz="1700" dirty="0">
              <a:latin typeface="Times New Roman" panose="02020603050405020304" pitchFamily="18" charset="0"/>
              <a:cs typeface="Times New Roman" panose="02020603050405020304" pitchFamily="18" charset="0"/>
            </a:endParaRPr>
          </a:p>
        </p:txBody>
      </p:sp>
      <p:pic>
        <p:nvPicPr>
          <p:cNvPr id="6" name="Image 0" descr="Trang web điện thoại: bên trái màn hình cuộc gọi với bàn phím, đang bấm phím 2; bên phải (a) bảng tần số chọn 697 Hz và 1336 Hz, (b) hai sóng sin và tổng x(t), (c) phổ biên độ có đúng hai đỉnh"/>
          <p:cNvPicPr>
            <a:picLocks noChangeAspect="1"/>
          </p:cNvPicPr>
          <p:nvPr/>
        </p:nvPicPr>
        <p:blipFill>
          <a:blip r:embed="rId3"/>
          <a:srcRect l="-98" r="-98"/>
          <a:stretch/>
        </p:blipFill>
        <p:spPr>
          <a:xfrm>
            <a:off x="825500" y="2216206"/>
            <a:ext cx="5689600" cy="3943350"/>
          </a:xfrm>
          <a:prstGeom prst="rect">
            <a:avLst/>
          </a:prstGeom>
          <a:effectLst>
            <a:outerShdw blurRad="152400" dist="50800" dir="5400000" algn="bl" rotWithShape="0">
              <a:srgbClr val="1F2A44">
                <a:alpha val="12000"/>
              </a:srgbClr>
            </a:outerShdw>
          </a:effectLst>
        </p:spPr>
      </p:pic>
      <p:sp>
        <p:nvSpPr>
          <p:cNvPr id="7" name="Shape 4"/>
          <p:cNvSpPr/>
          <p:nvPr/>
        </p:nvSpPr>
        <p:spPr>
          <a:xfrm>
            <a:off x="819150" y="2209856"/>
            <a:ext cx="5702300" cy="3956050"/>
          </a:xfrm>
          <a:prstGeom prst="rect">
            <a:avLst/>
          </a:prstGeom>
          <a:noFill/>
          <a:ln w="12700">
            <a:solidFill>
              <a:srgbClr val="DDE1E7"/>
            </a:solidFill>
            <a:prstDash val="solid"/>
          </a:ln>
        </p:spPr>
      </p:sp>
      <p:sp>
        <p:nvSpPr>
          <p:cNvPr id="8" name="Shape 5"/>
          <p:cNvSpPr/>
          <p:nvPr/>
        </p:nvSpPr>
        <p:spPr>
          <a:xfrm>
            <a:off x="6851650" y="2473548"/>
            <a:ext cx="0" cy="600642"/>
          </a:xfrm>
          <a:prstGeom prst="line">
            <a:avLst/>
          </a:prstGeom>
          <a:noFill/>
          <a:ln w="38100">
            <a:solidFill>
              <a:srgbClr val="1F4E9A"/>
            </a:solidFill>
            <a:prstDash val="solid"/>
          </a:ln>
        </p:spPr>
      </p:sp>
      <p:sp>
        <p:nvSpPr>
          <p:cNvPr id="9" name="Text 6"/>
          <p:cNvSpPr/>
          <p:nvPr/>
        </p:nvSpPr>
        <p:spPr>
          <a:xfrm>
            <a:off x="7008586" y="2498948"/>
            <a:ext cx="4501733"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Phát đúng chuẩn</a:t>
            </a:r>
            <a:endParaRPr lang="en-US" sz="1600" dirty="0">
              <a:latin typeface="Times New Roman" panose="02020603050405020304" pitchFamily="18" charset="0"/>
              <a:cs typeface="Times New Roman" panose="02020603050405020304" pitchFamily="18" charset="0"/>
            </a:endParaRPr>
          </a:p>
        </p:txBody>
      </p:sp>
      <p:sp>
        <p:nvSpPr>
          <p:cNvPr id="10" name="Text 7"/>
          <p:cNvSpPr/>
          <p:nvPr/>
        </p:nvSpPr>
        <p:spPr>
          <a:xfrm>
            <a:off x="7008586" y="2808796"/>
            <a:ext cx="4501733"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phím: cặp tone ITU-T Q.23, ≥ 100 ms</a:t>
            </a:r>
            <a:endParaRPr lang="en-US" sz="1400" dirty="0">
              <a:latin typeface="Times New Roman" panose="02020603050405020304" pitchFamily="18" charset="0"/>
              <a:cs typeface="Times New Roman" panose="02020603050405020304" pitchFamily="18" charset="0"/>
            </a:endParaRPr>
          </a:p>
        </p:txBody>
      </p:sp>
      <p:sp>
        <p:nvSpPr>
          <p:cNvPr id="11" name="Shape 8"/>
          <p:cNvSpPr/>
          <p:nvPr/>
        </p:nvSpPr>
        <p:spPr>
          <a:xfrm>
            <a:off x="6851650" y="3251994"/>
            <a:ext cx="0" cy="600642"/>
          </a:xfrm>
          <a:prstGeom prst="line">
            <a:avLst/>
          </a:prstGeom>
          <a:noFill/>
          <a:ln w="38100">
            <a:solidFill>
              <a:srgbClr val="1F4E9A"/>
            </a:solidFill>
            <a:prstDash val="solid"/>
          </a:ln>
        </p:spPr>
      </p:sp>
      <p:sp>
        <p:nvSpPr>
          <p:cNvPr id="12" name="Text 9"/>
          <p:cNvSpPr/>
          <p:nvPr/>
        </p:nvSpPr>
        <p:spPr>
          <a:xfrm>
            <a:off x="7008586" y="3277394"/>
            <a:ext cx="4501733"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Ba hình minh hoạ</a:t>
            </a:r>
            <a:endParaRPr lang="en-US" sz="1600" dirty="0">
              <a:latin typeface="Times New Roman" panose="02020603050405020304" pitchFamily="18" charset="0"/>
              <a:cs typeface="Times New Roman" panose="02020603050405020304" pitchFamily="18" charset="0"/>
            </a:endParaRPr>
          </a:p>
        </p:txBody>
      </p:sp>
      <p:sp>
        <p:nvSpPr>
          <p:cNvPr id="13" name="Text 10"/>
          <p:cNvSpPr/>
          <p:nvPr/>
        </p:nvSpPr>
        <p:spPr>
          <a:xfrm>
            <a:off x="7008586" y="3587235"/>
            <a:ext cx="4501733"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Bảng tần số · miền thời gian · phổ hai đỉnh</a:t>
            </a:r>
            <a:endParaRPr lang="en-US" sz="1400" dirty="0">
              <a:latin typeface="Times New Roman" panose="02020603050405020304" pitchFamily="18" charset="0"/>
              <a:cs typeface="Times New Roman" panose="02020603050405020304" pitchFamily="18" charset="0"/>
            </a:endParaRPr>
          </a:p>
        </p:txBody>
      </p:sp>
      <p:sp>
        <p:nvSpPr>
          <p:cNvPr id="14" name="Shape 11"/>
          <p:cNvSpPr/>
          <p:nvPr/>
        </p:nvSpPr>
        <p:spPr>
          <a:xfrm>
            <a:off x="6851650" y="4030433"/>
            <a:ext cx="0" cy="600642"/>
          </a:xfrm>
          <a:prstGeom prst="line">
            <a:avLst/>
          </a:prstGeom>
          <a:noFill/>
          <a:ln w="38100">
            <a:solidFill>
              <a:srgbClr val="1F4E9A"/>
            </a:solidFill>
            <a:prstDash val="solid"/>
          </a:ln>
        </p:spPr>
      </p:sp>
      <p:sp>
        <p:nvSpPr>
          <p:cNvPr id="15" name="Text 12"/>
          <p:cNvSpPr/>
          <p:nvPr/>
        </p:nvSpPr>
        <p:spPr>
          <a:xfrm>
            <a:off x="7008586" y="4055833"/>
            <a:ext cx="4501733"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Tổng đài đọc lại</a:t>
            </a:r>
            <a:endParaRPr lang="en-US" sz="1600" dirty="0">
              <a:latin typeface="Times New Roman" panose="02020603050405020304" pitchFamily="18" charset="0"/>
              <a:cs typeface="Times New Roman" panose="02020603050405020304" pitchFamily="18" charset="0"/>
            </a:endParaRPr>
          </a:p>
        </p:txBody>
      </p:sp>
      <p:sp>
        <p:nvSpPr>
          <p:cNvPr id="16" name="Text 13"/>
          <p:cNvSpPr/>
          <p:nvPr/>
        </p:nvSpPr>
        <p:spPr>
          <a:xfrm>
            <a:off x="7008586" y="4365681"/>
            <a:ext cx="4501733"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Giọng thu sẵn đọc từng phím nhận được</a:t>
            </a:r>
            <a:endParaRPr lang="en-US" sz="1400" dirty="0">
              <a:latin typeface="Times New Roman" panose="02020603050405020304" pitchFamily="18" charset="0"/>
              <a:cs typeface="Times New Roman" panose="02020603050405020304" pitchFamily="18" charset="0"/>
            </a:endParaRPr>
          </a:p>
        </p:txBody>
      </p:sp>
      <p:sp>
        <p:nvSpPr>
          <p:cNvPr id="17" name="Shape 14"/>
          <p:cNvSpPr/>
          <p:nvPr/>
        </p:nvSpPr>
        <p:spPr>
          <a:xfrm>
            <a:off x="6851650" y="4808879"/>
            <a:ext cx="0" cy="600642"/>
          </a:xfrm>
          <a:prstGeom prst="line">
            <a:avLst/>
          </a:prstGeom>
          <a:noFill/>
          <a:ln w="38100">
            <a:solidFill>
              <a:srgbClr val="1F4E9A"/>
            </a:solidFill>
            <a:prstDash val="solid"/>
          </a:ln>
        </p:spPr>
      </p:sp>
      <p:sp>
        <p:nvSpPr>
          <p:cNvPr id="18" name="Text 15"/>
          <p:cNvSpPr/>
          <p:nvPr/>
        </p:nvSpPr>
        <p:spPr>
          <a:xfrm>
            <a:off x="7008586" y="4834279"/>
            <a:ext cx="4501733"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Tải WAV 8 kHz</a:t>
            </a:r>
            <a:endParaRPr lang="en-US" sz="1600" dirty="0">
              <a:latin typeface="Times New Roman" panose="02020603050405020304" pitchFamily="18" charset="0"/>
              <a:cs typeface="Times New Roman" panose="02020603050405020304" pitchFamily="18" charset="0"/>
            </a:endParaRPr>
          </a:p>
        </p:txBody>
      </p:sp>
      <p:sp>
        <p:nvSpPr>
          <p:cNvPr id="19" name="Text 16"/>
          <p:cNvSpPr/>
          <p:nvPr/>
        </p:nvSpPr>
        <p:spPr>
          <a:xfrm>
            <a:off x="7008586" y="5144120"/>
            <a:ext cx="4501733"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Cả ba bộ giải mã MATLAB đọc đúng</a:t>
            </a:r>
            <a:endParaRPr lang="en-US" sz="1400" dirty="0">
              <a:latin typeface="Times New Roman" panose="02020603050405020304" pitchFamily="18" charset="0"/>
              <a:cs typeface="Times New Roman" panose="02020603050405020304" pitchFamily="18" charset="0"/>
            </a:endParaRPr>
          </a:p>
        </p:txBody>
      </p:sp>
      <p:sp>
        <p:nvSpPr>
          <p:cNvPr id="20" name="Text 17"/>
          <p:cNvSpPr/>
          <p:nvPr/>
        </p:nvSpPr>
        <p:spPr>
          <a:xfrm>
            <a:off x="6832600" y="5587318"/>
            <a:ext cx="2081099" cy="314949"/>
          </a:xfrm>
          <a:prstGeom prst="rect">
            <a:avLst/>
          </a:prstGeom>
          <a:solidFill>
            <a:srgbClr val="F3F6FA"/>
          </a:solidFill>
          <a:ln/>
        </p:spPr>
        <p:txBody>
          <a:bodyPr wrap="none" lIns="0" tIns="0" rIns="0" bIns="0" rtlCol="0" anchor="ctr">
            <a:normAutofit/>
          </a:bodyPr>
          <a:lstStyle/>
          <a:p>
            <a:pPr marL="0" indent="0" algn="ctr">
              <a:lnSpc>
                <a:spcPts val="1680"/>
              </a:lnSpc>
              <a:buNone/>
            </a:pPr>
            <a:r>
              <a:rPr lang="en-US" sz="1200" b="1" dirty="0">
                <a:solidFill>
                  <a:srgbClr val="33415C"/>
                </a:solidFill>
                <a:latin typeface="Times New Roman" panose="02020603050405020304" pitchFamily="18" charset="0"/>
                <a:ea typeface="Open Sans" pitchFamily="34" charset="-122"/>
                <a:cs typeface="Times New Roman" panose="02020603050405020304" pitchFamily="18" charset="0"/>
              </a:rPr>
              <a:t>React · TypeScript · Vite</a:t>
            </a:r>
            <a:endParaRPr lang="en-US" sz="1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15</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Tổng đài trực tiếp DTMFLive</a:t>
            </a:r>
            <a:endParaRPr lang="en-US" sz="4400" dirty="0">
              <a:latin typeface="Times New Roman" panose="02020603050405020304" pitchFamily="18" charset="0"/>
              <a:cs typeface="Times New Roman" panose="02020603050405020304" pitchFamily="18" charset="0"/>
            </a:endParaRPr>
          </a:p>
        </p:txBody>
      </p:sp>
      <p:pic>
        <p:nvPicPr>
          <p:cNvPr id="5" name="Image 0" descr="Đường dây: trang web điện thoại gửi âm thanh PCM 8 kHz qua WebSocket tới cầu nối Node, cầu nối gửi JSON qua TCP cổng 8765 tới DTMFLine trong MATLAB, rồi dtmf_listen và DTMFLive; answer, key, hangup gửi ngược về trang"/>
          <p:cNvPicPr>
            <a:picLocks noChangeAspect="1"/>
          </p:cNvPicPr>
          <p:nvPr/>
        </p:nvPicPr>
        <p:blipFill>
          <a:blip r:embed="rId3"/>
          <a:srcRect l="-30" r="-30"/>
          <a:stretch/>
        </p:blipFill>
        <p:spPr>
          <a:xfrm>
            <a:off x="1143000" y="1244600"/>
            <a:ext cx="9906001" cy="1835150"/>
          </a:xfrm>
          <a:prstGeom prst="rect">
            <a:avLst/>
          </a:prstGeom>
        </p:spPr>
      </p:pic>
      <p:pic>
        <p:nvPicPr>
          <p:cNvPr id="6" name="Image 1" descr="Giao diện DTMFLive sau khi nhận chuỗi 0912345*#: bàn phím sáng phím #, dãy số đọc được 0912345*#, nhật ký từng phím, dạng sóng 3 s gần nhất, cận cảnh 32 ms, bản đồ 8 bin theo khung và 8 thanh của khung mới nhất"/>
          <p:cNvPicPr>
            <a:picLocks noChangeAspect="1"/>
          </p:cNvPicPr>
          <p:nvPr/>
        </p:nvPicPr>
        <p:blipFill>
          <a:blip r:embed="rId4"/>
          <a:srcRect l="-186" r="-186"/>
          <a:stretch/>
        </p:blipFill>
        <p:spPr>
          <a:xfrm>
            <a:off x="825500" y="3314700"/>
            <a:ext cx="5181600" cy="3003550"/>
          </a:xfrm>
          <a:prstGeom prst="rect">
            <a:avLst/>
          </a:prstGeom>
          <a:effectLst>
            <a:outerShdw blurRad="152400" dist="50800" dir="5400000" algn="bl" rotWithShape="0">
              <a:srgbClr val="1F2A44">
                <a:alpha val="12000"/>
              </a:srgbClr>
            </a:outerShdw>
          </a:effectLst>
        </p:spPr>
      </p:pic>
      <p:sp>
        <p:nvSpPr>
          <p:cNvPr id="7" name="Shape 3"/>
          <p:cNvSpPr/>
          <p:nvPr/>
        </p:nvSpPr>
        <p:spPr>
          <a:xfrm>
            <a:off x="819150" y="3308350"/>
            <a:ext cx="5194300" cy="3016250"/>
          </a:xfrm>
          <a:prstGeom prst="rect">
            <a:avLst/>
          </a:prstGeom>
          <a:noFill/>
          <a:ln w="12700">
            <a:solidFill>
              <a:srgbClr val="DDE1E7"/>
            </a:solidFill>
            <a:prstDash val="solid"/>
          </a:ln>
        </p:spPr>
      </p:sp>
      <p:sp>
        <p:nvSpPr>
          <p:cNvPr id="8" name="Shape 4"/>
          <p:cNvSpPr/>
          <p:nvPr/>
        </p:nvSpPr>
        <p:spPr>
          <a:xfrm>
            <a:off x="6324600" y="3790324"/>
            <a:ext cx="2463800" cy="947341"/>
          </a:xfrm>
          <a:prstGeom prst="rect">
            <a:avLst/>
          </a:prstGeom>
          <a:solidFill>
            <a:srgbClr val="E8F5EE"/>
          </a:solidFill>
          <a:ln/>
        </p:spPr>
      </p:sp>
      <p:sp>
        <p:nvSpPr>
          <p:cNvPr id="9" name="Text 5"/>
          <p:cNvSpPr/>
          <p:nvPr/>
        </p:nvSpPr>
        <p:spPr>
          <a:xfrm>
            <a:off x="7095898" y="3904624"/>
            <a:ext cx="921204" cy="500346"/>
          </a:xfrm>
          <a:prstGeom prst="rect">
            <a:avLst/>
          </a:prstGeom>
          <a:noFill/>
          <a:ln/>
        </p:spPr>
        <p:txBody>
          <a:bodyPr wrap="square" lIns="0" tIns="0" rIns="0" bIns="0" rtlCol="0" anchor="t">
            <a:normAutofit/>
          </a:bodyPr>
          <a:lstStyle/>
          <a:p>
            <a:pPr marL="0" indent="0" algn="ctr">
              <a:lnSpc>
                <a:spcPts val="3740"/>
              </a:lnSpc>
              <a:buNone/>
            </a:pPr>
            <a:r>
              <a:rPr lang="en-US" sz="3400" b="1" dirty="0">
                <a:solidFill>
                  <a:srgbClr val="178A48"/>
                </a:solidFill>
                <a:latin typeface="Times New Roman" panose="02020603050405020304" pitchFamily="18" charset="0"/>
                <a:ea typeface="Tinos" pitchFamily="18" charset="-122"/>
                <a:cs typeface="Times New Roman" panose="02020603050405020304" pitchFamily="18" charset="0"/>
              </a:rPr>
              <a:t>9 / 9</a:t>
            </a:r>
            <a:endParaRPr lang="en-US" sz="3400" dirty="0">
              <a:latin typeface="Times New Roman" panose="02020603050405020304" pitchFamily="18" charset="0"/>
              <a:cs typeface="Times New Roman" panose="02020603050405020304" pitchFamily="18" charset="0"/>
            </a:endParaRPr>
          </a:p>
        </p:txBody>
      </p:sp>
      <p:sp>
        <p:nvSpPr>
          <p:cNvPr id="10" name="Text 6"/>
          <p:cNvSpPr/>
          <p:nvPr/>
        </p:nvSpPr>
        <p:spPr>
          <a:xfrm>
            <a:off x="6863086" y="4392271"/>
            <a:ext cx="1386772"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phím đọc đúng</a:t>
            </a:r>
            <a:endParaRPr lang="en-US" sz="1300" dirty="0">
              <a:latin typeface="Times New Roman" panose="02020603050405020304" pitchFamily="18" charset="0"/>
              <a:cs typeface="Times New Roman" panose="02020603050405020304" pitchFamily="18" charset="0"/>
            </a:endParaRPr>
          </a:p>
        </p:txBody>
      </p:sp>
      <p:sp>
        <p:nvSpPr>
          <p:cNvPr id="11" name="Shape 7"/>
          <p:cNvSpPr/>
          <p:nvPr/>
        </p:nvSpPr>
        <p:spPr>
          <a:xfrm>
            <a:off x="8915401" y="3790324"/>
            <a:ext cx="2463800" cy="947341"/>
          </a:xfrm>
          <a:prstGeom prst="rect">
            <a:avLst/>
          </a:prstGeom>
          <a:solidFill>
            <a:srgbClr val="DEEBF7"/>
          </a:solidFill>
          <a:ln/>
        </p:spPr>
      </p:sp>
      <p:sp>
        <p:nvSpPr>
          <p:cNvPr id="12" name="Text 8"/>
          <p:cNvSpPr/>
          <p:nvPr/>
        </p:nvSpPr>
        <p:spPr>
          <a:xfrm>
            <a:off x="9528312" y="3904624"/>
            <a:ext cx="1237978" cy="500346"/>
          </a:xfrm>
          <a:prstGeom prst="rect">
            <a:avLst/>
          </a:prstGeom>
          <a:noFill/>
          <a:ln/>
        </p:spPr>
        <p:txBody>
          <a:bodyPr wrap="square" lIns="0" tIns="0" rIns="0" bIns="0" rtlCol="0" anchor="t">
            <a:normAutofit/>
          </a:bodyPr>
          <a:lstStyle/>
          <a:p>
            <a:pPr marL="0" indent="0" algn="ctr">
              <a:lnSpc>
                <a:spcPts val="3740"/>
              </a:lnSpc>
              <a:buNone/>
            </a:pPr>
            <a:r>
              <a:rPr lang="en-US" sz="3400" b="1" dirty="0">
                <a:solidFill>
                  <a:srgbClr val="1F4E9A"/>
                </a:solidFill>
                <a:latin typeface="Times New Roman" panose="02020603050405020304" pitchFamily="18" charset="0"/>
                <a:ea typeface="Tinos" pitchFamily="18" charset="-122"/>
                <a:cs typeface="Times New Roman" panose="02020603050405020304" pitchFamily="18" charset="0"/>
              </a:rPr>
              <a:t>0,24 s</a:t>
            </a:r>
            <a:endParaRPr lang="en-US" sz="3400" dirty="0">
              <a:latin typeface="Times New Roman" panose="02020603050405020304" pitchFamily="18" charset="0"/>
              <a:cs typeface="Times New Roman" panose="02020603050405020304" pitchFamily="18" charset="0"/>
            </a:endParaRPr>
          </a:p>
        </p:txBody>
      </p:sp>
      <p:sp>
        <p:nvSpPr>
          <p:cNvPr id="13" name="Text 9"/>
          <p:cNvSpPr/>
          <p:nvPr/>
        </p:nvSpPr>
        <p:spPr>
          <a:xfrm>
            <a:off x="9289035" y="4392271"/>
            <a:ext cx="1716473"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phím về điện thoại</a:t>
            </a:r>
            <a:endParaRPr lang="en-US" sz="1300" dirty="0">
              <a:latin typeface="Times New Roman" panose="02020603050405020304" pitchFamily="18" charset="0"/>
              <a:cs typeface="Times New Roman" panose="02020603050405020304" pitchFamily="18" charset="0"/>
            </a:endParaRPr>
          </a:p>
        </p:txBody>
      </p:sp>
      <p:sp>
        <p:nvSpPr>
          <p:cNvPr id="14" name="Text 10"/>
          <p:cNvSpPr/>
          <p:nvPr/>
        </p:nvSpPr>
        <p:spPr>
          <a:xfrm>
            <a:off x="6324600" y="4890064"/>
            <a:ext cx="5206238"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Trang gửi </a:t>
            </a: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chính âm thanh</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nó phát ra loa, không gửi tên phím</a:t>
            </a:r>
            <a:endParaRPr lang="en-US" sz="1500" dirty="0">
              <a:latin typeface="Times New Roman" panose="02020603050405020304" pitchFamily="18" charset="0"/>
              <a:cs typeface="Times New Roman" panose="02020603050405020304" pitchFamily="18" charset="0"/>
            </a:endParaRPr>
          </a:p>
        </p:txBody>
      </p:sp>
      <p:sp>
        <p:nvSpPr>
          <p:cNvPr id="15" name="Text 11"/>
          <p:cNvSpPr/>
          <p:nvPr/>
        </p:nvSpPr>
        <p:spPr>
          <a:xfrm>
            <a:off x="6324600" y="5575864"/>
            <a:ext cx="5206238"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Tổng đài </a:t>
            </a:r>
            <a:r>
              <a:rPr lang="en-US" sz="1500" dirty="0">
                <a:solidFill>
                  <a:srgbClr val="C00000"/>
                </a:solidFill>
                <a:latin typeface="Times New Roman" panose="02020603050405020304" pitchFamily="18" charset="0"/>
                <a:ea typeface="Open Sans" pitchFamily="34" charset="-122"/>
                <a:cs typeface="Times New Roman" panose="02020603050405020304" pitchFamily="18" charset="0"/>
              </a:rPr>
              <a:t>chỉ đọc lại phím MATLAB nghe được</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Giám định ghi âm DTMFForensic</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44"/>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MATLAB tìm lại số đã bấm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từ âm thanh</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và kết luận trước khi được xem số thật</a:t>
            </a:r>
            <a:endParaRPr lang="en-US" sz="1700" dirty="0">
              <a:latin typeface="Times New Roman" panose="02020603050405020304" pitchFamily="18" charset="0"/>
              <a:cs typeface="Times New Roman" panose="02020603050405020304" pitchFamily="18" charset="0"/>
            </a:endParaRPr>
          </a:p>
        </p:txBody>
      </p:sp>
      <p:pic>
        <p:nvPicPr>
          <p:cNvPr id="6" name="Image 0" descr="Trang giám định trên web: nhập số bí mật, chọn độ khó Quán cà phê, đoạn ghi âm 8,4 s có 10 chữ số, kết luận MATLAB nghe được 0912345678, bảng ba bộ giải mã, số thật khớp cả 10 chữ số"/>
          <p:cNvPicPr>
            <a:picLocks noChangeAspect="1"/>
          </p:cNvPicPr>
          <p:nvPr/>
        </p:nvPicPr>
        <p:blipFill>
          <a:blip r:embed="rId3"/>
          <a:srcRect l="-163" r="-163"/>
          <a:stretch/>
        </p:blipFill>
        <p:spPr>
          <a:xfrm>
            <a:off x="1314450" y="2038517"/>
            <a:ext cx="4229100" cy="2927350"/>
          </a:xfrm>
          <a:prstGeom prst="rect">
            <a:avLst/>
          </a:prstGeom>
        </p:spPr>
      </p:pic>
      <p:sp>
        <p:nvSpPr>
          <p:cNvPr id="7" name="Shape 4"/>
          <p:cNvSpPr/>
          <p:nvPr/>
        </p:nvSpPr>
        <p:spPr>
          <a:xfrm>
            <a:off x="1308100" y="2032167"/>
            <a:ext cx="4241800" cy="2940050"/>
          </a:xfrm>
          <a:prstGeom prst="rect">
            <a:avLst/>
          </a:prstGeom>
          <a:noFill/>
          <a:ln w="12700">
            <a:solidFill>
              <a:srgbClr val="DDE1E7"/>
            </a:solidFill>
            <a:prstDash val="solid"/>
          </a:ln>
        </p:spPr>
      </p:sp>
      <p:sp>
        <p:nvSpPr>
          <p:cNvPr id="8" name="Text 5"/>
          <p:cNvSpPr/>
          <p:nvPr/>
        </p:nvSpPr>
        <p:spPr>
          <a:xfrm>
            <a:off x="1237933" y="5029367"/>
            <a:ext cx="4382135"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Web: nhập số bí mật, công bố đáp án</a:t>
            </a:r>
            <a:endParaRPr lang="en-US" sz="1200" dirty="0">
              <a:latin typeface="Times New Roman" panose="02020603050405020304" pitchFamily="18" charset="0"/>
              <a:cs typeface="Times New Roman" panose="02020603050405020304" pitchFamily="18" charset="0"/>
            </a:endParaRPr>
          </a:p>
        </p:txBody>
      </p:sp>
      <p:pic>
        <p:nvPicPr>
          <p:cNvPr id="9" name="Image 1" descr="Giao diện DTMFForensic: số MATLAB đọc được 0912345678, bảng ba bộ giải mã với thời gian 9,8 ms, 17,5 ms, 19,8 ms đều đúng, đối chiếu từng chữ số, đoạn ghi âm và bản đồ 8 bin với hai làn số đọc được và số thật"/>
          <p:cNvPicPr>
            <a:picLocks noChangeAspect="1"/>
          </p:cNvPicPr>
          <p:nvPr/>
        </p:nvPicPr>
        <p:blipFill>
          <a:blip r:embed="rId4"/>
          <a:srcRect l="-231" r="-231"/>
          <a:stretch/>
        </p:blipFill>
        <p:spPr>
          <a:xfrm>
            <a:off x="5822950" y="2038517"/>
            <a:ext cx="5054600" cy="2927350"/>
          </a:xfrm>
          <a:prstGeom prst="rect">
            <a:avLst/>
          </a:prstGeom>
        </p:spPr>
      </p:pic>
      <p:sp>
        <p:nvSpPr>
          <p:cNvPr id="10" name="Shape 6"/>
          <p:cNvSpPr/>
          <p:nvPr/>
        </p:nvSpPr>
        <p:spPr>
          <a:xfrm>
            <a:off x="5816600" y="2032167"/>
            <a:ext cx="5067300" cy="2940050"/>
          </a:xfrm>
          <a:prstGeom prst="rect">
            <a:avLst/>
          </a:prstGeom>
          <a:noFill/>
          <a:ln w="12700">
            <a:solidFill>
              <a:srgbClr val="DDE1E7"/>
            </a:solidFill>
            <a:prstDash val="solid"/>
          </a:ln>
        </p:spPr>
      </p:sp>
      <p:sp>
        <p:nvSpPr>
          <p:cNvPr id="11" name="Text 7"/>
          <p:cNvSpPr/>
          <p:nvPr/>
        </p:nvSpPr>
        <p:spPr>
          <a:xfrm>
            <a:off x="5734050" y="5029367"/>
            <a:ext cx="5232400"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MATLAB: đọc dần, 3 bộ giải mã, đối chiếu từng chữ số</a:t>
            </a:r>
            <a:endParaRPr lang="en-US" sz="1200" dirty="0">
              <a:latin typeface="Times New Roman" panose="02020603050405020304" pitchFamily="18" charset="0"/>
              <a:cs typeface="Times New Roman" panose="02020603050405020304" pitchFamily="18" charset="0"/>
            </a:endParaRPr>
          </a:p>
        </p:txBody>
      </p:sp>
      <p:sp>
        <p:nvSpPr>
          <p:cNvPr id="12" name="Text 8"/>
          <p:cNvSpPr/>
          <p:nvPr/>
        </p:nvSpPr>
        <p:spPr>
          <a:xfrm>
            <a:off x="812800" y="5431402"/>
            <a:ext cx="2306864" cy="392396"/>
          </a:xfrm>
          <a:prstGeom prst="rect">
            <a:avLst/>
          </a:prstGeom>
          <a:solidFill>
            <a:srgbClr val="F3F6FA"/>
          </a:solidFill>
          <a:ln/>
        </p:spPr>
        <p:txBody>
          <a:bodyPr wrap="square" lIns="43883" tIns="88900" rIns="43883" bIns="63500" rtlCol="0" anchor="t">
            <a:normAutofit/>
          </a:bodyPr>
          <a:lstStyle/>
          <a:p>
            <a:pPr marL="0" indent="0" algn="ctr">
              <a:lnSpc>
                <a:spcPts val="1690"/>
              </a:lnSpc>
              <a:buNone/>
            </a:pPr>
            <a:r>
              <a:rPr lang="en-US" sz="1300" b="1" dirty="0">
                <a:solidFill>
                  <a:srgbClr val="1F2A44"/>
                </a:solidFill>
                <a:latin typeface="Times New Roman" panose="02020603050405020304" pitchFamily="18" charset="0"/>
                <a:ea typeface="Open Sans" pitchFamily="34" charset="-122"/>
                <a:cs typeface="Times New Roman" panose="02020603050405020304" pitchFamily="18" charset="0"/>
              </a:rPr>
              <a:t>1</a:t>
            </a: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 Thầy nhập số bí mật</a:t>
            </a:r>
            <a:endParaRPr lang="en-US" sz="1300" dirty="0">
              <a:latin typeface="Times New Roman" panose="02020603050405020304" pitchFamily="18" charset="0"/>
              <a:cs typeface="Times New Roman" panose="02020603050405020304" pitchFamily="18" charset="0"/>
            </a:endParaRPr>
          </a:p>
        </p:txBody>
      </p:sp>
      <p:pic>
        <p:nvPicPr>
          <p:cNvPr id="13" name="Image 2" descr="arrow-right"/>
          <p:cNvPicPr>
            <a:picLocks noChangeAspect="1"/>
          </p:cNvPicPr>
          <p:nvPr/>
        </p:nvPicPr>
        <p:blipFill>
          <a:blip r:embed="rId5"/>
          <a:srcRect/>
          <a:stretch/>
        </p:blipFill>
        <p:spPr>
          <a:xfrm>
            <a:off x="3195864" y="5545020"/>
            <a:ext cx="279400" cy="165100"/>
          </a:xfrm>
          <a:prstGeom prst="rect">
            <a:avLst/>
          </a:prstGeom>
        </p:spPr>
      </p:pic>
      <p:sp>
        <p:nvSpPr>
          <p:cNvPr id="14" name="Text 9"/>
          <p:cNvSpPr/>
          <p:nvPr/>
        </p:nvSpPr>
        <p:spPr>
          <a:xfrm>
            <a:off x="3551465" y="5431402"/>
            <a:ext cx="2306864" cy="392396"/>
          </a:xfrm>
          <a:prstGeom prst="rect">
            <a:avLst/>
          </a:prstGeom>
          <a:solidFill>
            <a:srgbClr val="F3F6FA"/>
          </a:solidFill>
          <a:ln/>
        </p:spPr>
        <p:txBody>
          <a:bodyPr wrap="square" lIns="43883" tIns="88900" rIns="43883" bIns="63500" rtlCol="0" anchor="t">
            <a:normAutofit/>
          </a:bodyPr>
          <a:lstStyle/>
          <a:p>
            <a:pPr marL="0" indent="0" algn="ctr">
              <a:lnSpc>
                <a:spcPts val="1690"/>
              </a:lnSpc>
              <a:buNone/>
            </a:pPr>
            <a:r>
              <a:rPr lang="en-US" sz="1300" b="1" dirty="0">
                <a:solidFill>
                  <a:srgbClr val="1F2A44"/>
                </a:solidFill>
                <a:latin typeface="Times New Roman" panose="02020603050405020304" pitchFamily="18" charset="0"/>
                <a:ea typeface="Open Sans" pitchFamily="34" charset="-122"/>
                <a:cs typeface="Times New Roman" panose="02020603050405020304" pitchFamily="18" charset="0"/>
              </a:rPr>
              <a:t>2</a:t>
            </a: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 Web dựng ghi âm + nhiễu</a:t>
            </a:r>
            <a:endParaRPr lang="en-US" sz="1300" dirty="0">
              <a:latin typeface="Times New Roman" panose="02020603050405020304" pitchFamily="18" charset="0"/>
              <a:cs typeface="Times New Roman" panose="02020603050405020304" pitchFamily="18" charset="0"/>
            </a:endParaRPr>
          </a:p>
        </p:txBody>
      </p:sp>
      <p:pic>
        <p:nvPicPr>
          <p:cNvPr id="15" name="Image 3" descr="arrow-right"/>
          <p:cNvPicPr>
            <a:picLocks noChangeAspect="1"/>
          </p:cNvPicPr>
          <p:nvPr/>
        </p:nvPicPr>
        <p:blipFill>
          <a:blip r:embed="rId5"/>
          <a:srcRect/>
          <a:stretch/>
        </p:blipFill>
        <p:spPr>
          <a:xfrm>
            <a:off x="5934529" y="5545020"/>
            <a:ext cx="279400" cy="165100"/>
          </a:xfrm>
          <a:prstGeom prst="rect">
            <a:avLst/>
          </a:prstGeom>
        </p:spPr>
      </p:pic>
      <p:sp>
        <p:nvSpPr>
          <p:cNvPr id="16" name="Text 10"/>
          <p:cNvSpPr/>
          <p:nvPr/>
        </p:nvSpPr>
        <p:spPr>
          <a:xfrm>
            <a:off x="6296479" y="5426863"/>
            <a:ext cx="2315936" cy="401467"/>
          </a:xfrm>
          <a:prstGeom prst="rect">
            <a:avLst/>
          </a:prstGeom>
          <a:solidFill>
            <a:srgbClr val="FCE4D6"/>
          </a:solidFill>
          <a:ln w="12700">
            <a:solidFill>
              <a:srgbClr val="C55A11"/>
            </a:solidFill>
            <a:prstDash val="solid"/>
          </a:ln>
        </p:spPr>
        <p:txBody>
          <a:bodyPr wrap="square" lIns="48419" tIns="93436" rIns="48419" bIns="68036" rtlCol="0" anchor="t">
            <a:normAutofit/>
          </a:bodyPr>
          <a:lstStyle/>
          <a:p>
            <a:pPr marL="0" indent="0" algn="ctr">
              <a:lnSpc>
                <a:spcPts val="1690"/>
              </a:lnSpc>
              <a:buNone/>
            </a:pPr>
            <a:r>
              <a:rPr lang="en-US" sz="1300" b="1" dirty="0">
                <a:solidFill>
                  <a:srgbClr val="9C3F0A"/>
                </a:solidFill>
                <a:latin typeface="Times New Roman" panose="02020603050405020304" pitchFamily="18" charset="0"/>
                <a:ea typeface="Open Sans" pitchFamily="34" charset="-122"/>
                <a:cs typeface="Times New Roman" panose="02020603050405020304" pitchFamily="18" charset="0"/>
              </a:rPr>
              <a:t>3 MATLAB nghe, kết luận</a:t>
            </a:r>
            <a:endParaRPr lang="en-US" sz="1300" dirty="0">
              <a:latin typeface="Times New Roman" panose="02020603050405020304" pitchFamily="18" charset="0"/>
              <a:cs typeface="Times New Roman" panose="02020603050405020304" pitchFamily="18" charset="0"/>
            </a:endParaRPr>
          </a:p>
        </p:txBody>
      </p:sp>
      <p:pic>
        <p:nvPicPr>
          <p:cNvPr id="17" name="Image 4" descr="arrow-right"/>
          <p:cNvPicPr>
            <a:picLocks noChangeAspect="1"/>
          </p:cNvPicPr>
          <p:nvPr/>
        </p:nvPicPr>
        <p:blipFill>
          <a:blip r:embed="rId5"/>
          <a:srcRect/>
          <a:stretch/>
        </p:blipFill>
        <p:spPr>
          <a:xfrm>
            <a:off x="8694965" y="5545020"/>
            <a:ext cx="279400" cy="165100"/>
          </a:xfrm>
          <a:prstGeom prst="rect">
            <a:avLst/>
          </a:prstGeom>
        </p:spPr>
      </p:pic>
      <p:sp>
        <p:nvSpPr>
          <p:cNvPr id="18" name="Text 11"/>
          <p:cNvSpPr/>
          <p:nvPr/>
        </p:nvSpPr>
        <p:spPr>
          <a:xfrm>
            <a:off x="9056915" y="5426863"/>
            <a:ext cx="2315936" cy="401467"/>
          </a:xfrm>
          <a:prstGeom prst="rect">
            <a:avLst/>
          </a:prstGeom>
          <a:solidFill>
            <a:srgbClr val="E2EFDA"/>
          </a:solidFill>
          <a:ln w="12700">
            <a:solidFill>
              <a:srgbClr val="2E9E4F"/>
            </a:solidFill>
            <a:prstDash val="solid"/>
          </a:ln>
        </p:spPr>
        <p:txBody>
          <a:bodyPr wrap="square" lIns="48419" tIns="93436" rIns="48419" bIns="68036" rtlCol="0" anchor="t">
            <a:normAutofit/>
          </a:bodyPr>
          <a:lstStyle/>
          <a:p>
            <a:pPr marL="0" indent="0" algn="ctr">
              <a:lnSpc>
                <a:spcPts val="1690"/>
              </a:lnSpc>
              <a:buNone/>
            </a:pPr>
            <a:r>
              <a:rPr lang="en-US" sz="1300" b="1" dirty="0">
                <a:solidFill>
                  <a:srgbClr val="1F2A44"/>
                </a:solidFill>
                <a:latin typeface="Times New Roman" panose="02020603050405020304" pitchFamily="18" charset="0"/>
                <a:ea typeface="Open Sans" pitchFamily="34" charset="-122"/>
                <a:cs typeface="Times New Roman" panose="02020603050405020304" pitchFamily="18" charset="0"/>
              </a:rPr>
              <a:t>4</a:t>
            </a: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 Công bố, đối chiếu</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17</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Bốn mức độ khó khi giám định</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Càng ồn càng hay sót chữ số, nhưng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giọng nói chưa lần nào bị đọc thành phím</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365549"/>
            <a:ext cx="1962150" cy="238749"/>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5A6478"/>
                </a:solidFill>
                <a:latin typeface="Times New Roman" panose="02020603050405020304" pitchFamily="18" charset="0"/>
                <a:ea typeface="Open Sans" pitchFamily="34" charset="-122"/>
                <a:cs typeface="Times New Roman" panose="02020603050405020304" pitchFamily="18" charset="0"/>
              </a:rPr>
              <a:t>Mức độ khó</a:t>
            </a:r>
            <a:endParaRPr lang="en-US" sz="1200" dirty="0">
              <a:latin typeface="Times New Roman" panose="02020603050405020304" pitchFamily="18" charset="0"/>
              <a:cs typeface="Times New Roman" panose="02020603050405020304" pitchFamily="18" charset="0"/>
            </a:endParaRPr>
          </a:p>
        </p:txBody>
      </p:sp>
      <p:sp>
        <p:nvSpPr>
          <p:cNvPr id="7" name="Text 5"/>
          <p:cNvSpPr/>
          <p:nvPr/>
        </p:nvSpPr>
        <p:spPr>
          <a:xfrm>
            <a:off x="2844800" y="2365549"/>
            <a:ext cx="1130300" cy="238749"/>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5A6478"/>
                </a:solidFill>
                <a:latin typeface="Times New Roman" panose="02020603050405020304" pitchFamily="18" charset="0"/>
                <a:ea typeface="Open Sans" pitchFamily="34" charset="-122"/>
                <a:cs typeface="Times New Roman" panose="02020603050405020304" pitchFamily="18" charset="0"/>
              </a:rPr>
              <a:t>Giọng nói</a:t>
            </a:r>
            <a:endParaRPr lang="en-US" sz="1200" dirty="0">
              <a:latin typeface="Times New Roman" panose="02020603050405020304" pitchFamily="18" charset="0"/>
              <a:cs typeface="Times New Roman" panose="02020603050405020304" pitchFamily="18" charset="0"/>
            </a:endParaRPr>
          </a:p>
        </p:txBody>
      </p:sp>
      <p:sp>
        <p:nvSpPr>
          <p:cNvPr id="8" name="Text 6"/>
          <p:cNvSpPr/>
          <p:nvPr/>
        </p:nvSpPr>
        <p:spPr>
          <a:xfrm>
            <a:off x="4076700" y="2365549"/>
            <a:ext cx="1130300" cy="238749"/>
          </a:xfrm>
          <a:prstGeom prst="rect">
            <a:avLst/>
          </a:prstGeom>
          <a:noFill/>
          <a:ln/>
        </p:spPr>
        <p:txBody>
          <a:bodyPr wrap="square" lIns="0" tIns="0" rIns="0" bIns="0" rtlCol="0" anchor="t">
            <a:normAutofit/>
          </a:bodyPr>
          <a:lstStyle/>
          <a:p>
            <a:pPr marL="0" indent="0" algn="ctr">
              <a:lnSpc>
                <a:spcPts val="1680"/>
              </a:lnSpc>
              <a:buNone/>
            </a:pPr>
            <a:r>
              <a:rPr lang="en-US" sz="1200" b="1" dirty="0">
                <a:solidFill>
                  <a:srgbClr val="5A6478"/>
                </a:solidFill>
                <a:latin typeface="Times New Roman" panose="02020603050405020304" pitchFamily="18" charset="0"/>
                <a:ea typeface="Open Sans" pitchFamily="34" charset="-122"/>
                <a:cs typeface="Times New Roman" panose="02020603050405020304" pitchFamily="18" charset="0"/>
              </a:rPr>
              <a:t>SNR</a:t>
            </a:r>
            <a:endParaRPr lang="en-US" sz="1200" dirty="0">
              <a:latin typeface="Times New Roman" panose="02020603050405020304" pitchFamily="18" charset="0"/>
              <a:cs typeface="Times New Roman" panose="02020603050405020304" pitchFamily="18" charset="0"/>
            </a:endParaRPr>
          </a:p>
        </p:txBody>
      </p:sp>
      <p:sp>
        <p:nvSpPr>
          <p:cNvPr id="9" name="Text 7"/>
          <p:cNvSpPr/>
          <p:nvPr/>
        </p:nvSpPr>
        <p:spPr>
          <a:xfrm>
            <a:off x="5334000" y="2365549"/>
            <a:ext cx="4185920" cy="238749"/>
          </a:xfrm>
          <a:prstGeom prst="rect">
            <a:avLst/>
          </a:prstGeom>
          <a:noFill/>
          <a:ln/>
        </p:spPr>
        <p:txBody>
          <a:bodyPr wrap="square" lIns="0" tIns="0" rIns="0" bIns="0" rtlCol="0" anchor="t">
            <a:normAutofit/>
          </a:bodyPr>
          <a:lstStyle/>
          <a:p>
            <a:pPr marL="0" indent="0" algn="l">
              <a:lnSpc>
                <a:spcPts val="1680"/>
              </a:lnSpc>
              <a:buNone/>
            </a:pPr>
            <a:r>
              <a:rPr lang="en-US" sz="1200" b="1" dirty="0">
                <a:solidFill>
                  <a:srgbClr val="5A6478"/>
                </a:solidFill>
                <a:latin typeface="Times New Roman" panose="02020603050405020304" pitchFamily="18" charset="0"/>
                <a:ea typeface="Open Sans" pitchFamily="34" charset="-122"/>
                <a:cs typeface="Times New Roman" panose="02020603050405020304" pitchFamily="18" charset="0"/>
              </a:rPr>
              <a:t>Đọc đúng cả số 10 chữ số (60 số ngẫu nhiên)</a:t>
            </a:r>
            <a:endParaRPr lang="en-US" sz="1200" dirty="0">
              <a:latin typeface="Times New Roman" panose="02020603050405020304" pitchFamily="18" charset="0"/>
              <a:cs typeface="Times New Roman" panose="02020603050405020304" pitchFamily="18" charset="0"/>
            </a:endParaRPr>
          </a:p>
        </p:txBody>
      </p:sp>
      <p:sp>
        <p:nvSpPr>
          <p:cNvPr id="10" name="Text 8"/>
          <p:cNvSpPr/>
          <p:nvPr/>
        </p:nvSpPr>
        <p:spPr>
          <a:xfrm>
            <a:off x="812800" y="2868451"/>
            <a:ext cx="196215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Phòng yên tĩnh</a:t>
            </a:r>
            <a:endParaRPr lang="en-US" sz="1600" dirty="0">
              <a:latin typeface="Times New Roman" panose="02020603050405020304" pitchFamily="18" charset="0"/>
              <a:cs typeface="Times New Roman" panose="02020603050405020304" pitchFamily="18" charset="0"/>
            </a:endParaRPr>
          </a:p>
        </p:txBody>
      </p:sp>
      <p:sp>
        <p:nvSpPr>
          <p:cNvPr id="11" name="Text 9"/>
          <p:cNvSpPr/>
          <p:nvPr/>
        </p:nvSpPr>
        <p:spPr>
          <a:xfrm>
            <a:off x="2844800" y="2877344"/>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không</a:t>
            </a:r>
            <a:endParaRPr lang="en-US" sz="1500" dirty="0">
              <a:latin typeface="Times New Roman" panose="02020603050405020304" pitchFamily="18" charset="0"/>
              <a:cs typeface="Times New Roman" panose="02020603050405020304" pitchFamily="18" charset="0"/>
            </a:endParaRPr>
          </a:p>
        </p:txBody>
      </p:sp>
      <p:sp>
        <p:nvSpPr>
          <p:cNvPr id="12" name="Text 10"/>
          <p:cNvSpPr/>
          <p:nvPr/>
        </p:nvSpPr>
        <p:spPr>
          <a:xfrm>
            <a:off x="4076700" y="2743994"/>
            <a:ext cx="1130300" cy="5588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không nhiễu</a:t>
            </a:r>
            <a:endParaRPr lang="en-US" sz="1500" dirty="0">
              <a:latin typeface="Times New Roman" panose="02020603050405020304" pitchFamily="18" charset="0"/>
              <a:cs typeface="Times New Roman" panose="02020603050405020304" pitchFamily="18" charset="0"/>
            </a:endParaRPr>
          </a:p>
        </p:txBody>
      </p:sp>
      <p:sp>
        <p:nvSpPr>
          <p:cNvPr id="13" name="Shape 11"/>
          <p:cNvSpPr/>
          <p:nvPr/>
        </p:nvSpPr>
        <p:spPr>
          <a:xfrm>
            <a:off x="5334000" y="2743994"/>
            <a:ext cx="4064000" cy="381000"/>
          </a:xfrm>
          <a:prstGeom prst="rect">
            <a:avLst/>
          </a:prstGeom>
          <a:solidFill>
            <a:srgbClr val="EEF1F5"/>
          </a:solidFill>
          <a:ln/>
        </p:spPr>
      </p:sp>
      <p:sp>
        <p:nvSpPr>
          <p:cNvPr id="14" name="Shape 12"/>
          <p:cNvSpPr/>
          <p:nvPr/>
        </p:nvSpPr>
        <p:spPr>
          <a:xfrm>
            <a:off x="5334000" y="2743994"/>
            <a:ext cx="4064000" cy="381000"/>
          </a:xfrm>
          <a:prstGeom prst="rect">
            <a:avLst/>
          </a:prstGeom>
          <a:solidFill>
            <a:srgbClr val="178A48"/>
          </a:solidFill>
          <a:ln/>
        </p:spPr>
      </p:sp>
      <p:sp>
        <p:nvSpPr>
          <p:cNvPr id="15" name="Text 13"/>
          <p:cNvSpPr/>
          <p:nvPr/>
        </p:nvSpPr>
        <p:spPr>
          <a:xfrm>
            <a:off x="9550401" y="2815096"/>
            <a:ext cx="10668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8A48"/>
                </a:solidFill>
                <a:latin typeface="Times New Roman" panose="02020603050405020304" pitchFamily="18" charset="0"/>
                <a:ea typeface="Tinos" pitchFamily="18" charset="-122"/>
                <a:cs typeface="Times New Roman" panose="02020603050405020304" pitchFamily="18" charset="0"/>
              </a:rPr>
              <a:t>60/60</a:t>
            </a:r>
            <a:endParaRPr lang="en-US" sz="2200" dirty="0">
              <a:latin typeface="Times New Roman" panose="02020603050405020304" pitchFamily="18" charset="0"/>
              <a:cs typeface="Times New Roman" panose="02020603050405020304" pitchFamily="18" charset="0"/>
            </a:endParaRPr>
          </a:p>
        </p:txBody>
      </p:sp>
      <p:sp>
        <p:nvSpPr>
          <p:cNvPr id="16" name="Text 14"/>
          <p:cNvSpPr/>
          <p:nvPr/>
        </p:nvSpPr>
        <p:spPr>
          <a:xfrm>
            <a:off x="812800" y="3495849"/>
            <a:ext cx="196215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Quán cà phê</a:t>
            </a:r>
            <a:endParaRPr lang="en-US" sz="1600" dirty="0">
              <a:latin typeface="Times New Roman" panose="02020603050405020304" pitchFamily="18" charset="0"/>
              <a:cs typeface="Times New Roman" panose="02020603050405020304" pitchFamily="18" charset="0"/>
            </a:endParaRPr>
          </a:p>
        </p:txBody>
      </p:sp>
      <p:sp>
        <p:nvSpPr>
          <p:cNvPr id="17" name="Text 15"/>
          <p:cNvSpPr/>
          <p:nvPr/>
        </p:nvSpPr>
        <p:spPr>
          <a:xfrm>
            <a:off x="2844800" y="3504692"/>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−20 dB</a:t>
            </a:r>
            <a:endParaRPr lang="en-US" sz="1500" dirty="0">
              <a:latin typeface="Times New Roman" panose="02020603050405020304" pitchFamily="18" charset="0"/>
              <a:cs typeface="Times New Roman" panose="02020603050405020304" pitchFamily="18" charset="0"/>
            </a:endParaRPr>
          </a:p>
        </p:txBody>
      </p:sp>
      <p:sp>
        <p:nvSpPr>
          <p:cNvPr id="18" name="Text 16"/>
          <p:cNvSpPr/>
          <p:nvPr/>
        </p:nvSpPr>
        <p:spPr>
          <a:xfrm>
            <a:off x="4076700" y="3504692"/>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20 dB</a:t>
            </a:r>
            <a:endParaRPr lang="en-US" sz="1500" dirty="0">
              <a:latin typeface="Times New Roman" panose="02020603050405020304" pitchFamily="18" charset="0"/>
              <a:cs typeface="Times New Roman" panose="02020603050405020304" pitchFamily="18" charset="0"/>
            </a:endParaRPr>
          </a:p>
        </p:txBody>
      </p:sp>
      <p:sp>
        <p:nvSpPr>
          <p:cNvPr id="19" name="Shape 17"/>
          <p:cNvSpPr/>
          <p:nvPr/>
        </p:nvSpPr>
        <p:spPr>
          <a:xfrm>
            <a:off x="5334000" y="3442494"/>
            <a:ext cx="4064000" cy="381000"/>
          </a:xfrm>
          <a:prstGeom prst="rect">
            <a:avLst/>
          </a:prstGeom>
          <a:solidFill>
            <a:srgbClr val="EEF1F5"/>
          </a:solidFill>
          <a:ln/>
        </p:spPr>
      </p:sp>
      <p:sp>
        <p:nvSpPr>
          <p:cNvPr id="20" name="Shape 18"/>
          <p:cNvSpPr/>
          <p:nvPr/>
        </p:nvSpPr>
        <p:spPr>
          <a:xfrm>
            <a:off x="5334000" y="3442494"/>
            <a:ext cx="4064000" cy="381000"/>
          </a:xfrm>
          <a:prstGeom prst="rect">
            <a:avLst/>
          </a:prstGeom>
          <a:solidFill>
            <a:srgbClr val="178A48"/>
          </a:solidFill>
          <a:ln/>
        </p:spPr>
      </p:sp>
      <p:sp>
        <p:nvSpPr>
          <p:cNvPr id="21" name="Text 19"/>
          <p:cNvSpPr/>
          <p:nvPr/>
        </p:nvSpPr>
        <p:spPr>
          <a:xfrm>
            <a:off x="9550401" y="3442494"/>
            <a:ext cx="10668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178A48"/>
                </a:solidFill>
                <a:latin typeface="Times New Roman" panose="02020603050405020304" pitchFamily="18" charset="0"/>
                <a:ea typeface="Tinos" pitchFamily="18" charset="-122"/>
                <a:cs typeface="Times New Roman" panose="02020603050405020304" pitchFamily="18" charset="0"/>
              </a:rPr>
              <a:t>60/60</a:t>
            </a:r>
            <a:endParaRPr lang="en-US" sz="2200" dirty="0">
              <a:latin typeface="Times New Roman" panose="02020603050405020304" pitchFamily="18" charset="0"/>
              <a:cs typeface="Times New Roman" panose="02020603050405020304" pitchFamily="18" charset="0"/>
            </a:endParaRPr>
          </a:p>
        </p:txBody>
      </p:sp>
      <p:sp>
        <p:nvSpPr>
          <p:cNvPr id="22" name="Text 20"/>
          <p:cNvSpPr/>
          <p:nvPr/>
        </p:nvSpPr>
        <p:spPr>
          <a:xfrm>
            <a:off x="812800" y="4052094"/>
            <a:ext cx="196215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Ngoài đường</a:t>
            </a:r>
            <a:endParaRPr lang="en-US" sz="1600" dirty="0">
              <a:latin typeface="Times New Roman" panose="02020603050405020304" pitchFamily="18" charset="0"/>
              <a:cs typeface="Times New Roman" panose="02020603050405020304" pitchFamily="18" charset="0"/>
            </a:endParaRPr>
          </a:p>
        </p:txBody>
      </p:sp>
      <p:sp>
        <p:nvSpPr>
          <p:cNvPr id="23" name="Text 21"/>
          <p:cNvSpPr/>
          <p:nvPr/>
        </p:nvSpPr>
        <p:spPr>
          <a:xfrm>
            <a:off x="2844800" y="4060949"/>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−14 dB</a:t>
            </a:r>
            <a:endParaRPr lang="en-US" sz="1500" dirty="0">
              <a:latin typeface="Times New Roman" panose="02020603050405020304" pitchFamily="18" charset="0"/>
              <a:cs typeface="Times New Roman" panose="02020603050405020304" pitchFamily="18" charset="0"/>
            </a:endParaRPr>
          </a:p>
        </p:txBody>
      </p:sp>
      <p:sp>
        <p:nvSpPr>
          <p:cNvPr id="24" name="Text 22"/>
          <p:cNvSpPr/>
          <p:nvPr/>
        </p:nvSpPr>
        <p:spPr>
          <a:xfrm>
            <a:off x="4076700" y="4060949"/>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12 dB</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5334000" y="3998751"/>
            <a:ext cx="4064000" cy="381000"/>
          </a:xfrm>
          <a:prstGeom prst="rect">
            <a:avLst/>
          </a:prstGeom>
          <a:solidFill>
            <a:srgbClr val="EEF1F5"/>
          </a:solidFill>
          <a:ln/>
        </p:spPr>
      </p:sp>
      <p:sp>
        <p:nvSpPr>
          <p:cNvPr id="26" name="Shape 24"/>
          <p:cNvSpPr/>
          <p:nvPr/>
        </p:nvSpPr>
        <p:spPr>
          <a:xfrm>
            <a:off x="5334000" y="3998751"/>
            <a:ext cx="2368550" cy="381000"/>
          </a:xfrm>
          <a:prstGeom prst="rect">
            <a:avLst/>
          </a:prstGeom>
          <a:solidFill>
            <a:srgbClr val="C26A1E"/>
          </a:solidFill>
          <a:ln/>
        </p:spPr>
      </p:sp>
      <p:sp>
        <p:nvSpPr>
          <p:cNvPr id="27" name="Text 25"/>
          <p:cNvSpPr/>
          <p:nvPr/>
        </p:nvSpPr>
        <p:spPr>
          <a:xfrm>
            <a:off x="9550401" y="3998751"/>
            <a:ext cx="10668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A9561A"/>
                </a:solidFill>
                <a:latin typeface="Times New Roman" panose="02020603050405020304" pitchFamily="18" charset="0"/>
                <a:ea typeface="Tinos" pitchFamily="18" charset="-122"/>
                <a:cs typeface="Times New Roman" panose="02020603050405020304" pitchFamily="18" charset="0"/>
              </a:rPr>
              <a:t>35/60</a:t>
            </a:r>
            <a:endParaRPr lang="en-US" sz="2200" dirty="0">
              <a:latin typeface="Times New Roman" panose="02020603050405020304" pitchFamily="18" charset="0"/>
              <a:cs typeface="Times New Roman" panose="02020603050405020304" pitchFamily="18" charset="0"/>
            </a:endParaRPr>
          </a:p>
        </p:txBody>
      </p:sp>
      <p:sp>
        <p:nvSpPr>
          <p:cNvPr id="28" name="Text 26"/>
          <p:cNvSpPr/>
          <p:nvPr/>
        </p:nvSpPr>
        <p:spPr>
          <a:xfrm>
            <a:off x="812800" y="4608351"/>
            <a:ext cx="196215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Cực khó</a:t>
            </a:r>
            <a:endParaRPr lang="en-US" sz="1600" dirty="0">
              <a:latin typeface="Times New Roman" panose="02020603050405020304" pitchFamily="18" charset="0"/>
              <a:cs typeface="Times New Roman" panose="02020603050405020304" pitchFamily="18" charset="0"/>
            </a:endParaRPr>
          </a:p>
        </p:txBody>
      </p:sp>
      <p:sp>
        <p:nvSpPr>
          <p:cNvPr id="29" name="Text 27"/>
          <p:cNvSpPr/>
          <p:nvPr/>
        </p:nvSpPr>
        <p:spPr>
          <a:xfrm>
            <a:off x="2844800" y="4617194"/>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−10 dB</a:t>
            </a:r>
            <a:endParaRPr lang="en-US" sz="1500" dirty="0">
              <a:latin typeface="Times New Roman" panose="02020603050405020304" pitchFamily="18" charset="0"/>
              <a:cs typeface="Times New Roman" panose="02020603050405020304" pitchFamily="18" charset="0"/>
            </a:endParaRPr>
          </a:p>
        </p:txBody>
      </p:sp>
      <p:sp>
        <p:nvSpPr>
          <p:cNvPr id="30" name="Text 28"/>
          <p:cNvSpPr/>
          <p:nvPr/>
        </p:nvSpPr>
        <p:spPr>
          <a:xfrm>
            <a:off x="4076700" y="4617194"/>
            <a:ext cx="1130300" cy="292100"/>
          </a:xfrm>
          <a:prstGeom prst="rect">
            <a:avLst/>
          </a:prstGeom>
          <a:noFill/>
          <a:ln/>
        </p:spPr>
        <p:txBody>
          <a:bodyPr wrap="square" lIns="0" tIns="0" rIns="0" bIns="0" rtlCol="0" anchor="t">
            <a:normAutofit/>
          </a:bodyPr>
          <a:lstStyle/>
          <a:p>
            <a:pPr marL="0" indent="0" algn="ctr">
              <a:lnSpc>
                <a:spcPts val="2100"/>
              </a:lnSpc>
              <a:buNone/>
            </a:pPr>
            <a:r>
              <a:rPr lang="en-US" sz="1500" dirty="0">
                <a:solidFill>
                  <a:srgbClr val="5A6478"/>
                </a:solidFill>
                <a:latin typeface="Times New Roman" panose="02020603050405020304" pitchFamily="18" charset="0"/>
                <a:ea typeface="Open Sans" pitchFamily="34" charset="-122"/>
                <a:cs typeface="Times New Roman" panose="02020603050405020304" pitchFamily="18" charset="0"/>
              </a:rPr>
              <a:t>8 dB</a:t>
            </a:r>
            <a:endParaRPr lang="en-US" sz="1500" dirty="0">
              <a:latin typeface="Times New Roman" panose="02020603050405020304" pitchFamily="18" charset="0"/>
              <a:cs typeface="Times New Roman" panose="02020603050405020304" pitchFamily="18" charset="0"/>
            </a:endParaRPr>
          </a:p>
        </p:txBody>
      </p:sp>
      <p:sp>
        <p:nvSpPr>
          <p:cNvPr id="31" name="Shape 29"/>
          <p:cNvSpPr/>
          <p:nvPr/>
        </p:nvSpPr>
        <p:spPr>
          <a:xfrm>
            <a:off x="5334000" y="4554996"/>
            <a:ext cx="4064000" cy="381000"/>
          </a:xfrm>
          <a:prstGeom prst="rect">
            <a:avLst/>
          </a:prstGeom>
          <a:solidFill>
            <a:srgbClr val="EEF1F5"/>
          </a:solidFill>
          <a:ln/>
        </p:spPr>
      </p:sp>
      <p:sp>
        <p:nvSpPr>
          <p:cNvPr id="32" name="Shape 30"/>
          <p:cNvSpPr/>
          <p:nvPr/>
        </p:nvSpPr>
        <p:spPr>
          <a:xfrm>
            <a:off x="5334000" y="4554996"/>
            <a:ext cx="679450" cy="381000"/>
          </a:xfrm>
          <a:prstGeom prst="rect">
            <a:avLst/>
          </a:prstGeom>
          <a:solidFill>
            <a:srgbClr val="C00000"/>
          </a:solidFill>
          <a:ln/>
        </p:spPr>
      </p:sp>
      <p:sp>
        <p:nvSpPr>
          <p:cNvPr id="33" name="Text 31"/>
          <p:cNvSpPr/>
          <p:nvPr/>
        </p:nvSpPr>
        <p:spPr>
          <a:xfrm>
            <a:off x="9550401" y="4554996"/>
            <a:ext cx="10668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C00000"/>
                </a:solidFill>
                <a:latin typeface="Times New Roman" panose="02020603050405020304" pitchFamily="18" charset="0"/>
                <a:ea typeface="Tinos" pitchFamily="18" charset="-122"/>
                <a:cs typeface="Times New Roman" panose="02020603050405020304" pitchFamily="18" charset="0"/>
              </a:rPr>
              <a:t>10/60</a:t>
            </a:r>
            <a:endParaRPr lang="en-US" sz="2200" dirty="0">
              <a:latin typeface="Times New Roman" panose="02020603050405020304" pitchFamily="18" charset="0"/>
              <a:cs typeface="Times New Roman" panose="02020603050405020304" pitchFamily="18" charset="0"/>
            </a:endParaRPr>
          </a:p>
        </p:txBody>
      </p:sp>
      <p:sp>
        <p:nvSpPr>
          <p:cNvPr id="34" name="Shape 32"/>
          <p:cNvSpPr/>
          <p:nvPr/>
        </p:nvSpPr>
        <p:spPr>
          <a:xfrm>
            <a:off x="831850" y="5463617"/>
            <a:ext cx="0" cy="835592"/>
          </a:xfrm>
          <a:prstGeom prst="line">
            <a:avLst/>
          </a:prstGeom>
          <a:noFill/>
          <a:ln w="38100">
            <a:solidFill>
              <a:srgbClr val="C00000"/>
            </a:solidFill>
            <a:prstDash val="solid"/>
          </a:ln>
        </p:spPr>
      </p:sp>
      <p:sp>
        <p:nvSpPr>
          <p:cNvPr id="35" name="Text 33"/>
          <p:cNvSpPr/>
          <p:nvPr/>
        </p:nvSpPr>
        <p:spPr>
          <a:xfrm>
            <a:off x="988786" y="5489017"/>
            <a:ext cx="512962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Lỗi đến từ đâu?</a:t>
            </a:r>
            <a:endParaRPr lang="en-US" sz="1500" dirty="0">
              <a:latin typeface="Times New Roman" panose="02020603050405020304" pitchFamily="18" charset="0"/>
              <a:cs typeface="Times New Roman" panose="02020603050405020304" pitchFamily="18" charset="0"/>
            </a:endParaRPr>
          </a:p>
        </p:txBody>
      </p:sp>
      <p:sp>
        <p:nvSpPr>
          <p:cNvPr id="36" name="Text 34"/>
          <p:cNvSpPr/>
          <p:nvPr/>
        </p:nvSpPr>
        <p:spPr>
          <a:xfrm>
            <a:off x="988786" y="5793817"/>
            <a:ext cx="5129621"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Giọng nói làm loại 1 khung giữa âm → một lần bấm tách thành hai chữ số</a:t>
            </a:r>
            <a:endParaRPr lang="en-US" sz="1400" dirty="0">
              <a:latin typeface="Times New Roman" panose="02020603050405020304" pitchFamily="18" charset="0"/>
              <a:cs typeface="Times New Roman" panose="02020603050405020304" pitchFamily="18" charset="0"/>
            </a:endParaRPr>
          </a:p>
        </p:txBody>
      </p:sp>
      <p:sp>
        <p:nvSpPr>
          <p:cNvPr id="37" name="Shape 35"/>
          <p:cNvSpPr/>
          <p:nvPr/>
        </p:nvSpPr>
        <p:spPr>
          <a:xfrm>
            <a:off x="6242050" y="5463617"/>
            <a:ext cx="0" cy="835592"/>
          </a:xfrm>
          <a:prstGeom prst="line">
            <a:avLst/>
          </a:prstGeom>
          <a:noFill/>
          <a:ln w="38100">
            <a:solidFill>
              <a:srgbClr val="178A48"/>
            </a:solidFill>
            <a:prstDash val="solid"/>
          </a:ln>
        </p:spPr>
      </p:sp>
      <p:sp>
        <p:nvSpPr>
          <p:cNvPr id="38" name="Text 36"/>
          <p:cNvSpPr/>
          <p:nvPr/>
        </p:nvSpPr>
        <p:spPr>
          <a:xfrm>
            <a:off x="6398986" y="5489017"/>
            <a:ext cx="512962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Kết luận rất nhanh</a:t>
            </a:r>
            <a:endParaRPr lang="en-US" sz="1500" dirty="0">
              <a:latin typeface="Times New Roman" panose="02020603050405020304" pitchFamily="18" charset="0"/>
              <a:cs typeface="Times New Roman" panose="02020603050405020304" pitchFamily="18" charset="0"/>
            </a:endParaRPr>
          </a:p>
        </p:txBody>
      </p:sp>
      <p:sp>
        <p:nvSpPr>
          <p:cNvPr id="39" name="Text 37"/>
          <p:cNvSpPr/>
          <p:nvPr/>
        </p:nvSpPr>
        <p:spPr>
          <a:xfrm>
            <a:off x="6398986" y="5793817"/>
            <a:ext cx="5129621"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8–20 ms cho cả đoạn ghi âm 7–8 s</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18</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Kết quả: độ bền với nhiễu</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Ngân hàng bộ lọc bền nhiễu nhất,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trái với dự đoán ban đầu là FFT</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1711268" y="2025824"/>
            <a:ext cx="2216660" cy="332695"/>
          </a:xfrm>
          <a:prstGeom prst="rect">
            <a:avLst/>
          </a:prstGeom>
          <a:solidFill>
            <a:srgbClr val="F3F6FA"/>
          </a:solidFill>
          <a:ln/>
        </p:spPr>
        <p:txBody>
          <a:bodyPr wrap="none" lIns="0" tIns="0" rIns="0" bIns="0" rtlCol="0" anchor="ctr">
            <a:normAutofit/>
          </a:bodyPr>
          <a:lstStyle/>
          <a:p>
            <a:pPr marL="0" indent="0" algn="ctr">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240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phím (20 chuỗi × 12)</a:t>
            </a:r>
            <a:endParaRPr lang="en-US" sz="1300" dirty="0">
              <a:latin typeface="Times New Roman" panose="02020603050405020304" pitchFamily="18" charset="0"/>
              <a:cs typeface="Times New Roman" panose="02020603050405020304" pitchFamily="18" charset="0"/>
            </a:endParaRPr>
          </a:p>
        </p:txBody>
      </p:sp>
      <p:sp>
        <p:nvSpPr>
          <p:cNvPr id="7" name="Text 5"/>
          <p:cNvSpPr/>
          <p:nvPr/>
        </p:nvSpPr>
        <p:spPr>
          <a:xfrm>
            <a:off x="4029529" y="2025824"/>
            <a:ext cx="2228226" cy="332695"/>
          </a:xfrm>
          <a:prstGeom prst="rect">
            <a:avLst/>
          </a:prstGeom>
          <a:solidFill>
            <a:srgbClr val="F3F6FA"/>
          </a:solidFill>
          <a:ln/>
        </p:spPr>
        <p:txBody>
          <a:bodyPr wrap="none" lIns="0" tIns="0" rIns="0" bIns="0" rtlCol="0" anchor="ctr">
            <a:normAutofit/>
          </a:bodyPr>
          <a:lstStyle/>
          <a:p>
            <a:pPr marL="0" indent="0" algn="ctr">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15</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mức SNR: −5 → 30 dB</a:t>
            </a:r>
            <a:endParaRPr lang="en-US" sz="1300" dirty="0">
              <a:latin typeface="Times New Roman" panose="02020603050405020304" pitchFamily="18" charset="0"/>
              <a:cs typeface="Times New Roman" panose="02020603050405020304" pitchFamily="18" charset="0"/>
            </a:endParaRPr>
          </a:p>
        </p:txBody>
      </p:sp>
      <p:sp>
        <p:nvSpPr>
          <p:cNvPr id="8" name="Text 6"/>
          <p:cNvSpPr/>
          <p:nvPr/>
        </p:nvSpPr>
        <p:spPr>
          <a:xfrm>
            <a:off x="6359355" y="2025824"/>
            <a:ext cx="2211614" cy="332695"/>
          </a:xfrm>
          <a:prstGeom prst="rect">
            <a:avLst/>
          </a:prstGeom>
          <a:solidFill>
            <a:srgbClr val="F3F6FA"/>
          </a:solidFill>
          <a:ln/>
        </p:spPr>
        <p:txBody>
          <a:bodyPr wrap="none" lIns="0" tIns="0" rIns="0" bIns="0" rtlCol="0" anchor="ctr">
            <a:normAutofit/>
          </a:bodyPr>
          <a:lstStyle/>
          <a:p>
            <a:pPr marL="0" indent="0" algn="ctr">
              <a:lnSpc>
                <a:spcPts val="1820"/>
              </a:lnSpc>
              <a:buNone/>
            </a:pP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Nhiễu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AWGN</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và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ù 50 Hz</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8672570" y="2025824"/>
            <a:ext cx="1808163" cy="332695"/>
          </a:xfrm>
          <a:prstGeom prst="rect">
            <a:avLst/>
          </a:prstGeom>
          <a:solidFill>
            <a:srgbClr val="F3F6FA"/>
          </a:solidFill>
          <a:ln/>
        </p:spPr>
        <p:txBody>
          <a:bodyPr wrap="none" lIns="0" tIns="0" rIns="0" bIns="0" rtlCol="0" anchor="ctr">
            <a:normAutofit/>
          </a:bodyPr>
          <a:lstStyle/>
          <a:p>
            <a:pPr marL="0" indent="0" algn="ctr">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5 400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điều kiện thử</a:t>
            </a:r>
            <a:endParaRPr lang="en-US" sz="1300" dirty="0">
              <a:latin typeface="Times New Roman" panose="02020603050405020304" pitchFamily="18" charset="0"/>
              <a:cs typeface="Times New Roman" panose="02020603050405020304" pitchFamily="18" charset="0"/>
            </a:endParaRPr>
          </a:p>
        </p:txBody>
      </p:sp>
      <p:pic>
        <p:nvPicPr>
          <p:cNvPr id="10" name="Image 0" descr="Độ chính xác theo SNR của FFT, Goertzel và ngân hàng bộ lọc; trái: nhiễu AWGN, phải: nhiễu ù 50 Hz. Ngân hàng lọc lên 1 sớm nhất, cả ba đạt 1 từ 7,5 dB"/>
          <p:cNvPicPr>
            <a:picLocks noChangeAspect="1"/>
          </p:cNvPicPr>
          <p:nvPr/>
        </p:nvPicPr>
        <p:blipFill>
          <a:blip r:embed="rId3"/>
          <a:srcRect t="-20" b="-20"/>
          <a:stretch/>
        </p:blipFill>
        <p:spPr>
          <a:xfrm>
            <a:off x="812800" y="2739467"/>
            <a:ext cx="7048500" cy="3079750"/>
          </a:xfrm>
          <a:prstGeom prst="rect">
            <a:avLst/>
          </a:prstGeom>
        </p:spPr>
      </p:pic>
      <p:sp>
        <p:nvSpPr>
          <p:cNvPr id="11" name="Text 8"/>
          <p:cNvSpPr/>
          <p:nvPr/>
        </p:nvSpPr>
        <p:spPr>
          <a:xfrm>
            <a:off x="707073" y="5882717"/>
            <a:ext cx="7259955"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Độ chính xác theo SNR · trái: AWGN · phải: ù 50 Hz · nền xanh: SNR ≥ 10 dB</a:t>
            </a:r>
            <a:endParaRPr lang="en-US" sz="1200" dirty="0">
              <a:latin typeface="Times New Roman" panose="02020603050405020304" pitchFamily="18" charset="0"/>
              <a:cs typeface="Times New Roman" panose="02020603050405020304" pitchFamily="18" charset="0"/>
            </a:endParaRPr>
          </a:p>
        </p:txBody>
      </p:sp>
      <p:sp>
        <p:nvSpPr>
          <p:cNvPr id="12" name="Text 9"/>
          <p:cNvSpPr/>
          <p:nvPr/>
        </p:nvSpPr>
        <p:spPr>
          <a:xfrm>
            <a:off x="8166100" y="2986088"/>
            <a:ext cx="330949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Nhiễu rất mạnh, SNR 2,5 dB</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8166100" y="3354388"/>
            <a:ext cx="3213100" cy="635000"/>
          </a:xfrm>
          <a:prstGeom prst="rect">
            <a:avLst/>
          </a:prstGeom>
          <a:solidFill>
            <a:srgbClr val="DEEBF7"/>
          </a:solidFill>
          <a:ln/>
        </p:spPr>
      </p:sp>
      <p:sp>
        <p:nvSpPr>
          <p:cNvPr id="14" name="Text 11"/>
          <p:cNvSpPr/>
          <p:nvPr/>
        </p:nvSpPr>
        <p:spPr>
          <a:xfrm>
            <a:off x="8318500" y="3538538"/>
            <a:ext cx="38331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10312401" y="3405188"/>
            <a:ext cx="914400" cy="558800"/>
          </a:xfrm>
          <a:prstGeom prst="rect">
            <a:avLst/>
          </a:prstGeom>
          <a:noFill/>
          <a:ln/>
        </p:spPr>
        <p:txBody>
          <a:bodyPr wrap="square" lIns="0" tIns="0" rIns="0" bIns="0" rtlCol="0" anchor="t">
            <a:normAutofit/>
          </a:bodyPr>
          <a:lstStyle/>
          <a:p>
            <a:pPr marL="0" indent="0" algn="r">
              <a:lnSpc>
                <a:spcPts val="4200"/>
              </a:lnSpc>
              <a:buNone/>
            </a:pPr>
            <a:r>
              <a:rPr lang="en-US" sz="3000" b="1" dirty="0">
                <a:solidFill>
                  <a:srgbClr val="0B64A8"/>
                </a:solidFill>
                <a:latin typeface="Times New Roman" panose="02020603050405020304" pitchFamily="18" charset="0"/>
                <a:ea typeface="Tinos" pitchFamily="18" charset="-122"/>
                <a:cs typeface="Times New Roman" panose="02020603050405020304" pitchFamily="18" charset="0"/>
              </a:rPr>
              <a:t>16%</a:t>
            </a:r>
            <a:endParaRPr lang="en-US" sz="3000" dirty="0">
              <a:latin typeface="Times New Roman" panose="02020603050405020304" pitchFamily="18" charset="0"/>
              <a:cs typeface="Times New Roman" panose="02020603050405020304" pitchFamily="18" charset="0"/>
            </a:endParaRPr>
          </a:p>
        </p:txBody>
      </p:sp>
      <p:sp>
        <p:nvSpPr>
          <p:cNvPr id="16" name="Shape 13"/>
          <p:cNvSpPr/>
          <p:nvPr/>
        </p:nvSpPr>
        <p:spPr>
          <a:xfrm>
            <a:off x="8166100" y="4090987"/>
            <a:ext cx="3213100" cy="635000"/>
          </a:xfrm>
          <a:prstGeom prst="rect">
            <a:avLst/>
          </a:prstGeom>
          <a:solidFill>
            <a:srgbClr val="FBE5D6"/>
          </a:solidFill>
          <a:ln/>
        </p:spPr>
      </p:sp>
      <p:sp>
        <p:nvSpPr>
          <p:cNvPr id="17" name="Text 14"/>
          <p:cNvSpPr/>
          <p:nvPr/>
        </p:nvSpPr>
        <p:spPr>
          <a:xfrm>
            <a:off x="8318500" y="4275138"/>
            <a:ext cx="9615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18" name="Text 15"/>
          <p:cNvSpPr/>
          <p:nvPr/>
        </p:nvSpPr>
        <p:spPr>
          <a:xfrm>
            <a:off x="10312401" y="4141788"/>
            <a:ext cx="914400" cy="558800"/>
          </a:xfrm>
          <a:prstGeom prst="rect">
            <a:avLst/>
          </a:prstGeom>
          <a:noFill/>
          <a:ln/>
        </p:spPr>
        <p:txBody>
          <a:bodyPr wrap="square" lIns="0" tIns="0" rIns="0" bIns="0" rtlCol="0" anchor="t">
            <a:normAutofit/>
          </a:bodyPr>
          <a:lstStyle/>
          <a:p>
            <a:pPr marL="0" indent="0" algn="r">
              <a:lnSpc>
                <a:spcPts val="4200"/>
              </a:lnSpc>
              <a:buNone/>
            </a:pPr>
            <a:r>
              <a:rPr lang="en-US" sz="3000" b="1" dirty="0">
                <a:solidFill>
                  <a:srgbClr val="B8480F"/>
                </a:solidFill>
                <a:latin typeface="Times New Roman" panose="02020603050405020304" pitchFamily="18" charset="0"/>
                <a:ea typeface="Tinos" pitchFamily="18" charset="-122"/>
                <a:cs typeface="Times New Roman" panose="02020603050405020304" pitchFamily="18" charset="0"/>
              </a:rPr>
              <a:t>35%</a:t>
            </a:r>
            <a:endParaRPr lang="en-US" sz="3000" dirty="0">
              <a:latin typeface="Times New Roman" panose="02020603050405020304" pitchFamily="18" charset="0"/>
              <a:cs typeface="Times New Roman" panose="02020603050405020304" pitchFamily="18" charset="0"/>
            </a:endParaRPr>
          </a:p>
        </p:txBody>
      </p:sp>
      <p:sp>
        <p:nvSpPr>
          <p:cNvPr id="19" name="Shape 16"/>
          <p:cNvSpPr/>
          <p:nvPr/>
        </p:nvSpPr>
        <p:spPr>
          <a:xfrm>
            <a:off x="8175625" y="4837113"/>
            <a:ext cx="3194050" cy="652236"/>
          </a:xfrm>
          <a:prstGeom prst="rect">
            <a:avLst/>
          </a:prstGeom>
          <a:solidFill>
            <a:srgbClr val="E8F5EE"/>
          </a:solidFill>
          <a:ln w="19050">
            <a:solidFill>
              <a:srgbClr val="0B7F58"/>
            </a:solidFill>
            <a:prstDash val="solid"/>
          </a:ln>
        </p:spPr>
      </p:sp>
      <p:sp>
        <p:nvSpPr>
          <p:cNvPr id="20" name="Text 17"/>
          <p:cNvSpPr/>
          <p:nvPr/>
        </p:nvSpPr>
        <p:spPr>
          <a:xfrm>
            <a:off x="8336643" y="5029882"/>
            <a:ext cx="161863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1" name="Text 18"/>
          <p:cNvSpPr/>
          <p:nvPr/>
        </p:nvSpPr>
        <p:spPr>
          <a:xfrm>
            <a:off x="10294258" y="4896532"/>
            <a:ext cx="914400" cy="558800"/>
          </a:xfrm>
          <a:prstGeom prst="rect">
            <a:avLst/>
          </a:prstGeom>
          <a:noFill/>
          <a:ln/>
        </p:spPr>
        <p:txBody>
          <a:bodyPr wrap="square" lIns="0" tIns="0" rIns="0" bIns="0" rtlCol="0" anchor="t">
            <a:normAutofit/>
          </a:bodyPr>
          <a:lstStyle/>
          <a:p>
            <a:pPr marL="0" indent="0" algn="r">
              <a:lnSpc>
                <a:spcPts val="4200"/>
              </a:lnSpc>
              <a:buNone/>
            </a:pPr>
            <a:r>
              <a:rPr lang="en-US" sz="3000" b="1" dirty="0">
                <a:solidFill>
                  <a:srgbClr val="0B7F58"/>
                </a:solidFill>
                <a:latin typeface="Times New Roman" panose="02020603050405020304" pitchFamily="18" charset="0"/>
                <a:ea typeface="Tinos" pitchFamily="18" charset="-122"/>
                <a:cs typeface="Times New Roman" panose="02020603050405020304" pitchFamily="18" charset="0"/>
              </a:rPr>
              <a:t>96%</a:t>
            </a:r>
            <a:endParaRPr lang="en-US" sz="3000" dirty="0">
              <a:latin typeface="Times New Roman" panose="02020603050405020304" pitchFamily="18" charset="0"/>
              <a:cs typeface="Times New Roman" panose="02020603050405020304" pitchFamily="18" charset="0"/>
            </a:endParaRPr>
          </a:p>
        </p:txBody>
      </p:sp>
      <p:sp>
        <p:nvSpPr>
          <p:cNvPr id="22" name="Text 19"/>
          <p:cNvSpPr/>
          <p:nvPr/>
        </p:nvSpPr>
        <p:spPr>
          <a:xfrm>
            <a:off x="8166100" y="5600477"/>
            <a:ext cx="3309493"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Cả ba đúng </a:t>
            </a:r>
            <a:r>
              <a:rPr lang="en-US" sz="1400" dirty="0">
                <a:solidFill>
                  <a:srgbClr val="C00000"/>
                </a:solidFill>
                <a:latin typeface="Times New Roman" panose="02020603050405020304" pitchFamily="18" charset="0"/>
                <a:ea typeface="Open Sans" pitchFamily="34" charset="-122"/>
                <a:cs typeface="Times New Roman" panose="02020603050405020304" pitchFamily="18" charset="0"/>
              </a:rPr>
              <a:t>100% từ 7,5 dB</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19</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Vì sao ngân hàng lọc bền hơn?</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Khung sạch giữ được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càng nhiều năng lượng ở 7 tần số chuẩn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 càng chịu được nhiễu</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919189"/>
            <a:ext cx="68021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Năng lượng nằm ở 7 tần số chuẩn (khung không nhiễu)</a:t>
            </a:r>
            <a:endParaRPr lang="en-US" sz="1500" dirty="0">
              <a:latin typeface="Times New Roman" panose="02020603050405020304" pitchFamily="18" charset="0"/>
              <a:cs typeface="Times New Roman" panose="02020603050405020304" pitchFamily="18" charset="0"/>
            </a:endParaRPr>
          </a:p>
        </p:txBody>
      </p:sp>
      <p:sp>
        <p:nvSpPr>
          <p:cNvPr id="7" name="Text 5"/>
          <p:cNvSpPr/>
          <p:nvPr/>
        </p:nvSpPr>
        <p:spPr>
          <a:xfrm>
            <a:off x="762000" y="3477989"/>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8" name="Shape 6"/>
          <p:cNvSpPr/>
          <p:nvPr/>
        </p:nvSpPr>
        <p:spPr>
          <a:xfrm>
            <a:off x="2336800" y="3363689"/>
            <a:ext cx="3810000" cy="457200"/>
          </a:xfrm>
          <a:prstGeom prst="rect">
            <a:avLst/>
          </a:prstGeom>
          <a:solidFill>
            <a:srgbClr val="EEF1F5"/>
          </a:solidFill>
          <a:ln/>
        </p:spPr>
      </p:sp>
      <p:sp>
        <p:nvSpPr>
          <p:cNvPr id="9" name="Shape 7"/>
          <p:cNvSpPr/>
          <p:nvPr/>
        </p:nvSpPr>
        <p:spPr>
          <a:xfrm>
            <a:off x="2336800" y="3363689"/>
            <a:ext cx="3359150" cy="457200"/>
          </a:xfrm>
          <a:prstGeom prst="rect">
            <a:avLst/>
          </a:prstGeom>
          <a:solidFill>
            <a:srgbClr val="0B64A8"/>
          </a:solidFill>
          <a:ln/>
        </p:spPr>
      </p:sp>
      <p:sp>
        <p:nvSpPr>
          <p:cNvPr id="10" name="Shape 8"/>
          <p:cNvSpPr/>
          <p:nvPr/>
        </p:nvSpPr>
        <p:spPr>
          <a:xfrm>
            <a:off x="4991100" y="3363689"/>
            <a:ext cx="25400" cy="457200"/>
          </a:xfrm>
          <a:prstGeom prst="rect">
            <a:avLst/>
          </a:prstGeom>
          <a:solidFill>
            <a:srgbClr val="C00000"/>
          </a:solidFill>
          <a:ln/>
        </p:spPr>
      </p:sp>
      <p:sp>
        <p:nvSpPr>
          <p:cNvPr id="11" name="Text 9"/>
          <p:cNvSpPr/>
          <p:nvPr/>
        </p:nvSpPr>
        <p:spPr>
          <a:xfrm>
            <a:off x="6273800" y="3396692"/>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64A8"/>
                </a:solidFill>
                <a:latin typeface="Times New Roman" panose="02020603050405020304" pitchFamily="18" charset="0"/>
                <a:ea typeface="Tinos" pitchFamily="18" charset="-122"/>
                <a:cs typeface="Times New Roman" panose="02020603050405020304" pitchFamily="18" charset="0"/>
              </a:rPr>
              <a:t>88%</a:t>
            </a:r>
            <a:endParaRPr lang="en-US" sz="2200" dirty="0">
              <a:latin typeface="Times New Roman" panose="02020603050405020304" pitchFamily="18" charset="0"/>
              <a:cs typeface="Times New Roman" panose="02020603050405020304" pitchFamily="18" charset="0"/>
            </a:endParaRPr>
          </a:p>
        </p:txBody>
      </p:sp>
      <p:sp>
        <p:nvSpPr>
          <p:cNvPr id="12" name="Text 10"/>
          <p:cNvSpPr/>
          <p:nvPr/>
        </p:nvSpPr>
        <p:spPr>
          <a:xfrm>
            <a:off x="762000" y="4112989"/>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13" name="Shape 11"/>
          <p:cNvSpPr/>
          <p:nvPr/>
        </p:nvSpPr>
        <p:spPr>
          <a:xfrm>
            <a:off x="2336800" y="3998689"/>
            <a:ext cx="3810000" cy="457200"/>
          </a:xfrm>
          <a:prstGeom prst="rect">
            <a:avLst/>
          </a:prstGeom>
          <a:solidFill>
            <a:srgbClr val="EEF1F5"/>
          </a:solidFill>
          <a:ln/>
        </p:spPr>
      </p:sp>
      <p:sp>
        <p:nvSpPr>
          <p:cNvPr id="14" name="Shape 12"/>
          <p:cNvSpPr/>
          <p:nvPr/>
        </p:nvSpPr>
        <p:spPr>
          <a:xfrm>
            <a:off x="2336800" y="3998689"/>
            <a:ext cx="3536950" cy="457200"/>
          </a:xfrm>
          <a:prstGeom prst="rect">
            <a:avLst/>
          </a:prstGeom>
          <a:solidFill>
            <a:srgbClr val="B8480F"/>
          </a:solidFill>
          <a:ln/>
        </p:spPr>
      </p:sp>
      <p:sp>
        <p:nvSpPr>
          <p:cNvPr id="15" name="Shape 13"/>
          <p:cNvSpPr/>
          <p:nvPr/>
        </p:nvSpPr>
        <p:spPr>
          <a:xfrm>
            <a:off x="4991100" y="3998689"/>
            <a:ext cx="25400" cy="457200"/>
          </a:xfrm>
          <a:prstGeom prst="rect">
            <a:avLst/>
          </a:prstGeom>
          <a:solidFill>
            <a:srgbClr val="C00000"/>
          </a:solidFill>
          <a:ln/>
        </p:spPr>
      </p:sp>
      <p:sp>
        <p:nvSpPr>
          <p:cNvPr id="16" name="Text 14"/>
          <p:cNvSpPr/>
          <p:nvPr/>
        </p:nvSpPr>
        <p:spPr>
          <a:xfrm>
            <a:off x="6273800" y="4031692"/>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8480F"/>
                </a:solidFill>
                <a:latin typeface="Times New Roman" panose="02020603050405020304" pitchFamily="18" charset="0"/>
                <a:ea typeface="Tinos" pitchFamily="18" charset="-122"/>
                <a:cs typeface="Times New Roman" panose="02020603050405020304" pitchFamily="18" charset="0"/>
              </a:rPr>
              <a:t>93%</a:t>
            </a:r>
            <a:endParaRPr lang="en-US" sz="2200" dirty="0">
              <a:latin typeface="Times New Roman" panose="02020603050405020304" pitchFamily="18" charset="0"/>
              <a:cs typeface="Times New Roman" panose="02020603050405020304" pitchFamily="18" charset="0"/>
            </a:endParaRPr>
          </a:p>
        </p:txBody>
      </p:sp>
      <p:sp>
        <p:nvSpPr>
          <p:cNvPr id="17" name="Text 15"/>
          <p:cNvSpPr/>
          <p:nvPr/>
        </p:nvSpPr>
        <p:spPr>
          <a:xfrm>
            <a:off x="762000" y="4747989"/>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18" name="Shape 16"/>
          <p:cNvSpPr/>
          <p:nvPr/>
        </p:nvSpPr>
        <p:spPr>
          <a:xfrm>
            <a:off x="2336800" y="4633689"/>
            <a:ext cx="3810000" cy="457200"/>
          </a:xfrm>
          <a:prstGeom prst="rect">
            <a:avLst/>
          </a:prstGeom>
          <a:solidFill>
            <a:srgbClr val="EEF1F5"/>
          </a:solidFill>
          <a:ln/>
        </p:spPr>
      </p:sp>
      <p:sp>
        <p:nvSpPr>
          <p:cNvPr id="19" name="Shape 17"/>
          <p:cNvSpPr/>
          <p:nvPr/>
        </p:nvSpPr>
        <p:spPr>
          <a:xfrm>
            <a:off x="2336800" y="4633689"/>
            <a:ext cx="3714750" cy="457200"/>
          </a:xfrm>
          <a:prstGeom prst="rect">
            <a:avLst/>
          </a:prstGeom>
          <a:solidFill>
            <a:srgbClr val="0B7F58"/>
          </a:solidFill>
          <a:ln/>
        </p:spPr>
      </p:sp>
      <p:sp>
        <p:nvSpPr>
          <p:cNvPr id="20" name="Shape 18"/>
          <p:cNvSpPr/>
          <p:nvPr/>
        </p:nvSpPr>
        <p:spPr>
          <a:xfrm>
            <a:off x="4991100" y="4633689"/>
            <a:ext cx="25400" cy="457200"/>
          </a:xfrm>
          <a:prstGeom prst="rect">
            <a:avLst/>
          </a:prstGeom>
          <a:solidFill>
            <a:srgbClr val="C00000"/>
          </a:solidFill>
          <a:ln/>
        </p:spPr>
      </p:sp>
      <p:sp>
        <p:nvSpPr>
          <p:cNvPr id="21" name="Text 19"/>
          <p:cNvSpPr/>
          <p:nvPr/>
        </p:nvSpPr>
        <p:spPr>
          <a:xfrm>
            <a:off x="6273800" y="4666692"/>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7F58"/>
                </a:solidFill>
                <a:latin typeface="Times New Roman" panose="02020603050405020304" pitchFamily="18" charset="0"/>
                <a:ea typeface="Tinos" pitchFamily="18" charset="-122"/>
                <a:cs typeface="Times New Roman" panose="02020603050405020304" pitchFamily="18" charset="0"/>
              </a:rPr>
              <a:t>97,5%</a:t>
            </a:r>
            <a:endParaRPr lang="en-US" sz="2200" dirty="0">
              <a:latin typeface="Times New Roman" panose="02020603050405020304" pitchFamily="18" charset="0"/>
              <a:cs typeface="Times New Roman" panose="02020603050405020304" pitchFamily="18" charset="0"/>
            </a:endParaRPr>
          </a:p>
        </p:txBody>
      </p:sp>
      <p:sp>
        <p:nvSpPr>
          <p:cNvPr id="22" name="Text 20"/>
          <p:cNvSpPr/>
          <p:nvPr/>
        </p:nvSpPr>
        <p:spPr>
          <a:xfrm>
            <a:off x="812800" y="5268689"/>
            <a:ext cx="6802120"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Vạch đỏ: ngưỡng 70%, dưới mức này khung bị loại</a:t>
            </a:r>
            <a:endParaRPr lang="en-US" sz="1200" dirty="0">
              <a:latin typeface="Times New Roman" panose="02020603050405020304" pitchFamily="18" charset="0"/>
              <a:cs typeface="Times New Roman" panose="02020603050405020304" pitchFamily="18" charset="0"/>
            </a:endParaRPr>
          </a:p>
        </p:txBody>
      </p:sp>
      <p:sp>
        <p:nvSpPr>
          <p:cNvPr id="23" name="Shape 21"/>
          <p:cNvSpPr/>
          <p:nvPr/>
        </p:nvSpPr>
        <p:spPr>
          <a:xfrm>
            <a:off x="7842250" y="2982801"/>
            <a:ext cx="0" cy="613342"/>
          </a:xfrm>
          <a:prstGeom prst="line">
            <a:avLst/>
          </a:prstGeom>
          <a:noFill/>
          <a:ln w="38100">
            <a:solidFill>
              <a:srgbClr val="1F4E9A"/>
            </a:solidFill>
            <a:prstDash val="solid"/>
          </a:ln>
        </p:spPr>
      </p:sp>
      <p:sp>
        <p:nvSpPr>
          <p:cNvPr id="24" name="Text 22"/>
          <p:cNvSpPr/>
          <p:nvPr/>
        </p:nvSpPr>
        <p:spPr>
          <a:xfrm>
            <a:off x="8011886" y="3008201"/>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Nhiễu lọt vào như nhau</a:t>
            </a:r>
            <a:endParaRPr lang="en-US" sz="1600" dirty="0">
              <a:latin typeface="Times New Roman" panose="02020603050405020304" pitchFamily="18" charset="0"/>
              <a:cs typeface="Times New Roman" panose="02020603050405020304" pitchFamily="18" charset="0"/>
            </a:endParaRPr>
          </a:p>
        </p:txBody>
      </p:sp>
      <p:sp>
        <p:nvSpPr>
          <p:cNvPr id="25" name="Text 23"/>
          <p:cNvSpPr/>
          <p:nvPr/>
        </p:nvSpPr>
        <p:spPr>
          <a:xfrm>
            <a:off x="8011886" y="3330749"/>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~7% ở cả ba phương pháp</a:t>
            </a:r>
            <a:endParaRPr lang="en-US" sz="1400" dirty="0">
              <a:latin typeface="Times New Roman" panose="02020603050405020304" pitchFamily="18" charset="0"/>
              <a:cs typeface="Times New Roman" panose="02020603050405020304" pitchFamily="18" charset="0"/>
            </a:endParaRPr>
          </a:p>
        </p:txBody>
      </p:sp>
      <p:sp>
        <p:nvSpPr>
          <p:cNvPr id="26" name="Shape 24"/>
          <p:cNvSpPr/>
          <p:nvPr/>
        </p:nvSpPr>
        <p:spPr>
          <a:xfrm>
            <a:off x="7842250" y="3773946"/>
            <a:ext cx="0" cy="853338"/>
          </a:xfrm>
          <a:prstGeom prst="line">
            <a:avLst/>
          </a:prstGeom>
          <a:noFill/>
          <a:ln w="38100">
            <a:solidFill>
              <a:srgbClr val="1F4E9A"/>
            </a:solidFill>
            <a:prstDash val="solid"/>
          </a:ln>
        </p:spPr>
      </p:sp>
      <p:sp>
        <p:nvSpPr>
          <p:cNvPr id="27" name="Text 25"/>
          <p:cNvSpPr/>
          <p:nvPr/>
        </p:nvSpPr>
        <p:spPr>
          <a:xfrm>
            <a:off x="8011886" y="3799346"/>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Khác ở phần tín hiệu</a:t>
            </a:r>
            <a:endParaRPr lang="en-US" sz="1600" dirty="0">
              <a:latin typeface="Times New Roman" panose="02020603050405020304" pitchFamily="18" charset="0"/>
              <a:cs typeface="Times New Roman" panose="02020603050405020304" pitchFamily="18" charset="0"/>
            </a:endParaRPr>
          </a:p>
        </p:txBody>
      </p:sp>
      <p:sp>
        <p:nvSpPr>
          <p:cNvPr id="28" name="Text 26"/>
          <p:cNvSpPr/>
          <p:nvPr/>
        </p:nvSpPr>
        <p:spPr>
          <a:xfrm>
            <a:off x="8011886" y="4121894"/>
            <a:ext cx="3468334"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FFT, Goertzel đo hơi lệch tần số chuẩn nên hụt năng lượng</a:t>
            </a:r>
            <a:endParaRPr lang="en-US" sz="1400" dirty="0">
              <a:latin typeface="Times New Roman" panose="02020603050405020304" pitchFamily="18" charset="0"/>
              <a:cs typeface="Times New Roman" panose="02020603050405020304" pitchFamily="18" charset="0"/>
            </a:endParaRPr>
          </a:p>
        </p:txBody>
      </p:sp>
      <p:sp>
        <p:nvSpPr>
          <p:cNvPr id="29" name="Shape 27"/>
          <p:cNvSpPr/>
          <p:nvPr/>
        </p:nvSpPr>
        <p:spPr>
          <a:xfrm>
            <a:off x="7842250" y="4805090"/>
            <a:ext cx="0" cy="613342"/>
          </a:xfrm>
          <a:prstGeom prst="line">
            <a:avLst/>
          </a:prstGeom>
          <a:noFill/>
          <a:ln w="38100">
            <a:solidFill>
              <a:srgbClr val="C00000"/>
            </a:solidFill>
            <a:prstDash val="solid"/>
          </a:ln>
        </p:spPr>
      </p:sp>
      <p:sp>
        <p:nvSpPr>
          <p:cNvPr id="30" name="Text 28"/>
          <p:cNvSpPr/>
          <p:nvPr/>
        </p:nvSpPr>
        <p:spPr>
          <a:xfrm>
            <a:off x="8011886" y="4830490"/>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C00000"/>
                </a:solidFill>
                <a:latin typeface="Times New Roman" panose="02020603050405020304" pitchFamily="18" charset="0"/>
                <a:ea typeface="Open Sans" pitchFamily="34" charset="-122"/>
                <a:cs typeface="Times New Roman" panose="02020603050405020304" pitchFamily="18" charset="0"/>
              </a:rPr>
              <a:t>Lỗi = bỏ sót, không nhầm</a:t>
            </a:r>
            <a:endParaRPr lang="en-US" sz="1600" dirty="0">
              <a:latin typeface="Times New Roman" panose="02020603050405020304" pitchFamily="18" charset="0"/>
              <a:cs typeface="Times New Roman" panose="02020603050405020304" pitchFamily="18" charset="0"/>
            </a:endParaRPr>
          </a:p>
        </p:txBody>
      </p:sp>
      <p:sp>
        <p:nvSpPr>
          <p:cNvPr id="31" name="Text 29"/>
          <p:cNvSpPr/>
          <p:nvPr/>
        </p:nvSpPr>
        <p:spPr>
          <a:xfrm>
            <a:off x="8011886" y="5153025"/>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2,5 dB: 368 lỗi, chỉ 1 lần thay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20</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Chi phí tính toán</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Goertzel cần ít phép nhân nhất: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¼ FFT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1/10 ngân hàng lọc</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2870200" y="2595401"/>
            <a:ext cx="7089902"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Phép nhân mỗi giây âm thanh (lý thuyết)</a:t>
            </a:r>
            <a:endParaRPr lang="en-US" sz="1300" dirty="0">
              <a:latin typeface="Times New Roman" panose="02020603050405020304" pitchFamily="18" charset="0"/>
              <a:cs typeface="Times New Roman" panose="02020603050405020304" pitchFamily="18" charset="0"/>
            </a:endParaRPr>
          </a:p>
        </p:txBody>
      </p:sp>
      <p:sp>
        <p:nvSpPr>
          <p:cNvPr id="7" name="Text 5"/>
          <p:cNvSpPr/>
          <p:nvPr/>
        </p:nvSpPr>
        <p:spPr>
          <a:xfrm>
            <a:off x="9906001" y="2364308"/>
            <a:ext cx="1447800" cy="487589"/>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Đo trong MATLAB</a:t>
            </a:r>
            <a:endParaRPr lang="en-US" sz="1300" dirty="0">
              <a:latin typeface="Times New Roman" panose="02020603050405020304" pitchFamily="18" charset="0"/>
              <a:cs typeface="Times New Roman" panose="02020603050405020304" pitchFamily="18" charset="0"/>
            </a:endParaRPr>
          </a:p>
        </p:txBody>
      </p:sp>
      <p:sp>
        <p:nvSpPr>
          <p:cNvPr id="8" name="Text 6"/>
          <p:cNvSpPr/>
          <p:nvPr/>
        </p:nvSpPr>
        <p:spPr>
          <a:xfrm>
            <a:off x="755650" y="31198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700" dirty="0">
              <a:latin typeface="Times New Roman" panose="02020603050405020304" pitchFamily="18" charset="0"/>
              <a:cs typeface="Times New Roman" panose="02020603050405020304" pitchFamily="18" charset="0"/>
            </a:endParaRPr>
          </a:p>
        </p:txBody>
      </p:sp>
      <p:sp>
        <p:nvSpPr>
          <p:cNvPr id="9" name="Shape 7"/>
          <p:cNvSpPr/>
          <p:nvPr/>
        </p:nvSpPr>
        <p:spPr>
          <a:xfrm>
            <a:off x="2870200" y="3004294"/>
            <a:ext cx="5461000" cy="533400"/>
          </a:xfrm>
          <a:prstGeom prst="rect">
            <a:avLst/>
          </a:prstGeom>
          <a:solidFill>
            <a:srgbClr val="EEF1F5"/>
          </a:solidFill>
          <a:ln/>
        </p:spPr>
      </p:sp>
      <p:sp>
        <p:nvSpPr>
          <p:cNvPr id="10" name="Shape 8"/>
          <p:cNvSpPr/>
          <p:nvPr/>
        </p:nvSpPr>
        <p:spPr>
          <a:xfrm>
            <a:off x="2870200" y="3004294"/>
            <a:ext cx="2216150" cy="533400"/>
          </a:xfrm>
          <a:prstGeom prst="rect">
            <a:avLst/>
          </a:prstGeom>
          <a:solidFill>
            <a:srgbClr val="0B64A8"/>
          </a:solidFill>
          <a:ln/>
        </p:spPr>
      </p:sp>
      <p:sp>
        <p:nvSpPr>
          <p:cNvPr id="11" name="Text 9"/>
          <p:cNvSpPr/>
          <p:nvPr/>
        </p:nvSpPr>
        <p:spPr>
          <a:xfrm>
            <a:off x="8483600" y="3057649"/>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64A8"/>
                </a:solidFill>
                <a:latin typeface="Times New Roman" panose="02020603050405020304" pitchFamily="18" charset="0"/>
                <a:ea typeface="Tinos" pitchFamily="18" charset="-122"/>
                <a:cs typeface="Times New Roman" panose="02020603050405020304" pitchFamily="18" charset="0"/>
              </a:rPr>
              <a:t>273 000</a:t>
            </a:r>
            <a:endParaRPr lang="en-US" sz="2400" dirty="0">
              <a:latin typeface="Times New Roman" panose="02020603050405020304" pitchFamily="18" charset="0"/>
              <a:cs typeface="Times New Roman" panose="02020603050405020304" pitchFamily="18" charset="0"/>
            </a:endParaRPr>
          </a:p>
        </p:txBody>
      </p:sp>
      <p:sp>
        <p:nvSpPr>
          <p:cNvPr id="12" name="Text 10"/>
          <p:cNvSpPr/>
          <p:nvPr/>
        </p:nvSpPr>
        <p:spPr>
          <a:xfrm>
            <a:off x="9906001" y="3128739"/>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2,52 ms</a:t>
            </a:r>
            <a:endParaRPr lang="en-US" sz="1600" dirty="0">
              <a:latin typeface="Times New Roman" panose="02020603050405020304" pitchFamily="18" charset="0"/>
              <a:cs typeface="Times New Roman" panose="02020603050405020304" pitchFamily="18" charset="0"/>
            </a:endParaRPr>
          </a:p>
        </p:txBody>
      </p:sp>
      <p:sp>
        <p:nvSpPr>
          <p:cNvPr id="13" name="Text 11"/>
          <p:cNvSpPr/>
          <p:nvPr/>
        </p:nvSpPr>
        <p:spPr>
          <a:xfrm>
            <a:off x="755650" y="38310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700" dirty="0">
              <a:latin typeface="Times New Roman" panose="02020603050405020304" pitchFamily="18" charset="0"/>
              <a:cs typeface="Times New Roman" panose="02020603050405020304" pitchFamily="18" charset="0"/>
            </a:endParaRPr>
          </a:p>
        </p:txBody>
      </p:sp>
      <p:sp>
        <p:nvSpPr>
          <p:cNvPr id="14" name="Shape 12"/>
          <p:cNvSpPr/>
          <p:nvPr/>
        </p:nvSpPr>
        <p:spPr>
          <a:xfrm>
            <a:off x="2870200" y="3715494"/>
            <a:ext cx="5461000" cy="533400"/>
          </a:xfrm>
          <a:prstGeom prst="rect">
            <a:avLst/>
          </a:prstGeom>
          <a:solidFill>
            <a:srgbClr val="EEF1F5"/>
          </a:solidFill>
          <a:ln/>
        </p:spPr>
      </p:sp>
      <p:sp>
        <p:nvSpPr>
          <p:cNvPr id="15" name="Shape 13"/>
          <p:cNvSpPr/>
          <p:nvPr/>
        </p:nvSpPr>
        <p:spPr>
          <a:xfrm>
            <a:off x="2870200" y="3715494"/>
            <a:ext cx="533400" cy="533400"/>
          </a:xfrm>
          <a:prstGeom prst="rect">
            <a:avLst/>
          </a:prstGeom>
          <a:solidFill>
            <a:srgbClr val="B8480F"/>
          </a:solidFill>
          <a:ln/>
        </p:spPr>
      </p:sp>
      <p:sp>
        <p:nvSpPr>
          <p:cNvPr id="16" name="Text 14"/>
          <p:cNvSpPr/>
          <p:nvPr/>
        </p:nvSpPr>
        <p:spPr>
          <a:xfrm>
            <a:off x="8483600" y="3768849"/>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B8480F"/>
                </a:solidFill>
                <a:latin typeface="Times New Roman" panose="02020603050405020304" pitchFamily="18" charset="0"/>
                <a:ea typeface="Tinos" pitchFamily="18" charset="-122"/>
                <a:cs typeface="Times New Roman" panose="02020603050405020304" pitchFamily="18" charset="0"/>
              </a:rPr>
              <a:t>65 249</a:t>
            </a:r>
            <a:endParaRPr lang="en-US" sz="2400" dirty="0">
              <a:latin typeface="Times New Roman" panose="02020603050405020304" pitchFamily="18" charset="0"/>
              <a:cs typeface="Times New Roman" panose="02020603050405020304" pitchFamily="18" charset="0"/>
            </a:endParaRPr>
          </a:p>
        </p:txBody>
      </p:sp>
      <p:sp>
        <p:nvSpPr>
          <p:cNvPr id="17" name="Text 15"/>
          <p:cNvSpPr/>
          <p:nvPr/>
        </p:nvSpPr>
        <p:spPr>
          <a:xfrm>
            <a:off x="9906001" y="3839939"/>
            <a:ext cx="144780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1,50 ms</a:t>
            </a:r>
            <a:endParaRPr lang="en-US" sz="1600" dirty="0">
              <a:latin typeface="Times New Roman" panose="02020603050405020304" pitchFamily="18" charset="0"/>
              <a:cs typeface="Times New Roman" panose="02020603050405020304" pitchFamily="18" charset="0"/>
            </a:endParaRPr>
          </a:p>
        </p:txBody>
      </p:sp>
      <p:sp>
        <p:nvSpPr>
          <p:cNvPr id="18" name="Text 16"/>
          <p:cNvSpPr/>
          <p:nvPr/>
        </p:nvSpPr>
        <p:spPr>
          <a:xfrm>
            <a:off x="755650" y="45422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700" dirty="0">
              <a:latin typeface="Times New Roman" panose="02020603050405020304" pitchFamily="18" charset="0"/>
              <a:cs typeface="Times New Roman" panose="02020603050405020304" pitchFamily="18" charset="0"/>
            </a:endParaRPr>
          </a:p>
        </p:txBody>
      </p:sp>
      <p:sp>
        <p:nvSpPr>
          <p:cNvPr id="19" name="Shape 17"/>
          <p:cNvSpPr/>
          <p:nvPr/>
        </p:nvSpPr>
        <p:spPr>
          <a:xfrm>
            <a:off x="2870200" y="4426694"/>
            <a:ext cx="5461000" cy="533400"/>
          </a:xfrm>
          <a:prstGeom prst="rect">
            <a:avLst/>
          </a:prstGeom>
          <a:solidFill>
            <a:srgbClr val="EEF1F5"/>
          </a:solidFill>
          <a:ln/>
        </p:spPr>
      </p:sp>
      <p:sp>
        <p:nvSpPr>
          <p:cNvPr id="20" name="Shape 18"/>
          <p:cNvSpPr/>
          <p:nvPr/>
        </p:nvSpPr>
        <p:spPr>
          <a:xfrm>
            <a:off x="2870200" y="4426694"/>
            <a:ext cx="5461000" cy="533400"/>
          </a:xfrm>
          <a:prstGeom prst="rect">
            <a:avLst/>
          </a:prstGeom>
          <a:solidFill>
            <a:srgbClr val="0B7F58"/>
          </a:solidFill>
          <a:ln/>
        </p:spPr>
      </p:sp>
      <p:sp>
        <p:nvSpPr>
          <p:cNvPr id="21" name="Text 19"/>
          <p:cNvSpPr/>
          <p:nvPr/>
        </p:nvSpPr>
        <p:spPr>
          <a:xfrm>
            <a:off x="8483600" y="4480049"/>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7F58"/>
                </a:solidFill>
                <a:latin typeface="Times New Roman" panose="02020603050405020304" pitchFamily="18" charset="0"/>
                <a:ea typeface="Tinos" pitchFamily="18" charset="-122"/>
                <a:cs typeface="Times New Roman" panose="02020603050405020304" pitchFamily="18" charset="0"/>
              </a:rPr>
              <a:t>672 000</a:t>
            </a:r>
            <a:endParaRPr lang="en-US" sz="2400" dirty="0">
              <a:latin typeface="Times New Roman" panose="02020603050405020304" pitchFamily="18" charset="0"/>
              <a:cs typeface="Times New Roman" panose="02020603050405020304" pitchFamily="18" charset="0"/>
            </a:endParaRPr>
          </a:p>
        </p:txBody>
      </p:sp>
      <p:sp>
        <p:nvSpPr>
          <p:cNvPr id="22" name="Text 20"/>
          <p:cNvSpPr/>
          <p:nvPr/>
        </p:nvSpPr>
        <p:spPr>
          <a:xfrm>
            <a:off x="9906001" y="4551139"/>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4,36 ms</a:t>
            </a:r>
            <a:endParaRPr lang="en-US" sz="1600" dirty="0">
              <a:latin typeface="Times New Roman" panose="02020603050405020304" pitchFamily="18" charset="0"/>
              <a:cs typeface="Times New Roman" panose="02020603050405020304" pitchFamily="18" charset="0"/>
            </a:endParaRPr>
          </a:p>
        </p:txBody>
      </p:sp>
      <p:sp>
        <p:nvSpPr>
          <p:cNvPr id="23" name="Text 21"/>
          <p:cNvSpPr/>
          <p:nvPr/>
        </p:nvSpPr>
        <p:spPr>
          <a:xfrm>
            <a:off x="812800" y="5476317"/>
            <a:ext cx="10566401" cy="822892"/>
          </a:xfrm>
          <a:prstGeom prst="rect">
            <a:avLst/>
          </a:prstGeom>
          <a:solidFill>
            <a:srgbClr val="FFF2CC"/>
          </a:solidFill>
          <a:ln/>
        </p:spPr>
        <p:txBody>
          <a:bodyPr wrap="square" lIns="76962" tIns="127000" rIns="76962" bIns="101600" rtlCol="0" anchor="t">
            <a:normAutofit/>
          </a:bodyPr>
          <a:lstStyle/>
          <a:p>
            <a:pPr marL="0" indent="0" algn="ctr">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đều </a:t>
            </a: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nhanh hơn thời gian thực hàng trăm lần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 trên phần cứng nhúng,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số phép nhân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là thước đo đúng</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21</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Dung sai tần số theo ITU-T Q.24</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Từ chối âm lệch ±3,5% thì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đạt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khi thử từng phím, còn nhận âm lệch ±1,5% thì </a:t>
            </a:r>
            <a:r>
              <a:rPr lang="en-US" sz="1700" b="1" dirty="0">
                <a:solidFill>
                  <a:srgbClr val="C00000"/>
                </a:solidFill>
                <a:latin typeface="Times New Roman" panose="02020603050405020304" pitchFamily="18" charset="0"/>
                <a:ea typeface="Open Sans" pitchFamily="34" charset="-122"/>
                <a:cs typeface="Times New Roman" panose="02020603050405020304" pitchFamily="18" charset="0"/>
              </a:rPr>
              <a:t>chưa đạt</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076624"/>
            <a:ext cx="1962150" cy="330200"/>
          </a:xfrm>
          <a:prstGeom prst="rect">
            <a:avLst/>
          </a:prstGeom>
          <a:noFill/>
          <a:ln/>
        </p:spPr>
        <p:txBody>
          <a:bodyPr wrap="square" lIns="0" tIns="0" rIns="0" bIns="0" rtlCol="0" anchor="t">
            <a:normAutofit/>
          </a:bodyPr>
          <a:lstStyle/>
          <a:p>
            <a:pPr marL="0" indent="0" algn="l">
              <a:lnSpc>
                <a:spcPts val="2400"/>
              </a:lnSpc>
              <a:buNone/>
            </a:pPr>
            <a:r>
              <a:rPr lang="en-US" sz="1200" b="1" dirty="0">
                <a:solidFill>
                  <a:srgbClr val="5A6478"/>
                </a:solidFill>
                <a:latin typeface="Times New Roman" panose="02020603050405020304" pitchFamily="18" charset="0"/>
                <a:ea typeface="Open Sans" pitchFamily="34" charset="-122"/>
                <a:cs typeface="Times New Roman" panose="02020603050405020304" pitchFamily="18" charset="0"/>
              </a:rPr>
              <a:t>Tần số lệch</a:t>
            </a:r>
            <a:endParaRPr lang="en-US" sz="1200" dirty="0">
              <a:latin typeface="Times New Roman" panose="02020603050405020304" pitchFamily="18" charset="0"/>
              <a:cs typeface="Times New Roman" panose="02020603050405020304" pitchFamily="18" charset="0"/>
            </a:endParaRPr>
          </a:p>
        </p:txBody>
      </p:sp>
      <p:sp>
        <p:nvSpPr>
          <p:cNvPr id="7" name="Text 5"/>
          <p:cNvSpPr/>
          <p:nvPr/>
        </p:nvSpPr>
        <p:spPr>
          <a:xfrm>
            <a:off x="27432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−3,5%</a:t>
            </a:r>
            <a:endParaRPr lang="en-US" sz="1300" dirty="0">
              <a:latin typeface="Times New Roman" panose="02020603050405020304" pitchFamily="18" charset="0"/>
              <a:cs typeface="Times New Roman" panose="02020603050405020304" pitchFamily="18" charset="0"/>
            </a:endParaRPr>
          </a:p>
        </p:txBody>
      </p:sp>
      <p:sp>
        <p:nvSpPr>
          <p:cNvPr id="8" name="Text 6"/>
          <p:cNvSpPr/>
          <p:nvPr/>
        </p:nvSpPr>
        <p:spPr>
          <a:xfrm>
            <a:off x="36830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1F4E9A"/>
                </a:solidFill>
                <a:latin typeface="Times New Roman" panose="02020603050405020304" pitchFamily="18" charset="0"/>
                <a:ea typeface="Open Sans" pitchFamily="34" charset="-122"/>
                <a:cs typeface="Times New Roman" panose="02020603050405020304" pitchFamily="18" charset="0"/>
              </a:rPr>
              <a:t>−1,5%</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46228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−1%</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55626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−0,5%</a:t>
            </a:r>
            <a:endParaRPr lang="en-US" sz="1300" dirty="0">
              <a:latin typeface="Times New Roman" panose="02020603050405020304" pitchFamily="18" charset="0"/>
              <a:cs typeface="Times New Roman" panose="02020603050405020304" pitchFamily="18" charset="0"/>
            </a:endParaRPr>
          </a:p>
        </p:txBody>
      </p:sp>
      <p:sp>
        <p:nvSpPr>
          <p:cNvPr id="11" name="Text 9"/>
          <p:cNvSpPr/>
          <p:nvPr/>
        </p:nvSpPr>
        <p:spPr>
          <a:xfrm>
            <a:off x="65024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0</a:t>
            </a:r>
            <a:endParaRPr lang="en-US" sz="1300" dirty="0">
              <a:latin typeface="Times New Roman" panose="02020603050405020304" pitchFamily="18" charset="0"/>
              <a:cs typeface="Times New Roman" panose="02020603050405020304" pitchFamily="18" charset="0"/>
            </a:endParaRPr>
          </a:p>
        </p:txBody>
      </p:sp>
      <p:sp>
        <p:nvSpPr>
          <p:cNvPr id="12" name="Text 10"/>
          <p:cNvSpPr/>
          <p:nvPr/>
        </p:nvSpPr>
        <p:spPr>
          <a:xfrm>
            <a:off x="74422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+0,5%</a:t>
            </a:r>
            <a:endParaRPr lang="en-US" sz="1300" dirty="0">
              <a:latin typeface="Times New Roman" panose="02020603050405020304" pitchFamily="18" charset="0"/>
              <a:cs typeface="Times New Roman" panose="02020603050405020304" pitchFamily="18" charset="0"/>
            </a:endParaRPr>
          </a:p>
        </p:txBody>
      </p:sp>
      <p:sp>
        <p:nvSpPr>
          <p:cNvPr id="13" name="Text 11"/>
          <p:cNvSpPr/>
          <p:nvPr/>
        </p:nvSpPr>
        <p:spPr>
          <a:xfrm>
            <a:off x="8382000"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+1%</a:t>
            </a:r>
            <a:endParaRPr lang="en-US" sz="1300" dirty="0">
              <a:latin typeface="Times New Roman" panose="02020603050405020304" pitchFamily="18" charset="0"/>
              <a:cs typeface="Times New Roman" panose="02020603050405020304" pitchFamily="18" charset="0"/>
            </a:endParaRPr>
          </a:p>
        </p:txBody>
      </p:sp>
      <p:sp>
        <p:nvSpPr>
          <p:cNvPr id="14" name="Text 12"/>
          <p:cNvSpPr/>
          <p:nvPr/>
        </p:nvSpPr>
        <p:spPr>
          <a:xfrm>
            <a:off x="9321801"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1F4E9A"/>
                </a:solidFill>
                <a:latin typeface="Times New Roman" panose="02020603050405020304" pitchFamily="18" charset="0"/>
                <a:ea typeface="Open Sans" pitchFamily="34" charset="-122"/>
                <a:cs typeface="Times New Roman" panose="02020603050405020304" pitchFamily="18" charset="0"/>
              </a:rPr>
              <a:t>+1,5%</a:t>
            </a:r>
            <a:endParaRPr lang="en-US" sz="1300" dirty="0">
              <a:latin typeface="Times New Roman" panose="02020603050405020304" pitchFamily="18" charset="0"/>
              <a:cs typeface="Times New Roman" panose="02020603050405020304" pitchFamily="18" charset="0"/>
            </a:endParaRPr>
          </a:p>
        </p:txBody>
      </p:sp>
      <p:sp>
        <p:nvSpPr>
          <p:cNvPr id="15" name="Text 13"/>
          <p:cNvSpPr/>
          <p:nvPr/>
        </p:nvSpPr>
        <p:spPr>
          <a:xfrm>
            <a:off x="10261601" y="2076624"/>
            <a:ext cx="939800" cy="330200"/>
          </a:xfrm>
          <a:prstGeom prst="rect">
            <a:avLst/>
          </a:prstGeom>
          <a:noFill/>
          <a:ln/>
        </p:spPr>
        <p:txBody>
          <a:bodyPr wrap="square" lIns="0" tIns="0" rIns="0" bIns="0" rtlCol="0" anchor="t">
            <a:normAutofit/>
          </a:bodyPr>
          <a:lstStyle/>
          <a:p>
            <a:pPr marL="0" indent="0" algn="ctr">
              <a:lnSpc>
                <a:spcPts val="2405"/>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+3,5%</a:t>
            </a:r>
            <a:endParaRPr lang="en-US" sz="1300" dirty="0">
              <a:latin typeface="Times New Roman" panose="02020603050405020304" pitchFamily="18" charset="0"/>
              <a:cs typeface="Times New Roman" panose="02020603050405020304" pitchFamily="18" charset="0"/>
            </a:endParaRPr>
          </a:p>
        </p:txBody>
      </p:sp>
      <p:sp>
        <p:nvSpPr>
          <p:cNvPr id="16" name="Text 14"/>
          <p:cNvSpPr/>
          <p:nvPr/>
        </p:nvSpPr>
        <p:spPr>
          <a:xfrm>
            <a:off x="812800" y="2432224"/>
            <a:ext cx="1962150" cy="609600"/>
          </a:xfrm>
          <a:prstGeom prst="rect">
            <a:avLst/>
          </a:prstGeom>
          <a:noFill/>
          <a:ln/>
        </p:spPr>
        <p:txBody>
          <a:bodyPr wrap="square" lIns="0" tIns="0" rIns="0" bIns="0" rtlCol="0" anchor="t">
            <a:normAutofit/>
          </a:bodyPr>
          <a:lstStyle/>
          <a:p>
            <a:pPr marL="0" indent="0" algn="l">
              <a:lnSpc>
                <a:spcPts val="4608"/>
              </a:lnSpc>
              <a:buNone/>
            </a:pPr>
            <a:r>
              <a:rPr lang="en-US" sz="16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600" dirty="0">
              <a:latin typeface="Times New Roman" panose="02020603050405020304" pitchFamily="18" charset="0"/>
              <a:cs typeface="Times New Roman" panose="02020603050405020304" pitchFamily="18" charset="0"/>
            </a:endParaRPr>
          </a:p>
        </p:txBody>
      </p:sp>
      <p:sp>
        <p:nvSpPr>
          <p:cNvPr id="17" name="Text 15"/>
          <p:cNvSpPr/>
          <p:nvPr/>
        </p:nvSpPr>
        <p:spPr>
          <a:xfrm>
            <a:off x="2768600" y="243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18" name="Text 16"/>
          <p:cNvSpPr/>
          <p:nvPr/>
        </p:nvSpPr>
        <p:spPr>
          <a:xfrm>
            <a:off x="3708400" y="2432224"/>
            <a:ext cx="889000" cy="584200"/>
          </a:xfrm>
          <a:prstGeom prst="rect">
            <a:avLst/>
          </a:prstGeom>
          <a:solidFill>
            <a:srgbClr val="F8D3BC"/>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3</a:t>
            </a:r>
            <a:endParaRPr lang="en-US" sz="2000" dirty="0">
              <a:latin typeface="Times New Roman" panose="02020603050405020304" pitchFamily="18" charset="0"/>
              <a:cs typeface="Times New Roman" panose="02020603050405020304" pitchFamily="18" charset="0"/>
            </a:endParaRPr>
          </a:p>
        </p:txBody>
      </p:sp>
      <p:sp>
        <p:nvSpPr>
          <p:cNvPr id="19" name="Text 17"/>
          <p:cNvSpPr/>
          <p:nvPr/>
        </p:nvSpPr>
        <p:spPr>
          <a:xfrm>
            <a:off x="4648200" y="2432224"/>
            <a:ext cx="889000" cy="584200"/>
          </a:xfrm>
          <a:prstGeom prst="rect">
            <a:avLst/>
          </a:prstGeom>
          <a:solidFill>
            <a:srgbClr val="A9D8B8"/>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9</a:t>
            </a:r>
            <a:endParaRPr lang="en-US" sz="2000" dirty="0">
              <a:latin typeface="Times New Roman" panose="02020603050405020304" pitchFamily="18" charset="0"/>
              <a:cs typeface="Times New Roman" panose="02020603050405020304" pitchFamily="18" charset="0"/>
            </a:endParaRPr>
          </a:p>
        </p:txBody>
      </p:sp>
      <p:sp>
        <p:nvSpPr>
          <p:cNvPr id="20" name="Text 18"/>
          <p:cNvSpPr/>
          <p:nvPr/>
        </p:nvSpPr>
        <p:spPr>
          <a:xfrm>
            <a:off x="5588000" y="2432224"/>
            <a:ext cx="889000" cy="584200"/>
          </a:xfrm>
          <a:prstGeom prst="rect">
            <a:avLst/>
          </a:prstGeom>
          <a:solidFill>
            <a:srgbClr val="A9D8B8"/>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10</a:t>
            </a:r>
            <a:endParaRPr lang="en-US" sz="2000" dirty="0">
              <a:latin typeface="Times New Roman" panose="02020603050405020304" pitchFamily="18" charset="0"/>
              <a:cs typeface="Times New Roman" panose="02020603050405020304" pitchFamily="18" charset="0"/>
            </a:endParaRPr>
          </a:p>
        </p:txBody>
      </p:sp>
      <p:sp>
        <p:nvSpPr>
          <p:cNvPr id="21" name="Text 19"/>
          <p:cNvSpPr/>
          <p:nvPr/>
        </p:nvSpPr>
        <p:spPr>
          <a:xfrm>
            <a:off x="6527800" y="2432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22" name="Text 20"/>
          <p:cNvSpPr/>
          <p:nvPr/>
        </p:nvSpPr>
        <p:spPr>
          <a:xfrm>
            <a:off x="7467600" y="2432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23" name="Text 21"/>
          <p:cNvSpPr/>
          <p:nvPr/>
        </p:nvSpPr>
        <p:spPr>
          <a:xfrm>
            <a:off x="8407400" y="2432224"/>
            <a:ext cx="889000" cy="584200"/>
          </a:xfrm>
          <a:prstGeom prst="rect">
            <a:avLst/>
          </a:prstGeom>
          <a:solidFill>
            <a:srgbClr val="A9D8B8"/>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8</a:t>
            </a:r>
            <a:endParaRPr lang="en-US" sz="2000" dirty="0">
              <a:latin typeface="Times New Roman" panose="02020603050405020304" pitchFamily="18" charset="0"/>
              <a:cs typeface="Times New Roman" panose="02020603050405020304" pitchFamily="18" charset="0"/>
            </a:endParaRPr>
          </a:p>
        </p:txBody>
      </p:sp>
      <p:sp>
        <p:nvSpPr>
          <p:cNvPr id="24" name="Text 22"/>
          <p:cNvSpPr/>
          <p:nvPr/>
        </p:nvSpPr>
        <p:spPr>
          <a:xfrm>
            <a:off x="9347201" y="2432224"/>
            <a:ext cx="889000" cy="584200"/>
          </a:xfrm>
          <a:prstGeom prst="rect">
            <a:avLst/>
          </a:prstGeom>
          <a:solidFill>
            <a:srgbClr val="F8D3BC"/>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4</a:t>
            </a:r>
            <a:endParaRPr lang="en-US" sz="2000" dirty="0">
              <a:latin typeface="Times New Roman" panose="02020603050405020304" pitchFamily="18" charset="0"/>
              <a:cs typeface="Times New Roman" panose="02020603050405020304" pitchFamily="18" charset="0"/>
            </a:endParaRPr>
          </a:p>
        </p:txBody>
      </p:sp>
      <p:sp>
        <p:nvSpPr>
          <p:cNvPr id="25" name="Text 23"/>
          <p:cNvSpPr/>
          <p:nvPr/>
        </p:nvSpPr>
        <p:spPr>
          <a:xfrm>
            <a:off x="10287001" y="243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26" name="Text 24"/>
          <p:cNvSpPr/>
          <p:nvPr/>
        </p:nvSpPr>
        <p:spPr>
          <a:xfrm>
            <a:off x="812800" y="3067224"/>
            <a:ext cx="1962150" cy="609600"/>
          </a:xfrm>
          <a:prstGeom prst="rect">
            <a:avLst/>
          </a:prstGeom>
          <a:noFill/>
          <a:ln/>
        </p:spPr>
        <p:txBody>
          <a:bodyPr wrap="square" lIns="0" tIns="0" rIns="0" bIns="0" rtlCol="0" anchor="t">
            <a:normAutofit/>
          </a:bodyPr>
          <a:lstStyle/>
          <a:p>
            <a:pPr marL="0" indent="0" algn="l">
              <a:lnSpc>
                <a:spcPts val="4608"/>
              </a:lnSpc>
              <a:buNone/>
            </a:pPr>
            <a:r>
              <a:rPr lang="en-US" sz="16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600" dirty="0">
              <a:latin typeface="Times New Roman" panose="02020603050405020304" pitchFamily="18" charset="0"/>
              <a:cs typeface="Times New Roman" panose="02020603050405020304" pitchFamily="18" charset="0"/>
            </a:endParaRPr>
          </a:p>
        </p:txBody>
      </p:sp>
      <p:sp>
        <p:nvSpPr>
          <p:cNvPr id="27" name="Text 25"/>
          <p:cNvSpPr/>
          <p:nvPr/>
        </p:nvSpPr>
        <p:spPr>
          <a:xfrm>
            <a:off x="2768600" y="3067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28" name="Text 26"/>
          <p:cNvSpPr/>
          <p:nvPr/>
        </p:nvSpPr>
        <p:spPr>
          <a:xfrm>
            <a:off x="3708400" y="3067224"/>
            <a:ext cx="889000" cy="584200"/>
          </a:xfrm>
          <a:prstGeom prst="rect">
            <a:avLst/>
          </a:prstGeom>
          <a:solidFill>
            <a:srgbClr val="F8D3BC"/>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1</a:t>
            </a:r>
            <a:endParaRPr lang="en-US" sz="2000" dirty="0">
              <a:latin typeface="Times New Roman" panose="02020603050405020304" pitchFamily="18" charset="0"/>
              <a:cs typeface="Times New Roman" panose="02020603050405020304" pitchFamily="18" charset="0"/>
            </a:endParaRPr>
          </a:p>
        </p:txBody>
      </p:sp>
      <p:sp>
        <p:nvSpPr>
          <p:cNvPr id="29" name="Text 27"/>
          <p:cNvSpPr/>
          <p:nvPr/>
        </p:nvSpPr>
        <p:spPr>
          <a:xfrm>
            <a:off x="4648200" y="3067224"/>
            <a:ext cx="889000" cy="584200"/>
          </a:xfrm>
          <a:prstGeom prst="rect">
            <a:avLst/>
          </a:prstGeom>
          <a:solidFill>
            <a:srgbClr val="F8D3BC"/>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6</a:t>
            </a:r>
            <a:endParaRPr lang="en-US" sz="2000" dirty="0">
              <a:latin typeface="Times New Roman" panose="02020603050405020304" pitchFamily="18" charset="0"/>
              <a:cs typeface="Times New Roman" panose="02020603050405020304" pitchFamily="18" charset="0"/>
            </a:endParaRPr>
          </a:p>
        </p:txBody>
      </p:sp>
      <p:sp>
        <p:nvSpPr>
          <p:cNvPr id="30" name="Text 28"/>
          <p:cNvSpPr/>
          <p:nvPr/>
        </p:nvSpPr>
        <p:spPr>
          <a:xfrm>
            <a:off x="5588000" y="3067224"/>
            <a:ext cx="889000" cy="584200"/>
          </a:xfrm>
          <a:prstGeom prst="rect">
            <a:avLst/>
          </a:prstGeom>
          <a:solidFill>
            <a:srgbClr val="A9D8B8"/>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11</a:t>
            </a:r>
            <a:endParaRPr lang="en-US" sz="2000" dirty="0">
              <a:latin typeface="Times New Roman" panose="02020603050405020304" pitchFamily="18" charset="0"/>
              <a:cs typeface="Times New Roman" panose="02020603050405020304" pitchFamily="18" charset="0"/>
            </a:endParaRPr>
          </a:p>
        </p:txBody>
      </p:sp>
      <p:sp>
        <p:nvSpPr>
          <p:cNvPr id="31" name="Text 29"/>
          <p:cNvSpPr/>
          <p:nvPr/>
        </p:nvSpPr>
        <p:spPr>
          <a:xfrm>
            <a:off x="6527800" y="3067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32" name="Text 30"/>
          <p:cNvSpPr/>
          <p:nvPr/>
        </p:nvSpPr>
        <p:spPr>
          <a:xfrm>
            <a:off x="7467600" y="3067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33" name="Text 31"/>
          <p:cNvSpPr/>
          <p:nvPr/>
        </p:nvSpPr>
        <p:spPr>
          <a:xfrm>
            <a:off x="8407400" y="3067224"/>
            <a:ext cx="889000" cy="584200"/>
          </a:xfrm>
          <a:prstGeom prst="rect">
            <a:avLst/>
          </a:prstGeom>
          <a:solidFill>
            <a:srgbClr val="A9D8B8"/>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8</a:t>
            </a:r>
            <a:endParaRPr lang="en-US" sz="2000" dirty="0">
              <a:latin typeface="Times New Roman" panose="02020603050405020304" pitchFamily="18" charset="0"/>
              <a:cs typeface="Times New Roman" panose="02020603050405020304" pitchFamily="18" charset="0"/>
            </a:endParaRPr>
          </a:p>
        </p:txBody>
      </p:sp>
      <p:sp>
        <p:nvSpPr>
          <p:cNvPr id="34" name="Text 32"/>
          <p:cNvSpPr/>
          <p:nvPr/>
        </p:nvSpPr>
        <p:spPr>
          <a:xfrm>
            <a:off x="9347201" y="3067224"/>
            <a:ext cx="889000" cy="584200"/>
          </a:xfrm>
          <a:prstGeom prst="rect">
            <a:avLst/>
          </a:prstGeom>
          <a:solidFill>
            <a:srgbClr val="F8D3BC"/>
          </a:solidFill>
          <a:ln/>
        </p:spPr>
        <p:txBody>
          <a:bodyPr wrap="square" lIns="0" tIns="0" rIns="0" bIns="0" rtlCol="0" anchor="t">
            <a:normAutofit/>
          </a:bodyPr>
          <a:lstStyle/>
          <a:p>
            <a:pPr marL="0" indent="0" algn="ctr">
              <a:lnSpc>
                <a:spcPts val="4600"/>
              </a:lnSpc>
              <a:buNone/>
            </a:pPr>
            <a:r>
              <a:rPr lang="en-US" sz="2000" b="1" dirty="0">
                <a:solidFill>
                  <a:srgbClr val="1F2A44"/>
                </a:solidFill>
                <a:latin typeface="Times New Roman" panose="02020603050405020304" pitchFamily="18" charset="0"/>
                <a:ea typeface="Tinos" pitchFamily="18" charset="-122"/>
                <a:cs typeface="Times New Roman" panose="02020603050405020304" pitchFamily="18" charset="0"/>
              </a:rPr>
              <a:t>6</a:t>
            </a:r>
            <a:endParaRPr lang="en-US" sz="2000" dirty="0">
              <a:latin typeface="Times New Roman" panose="02020603050405020304" pitchFamily="18" charset="0"/>
              <a:cs typeface="Times New Roman" panose="02020603050405020304" pitchFamily="18" charset="0"/>
            </a:endParaRPr>
          </a:p>
        </p:txBody>
      </p:sp>
      <p:sp>
        <p:nvSpPr>
          <p:cNvPr id="35" name="Text 33"/>
          <p:cNvSpPr/>
          <p:nvPr/>
        </p:nvSpPr>
        <p:spPr>
          <a:xfrm>
            <a:off x="10287001" y="3067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36" name="Text 34"/>
          <p:cNvSpPr/>
          <p:nvPr/>
        </p:nvSpPr>
        <p:spPr>
          <a:xfrm>
            <a:off x="812800" y="3702224"/>
            <a:ext cx="1962150" cy="609600"/>
          </a:xfrm>
          <a:prstGeom prst="rect">
            <a:avLst/>
          </a:prstGeom>
          <a:noFill/>
          <a:ln/>
        </p:spPr>
        <p:txBody>
          <a:bodyPr wrap="square" lIns="0" tIns="0" rIns="0" bIns="0" rtlCol="0" anchor="t">
            <a:normAutofit/>
          </a:bodyPr>
          <a:lstStyle/>
          <a:p>
            <a:pPr marL="0" indent="0" algn="l">
              <a:lnSpc>
                <a:spcPts val="4608"/>
              </a:lnSpc>
              <a:buNone/>
            </a:pPr>
            <a:r>
              <a:rPr lang="en-US" sz="16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600" dirty="0">
              <a:latin typeface="Times New Roman" panose="02020603050405020304" pitchFamily="18" charset="0"/>
              <a:cs typeface="Times New Roman" panose="02020603050405020304" pitchFamily="18" charset="0"/>
            </a:endParaRPr>
          </a:p>
        </p:txBody>
      </p:sp>
      <p:sp>
        <p:nvSpPr>
          <p:cNvPr id="37" name="Text 35"/>
          <p:cNvSpPr/>
          <p:nvPr/>
        </p:nvSpPr>
        <p:spPr>
          <a:xfrm>
            <a:off x="2768600"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38" name="Text 36"/>
          <p:cNvSpPr/>
          <p:nvPr/>
        </p:nvSpPr>
        <p:spPr>
          <a:xfrm>
            <a:off x="3708400"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39" name="Text 37"/>
          <p:cNvSpPr/>
          <p:nvPr/>
        </p:nvSpPr>
        <p:spPr>
          <a:xfrm>
            <a:off x="4648200"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40" name="Text 38"/>
          <p:cNvSpPr/>
          <p:nvPr/>
        </p:nvSpPr>
        <p:spPr>
          <a:xfrm>
            <a:off x="5588000" y="3702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41" name="Text 39"/>
          <p:cNvSpPr/>
          <p:nvPr/>
        </p:nvSpPr>
        <p:spPr>
          <a:xfrm>
            <a:off x="6527800" y="3702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42" name="Text 40"/>
          <p:cNvSpPr/>
          <p:nvPr/>
        </p:nvSpPr>
        <p:spPr>
          <a:xfrm>
            <a:off x="7467600" y="3702224"/>
            <a:ext cx="889000" cy="584200"/>
          </a:xfrm>
          <a:prstGeom prst="rect">
            <a:avLst/>
          </a:prstGeom>
          <a:solidFill>
            <a:srgbClr val="178A48"/>
          </a:solidFill>
          <a:ln/>
        </p:spPr>
        <p:txBody>
          <a:bodyPr wrap="square" lIns="0" tIns="0" rIns="0" bIns="0" rtlCol="0" anchor="t">
            <a:normAutofit/>
          </a:bodyPr>
          <a:lstStyle/>
          <a:p>
            <a:pPr marL="0" indent="0" algn="ctr">
              <a:lnSpc>
                <a:spcPts val="4600"/>
              </a:lnSpc>
              <a:buNone/>
            </a:pPr>
            <a:r>
              <a:rPr lang="en-US" sz="2000" b="1" dirty="0">
                <a:solidFill>
                  <a:srgbClr val="FDFDFB"/>
                </a:solidFill>
                <a:latin typeface="Times New Roman" panose="02020603050405020304" pitchFamily="18" charset="0"/>
                <a:ea typeface="Tinos" pitchFamily="18" charset="-122"/>
                <a:cs typeface="Times New Roman" panose="02020603050405020304" pitchFamily="18" charset="0"/>
              </a:rPr>
              <a:t>12</a:t>
            </a:r>
            <a:endParaRPr lang="en-US" sz="2000" dirty="0">
              <a:latin typeface="Times New Roman" panose="02020603050405020304" pitchFamily="18" charset="0"/>
              <a:cs typeface="Times New Roman" panose="02020603050405020304" pitchFamily="18" charset="0"/>
            </a:endParaRPr>
          </a:p>
        </p:txBody>
      </p:sp>
      <p:sp>
        <p:nvSpPr>
          <p:cNvPr id="43" name="Text 41"/>
          <p:cNvSpPr/>
          <p:nvPr/>
        </p:nvSpPr>
        <p:spPr>
          <a:xfrm>
            <a:off x="8407400"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44" name="Text 42"/>
          <p:cNvSpPr/>
          <p:nvPr/>
        </p:nvSpPr>
        <p:spPr>
          <a:xfrm>
            <a:off x="9347201"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45" name="Text 43"/>
          <p:cNvSpPr/>
          <p:nvPr/>
        </p:nvSpPr>
        <p:spPr>
          <a:xfrm>
            <a:off x="10287001" y="3702224"/>
            <a:ext cx="889000" cy="584200"/>
          </a:xfrm>
          <a:prstGeom prst="rect">
            <a:avLst/>
          </a:prstGeom>
          <a:solidFill>
            <a:srgbClr val="EEF1F5"/>
          </a:solidFill>
          <a:ln/>
        </p:spPr>
        <p:txBody>
          <a:bodyPr wrap="square" lIns="0" tIns="0" rIns="0" bIns="0" rtlCol="0" anchor="t">
            <a:normAutofit/>
          </a:bodyPr>
          <a:lstStyle/>
          <a:p>
            <a:pPr marL="0" indent="0" algn="ctr">
              <a:lnSpc>
                <a:spcPts val="4600"/>
              </a:lnSpc>
              <a:buNone/>
            </a:pPr>
            <a:r>
              <a:rPr lang="en-US" sz="2000" b="1" dirty="0">
                <a:solidFill>
                  <a:srgbClr val="7A8394"/>
                </a:solidFill>
                <a:latin typeface="Times New Roman" panose="02020603050405020304" pitchFamily="18" charset="0"/>
                <a:ea typeface="Tinos" pitchFamily="18" charset="-122"/>
                <a:cs typeface="Times New Roman" panose="02020603050405020304" pitchFamily="18" charset="0"/>
              </a:rPr>
              <a:t>0</a:t>
            </a:r>
            <a:endParaRPr lang="en-US" sz="2000" dirty="0">
              <a:latin typeface="Times New Roman" panose="02020603050405020304" pitchFamily="18" charset="0"/>
              <a:cs typeface="Times New Roman" panose="02020603050405020304" pitchFamily="18" charset="0"/>
            </a:endParaRPr>
          </a:p>
        </p:txBody>
      </p:sp>
      <p:sp>
        <p:nvSpPr>
          <p:cNvPr id="46" name="Text 44"/>
          <p:cNvSpPr/>
          <p:nvPr/>
        </p:nvSpPr>
        <p:spPr>
          <a:xfrm>
            <a:off x="812800" y="4515024"/>
            <a:ext cx="10883393"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Số phím nhận đúng trên 12, tone 100 ms, không nhiễu, cả hai tone lệch cùng tỉ lệ</a:t>
            </a:r>
            <a:endParaRPr lang="en-US" sz="1200" dirty="0">
              <a:latin typeface="Times New Roman" panose="02020603050405020304" pitchFamily="18" charset="0"/>
              <a:cs typeface="Times New Roman" panose="02020603050405020304" pitchFamily="18" charset="0"/>
            </a:endParaRPr>
          </a:p>
        </p:txBody>
      </p:sp>
      <p:sp>
        <p:nvSpPr>
          <p:cNvPr id="47" name="Shape 45"/>
          <p:cNvSpPr/>
          <p:nvPr/>
        </p:nvSpPr>
        <p:spPr>
          <a:xfrm>
            <a:off x="831850" y="4956981"/>
            <a:ext cx="0" cy="835592"/>
          </a:xfrm>
          <a:prstGeom prst="line">
            <a:avLst/>
          </a:prstGeom>
          <a:noFill/>
          <a:ln w="38100">
            <a:solidFill>
              <a:srgbClr val="C00000"/>
            </a:solidFill>
            <a:prstDash val="solid"/>
          </a:ln>
        </p:spPr>
      </p:sp>
      <p:sp>
        <p:nvSpPr>
          <p:cNvPr id="48" name="Text 46"/>
          <p:cNvSpPr/>
          <p:nvPr/>
        </p:nvSpPr>
        <p:spPr>
          <a:xfrm>
            <a:off x="988786" y="4982381"/>
            <a:ext cx="512962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Vì sao?</a:t>
            </a:r>
            <a:endParaRPr lang="en-US" sz="1500" dirty="0">
              <a:latin typeface="Times New Roman" panose="02020603050405020304" pitchFamily="18" charset="0"/>
              <a:cs typeface="Times New Roman" panose="02020603050405020304" pitchFamily="18" charset="0"/>
            </a:endParaRPr>
          </a:p>
        </p:txBody>
      </p:sp>
      <p:sp>
        <p:nvSpPr>
          <p:cNvPr id="49" name="Text 47"/>
          <p:cNvSpPr/>
          <p:nvPr/>
        </p:nvSpPr>
        <p:spPr>
          <a:xfrm>
            <a:off x="988786" y="5287181"/>
            <a:ext cx="5129621"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Âm bị lệch làm năng lượng tụt dưới ngưỡng 70%, và dải lọc hẹp hơn độ lệch cho phép</a:t>
            </a:r>
            <a:endParaRPr lang="en-US" sz="1400" dirty="0">
              <a:latin typeface="Times New Roman" panose="02020603050405020304" pitchFamily="18" charset="0"/>
              <a:cs typeface="Times New Roman" panose="02020603050405020304" pitchFamily="18" charset="0"/>
            </a:endParaRPr>
          </a:p>
        </p:txBody>
      </p:sp>
      <p:sp>
        <p:nvSpPr>
          <p:cNvPr id="50" name="Shape 48"/>
          <p:cNvSpPr/>
          <p:nvPr/>
        </p:nvSpPr>
        <p:spPr>
          <a:xfrm>
            <a:off x="6242050" y="4956981"/>
            <a:ext cx="0" cy="835592"/>
          </a:xfrm>
          <a:prstGeom prst="line">
            <a:avLst/>
          </a:prstGeom>
          <a:noFill/>
          <a:ln w="38100">
            <a:solidFill>
              <a:srgbClr val="178A48"/>
            </a:solidFill>
            <a:prstDash val="solid"/>
          </a:ln>
        </p:spPr>
      </p:sp>
      <p:sp>
        <p:nvSpPr>
          <p:cNvPr id="51" name="Text 49"/>
          <p:cNvSpPr/>
          <p:nvPr/>
        </p:nvSpPr>
        <p:spPr>
          <a:xfrm>
            <a:off x="6398986" y="4982381"/>
            <a:ext cx="512962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Hướng sửa</a:t>
            </a:r>
            <a:endParaRPr lang="en-US" sz="1500" dirty="0">
              <a:latin typeface="Times New Roman" panose="02020603050405020304" pitchFamily="18" charset="0"/>
              <a:cs typeface="Times New Roman" panose="02020603050405020304" pitchFamily="18" charset="0"/>
            </a:endParaRPr>
          </a:p>
        </p:txBody>
      </p:sp>
      <p:sp>
        <p:nvSpPr>
          <p:cNvPr id="52" name="Text 50"/>
          <p:cNvSpPr/>
          <p:nvPr/>
        </p:nvSpPr>
        <p:spPr>
          <a:xfrm>
            <a:off x="6398986" y="5287181"/>
            <a:ext cx="5129621"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Cho Goertzel đo đúng tại tần số chuẩn, không đo ở điểm gần nhất</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22</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Thử trên 139 tệp âm thanh có nhãn</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Gồm cả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giọng nói thật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nhịp bấm tay, nhiều định dạng tệp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âm không phải phím</a:t>
            </a:r>
            <a:endParaRPr lang="en-US" sz="1700" dirty="0">
              <a:latin typeface="Times New Roman" panose="02020603050405020304" pitchFamily="18" charset="0"/>
              <a:cs typeface="Times New Roman" panose="02020603050405020304" pitchFamily="18" charset="0"/>
            </a:endParaRPr>
          </a:p>
        </p:txBody>
      </p:sp>
      <p:sp>
        <p:nvSpPr>
          <p:cNvPr id="6" name="Text 4"/>
          <p:cNvSpPr/>
          <p:nvPr/>
        </p:nvSpPr>
        <p:spPr>
          <a:xfrm>
            <a:off x="812800" y="2653841"/>
            <a:ext cx="510159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F4E9A"/>
                </a:solidFill>
                <a:latin typeface="Times New Roman" panose="02020603050405020304" pitchFamily="18" charset="0"/>
                <a:ea typeface="Open Sans" pitchFamily="34" charset="-122"/>
                <a:cs typeface="Times New Roman" panose="02020603050405020304" pitchFamily="18" charset="0"/>
              </a:rPr>
              <a:t>Thành phần bộ dữ liệu</a:t>
            </a:r>
            <a:endParaRPr lang="en-US" sz="1400" dirty="0">
              <a:latin typeface="Times New Roman" panose="02020603050405020304" pitchFamily="18" charset="0"/>
              <a:cs typeface="Times New Roman" panose="02020603050405020304" pitchFamily="18" charset="0"/>
            </a:endParaRPr>
          </a:p>
        </p:txBody>
      </p:sp>
      <p:sp>
        <p:nvSpPr>
          <p:cNvPr id="7" name="Shape 5"/>
          <p:cNvSpPr/>
          <p:nvPr/>
        </p:nvSpPr>
        <p:spPr>
          <a:xfrm>
            <a:off x="812800" y="3004344"/>
            <a:ext cx="2432050" cy="472395"/>
          </a:xfrm>
          <a:prstGeom prst="rect">
            <a:avLst/>
          </a:prstGeom>
          <a:solidFill>
            <a:srgbClr val="F3F6FA"/>
          </a:solidFill>
          <a:ln/>
        </p:spPr>
      </p:sp>
      <p:sp>
        <p:nvSpPr>
          <p:cNvPr id="8" name="Text 6"/>
          <p:cNvSpPr/>
          <p:nvPr/>
        </p:nvSpPr>
        <p:spPr>
          <a:xfrm>
            <a:off x="952500" y="3116089"/>
            <a:ext cx="1258184"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Không nhiễu</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2940050" y="3080544"/>
            <a:ext cx="1651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9</a:t>
            </a:r>
            <a:endParaRPr lang="en-US" sz="1800" dirty="0">
              <a:latin typeface="Times New Roman" panose="02020603050405020304" pitchFamily="18" charset="0"/>
              <a:cs typeface="Times New Roman" panose="02020603050405020304" pitchFamily="18" charset="0"/>
            </a:endParaRPr>
          </a:p>
        </p:txBody>
      </p:sp>
      <p:sp>
        <p:nvSpPr>
          <p:cNvPr id="10" name="Shape 8"/>
          <p:cNvSpPr/>
          <p:nvPr/>
        </p:nvSpPr>
        <p:spPr>
          <a:xfrm>
            <a:off x="3333750" y="3004344"/>
            <a:ext cx="2432050" cy="472395"/>
          </a:xfrm>
          <a:prstGeom prst="rect">
            <a:avLst/>
          </a:prstGeom>
          <a:solidFill>
            <a:srgbClr val="F3F6FA"/>
          </a:solidFill>
          <a:ln/>
        </p:spPr>
      </p:sp>
      <p:sp>
        <p:nvSpPr>
          <p:cNvPr id="11" name="Text 9"/>
          <p:cNvSpPr/>
          <p:nvPr/>
        </p:nvSpPr>
        <p:spPr>
          <a:xfrm>
            <a:off x="3473450" y="3116089"/>
            <a:ext cx="1299142"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Nhiễu AWGN</a:t>
            </a:r>
            <a:endParaRPr lang="en-US" sz="1400" dirty="0">
              <a:latin typeface="Times New Roman" panose="02020603050405020304" pitchFamily="18" charset="0"/>
              <a:cs typeface="Times New Roman" panose="02020603050405020304" pitchFamily="18" charset="0"/>
            </a:endParaRPr>
          </a:p>
        </p:txBody>
      </p:sp>
      <p:sp>
        <p:nvSpPr>
          <p:cNvPr id="12" name="Text 10"/>
          <p:cNvSpPr/>
          <p:nvPr/>
        </p:nvSpPr>
        <p:spPr>
          <a:xfrm>
            <a:off x="5346700" y="3080544"/>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40</a:t>
            </a:r>
            <a:endParaRPr lang="en-US" sz="1800" dirty="0">
              <a:latin typeface="Times New Roman" panose="02020603050405020304" pitchFamily="18" charset="0"/>
              <a:cs typeface="Times New Roman" panose="02020603050405020304" pitchFamily="18" charset="0"/>
            </a:endParaRPr>
          </a:p>
        </p:txBody>
      </p:sp>
      <p:sp>
        <p:nvSpPr>
          <p:cNvPr id="13" name="Shape 11"/>
          <p:cNvSpPr/>
          <p:nvPr/>
        </p:nvSpPr>
        <p:spPr>
          <a:xfrm>
            <a:off x="812800" y="3565637"/>
            <a:ext cx="2432050" cy="472395"/>
          </a:xfrm>
          <a:prstGeom prst="rect">
            <a:avLst/>
          </a:prstGeom>
          <a:solidFill>
            <a:srgbClr val="F3F6FA"/>
          </a:solidFill>
          <a:ln/>
        </p:spPr>
      </p:sp>
      <p:sp>
        <p:nvSpPr>
          <p:cNvPr id="14" name="Text 12"/>
          <p:cNvSpPr/>
          <p:nvPr/>
        </p:nvSpPr>
        <p:spPr>
          <a:xfrm>
            <a:off x="952500" y="3677382"/>
            <a:ext cx="1394460"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Nhiễu ù 50 Hz</a:t>
            </a:r>
            <a:endParaRPr lang="en-US" sz="1400" dirty="0">
              <a:latin typeface="Times New Roman" panose="02020603050405020304" pitchFamily="18" charset="0"/>
              <a:cs typeface="Times New Roman" panose="02020603050405020304" pitchFamily="18" charset="0"/>
            </a:endParaRPr>
          </a:p>
        </p:txBody>
      </p:sp>
      <p:sp>
        <p:nvSpPr>
          <p:cNvPr id="15" name="Text 13"/>
          <p:cNvSpPr/>
          <p:nvPr/>
        </p:nvSpPr>
        <p:spPr>
          <a:xfrm>
            <a:off x="2825750" y="3641837"/>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16" name="Shape 14"/>
          <p:cNvSpPr/>
          <p:nvPr/>
        </p:nvSpPr>
        <p:spPr>
          <a:xfrm>
            <a:off x="3333750" y="3565637"/>
            <a:ext cx="2432050" cy="472395"/>
          </a:xfrm>
          <a:prstGeom prst="rect">
            <a:avLst/>
          </a:prstGeom>
          <a:solidFill>
            <a:srgbClr val="F3F6FA"/>
          </a:solidFill>
          <a:ln/>
        </p:spPr>
      </p:sp>
      <p:sp>
        <p:nvSpPr>
          <p:cNvPr id="17" name="Text 15"/>
          <p:cNvSpPr/>
          <p:nvPr/>
        </p:nvSpPr>
        <p:spPr>
          <a:xfrm>
            <a:off x="3473450" y="3677382"/>
            <a:ext cx="1363300"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Tiếng nói thật</a:t>
            </a:r>
            <a:endParaRPr lang="en-US" sz="1400" dirty="0">
              <a:latin typeface="Times New Roman" panose="02020603050405020304" pitchFamily="18" charset="0"/>
              <a:cs typeface="Times New Roman" panose="02020603050405020304" pitchFamily="18" charset="0"/>
            </a:endParaRPr>
          </a:p>
        </p:txBody>
      </p:sp>
      <p:sp>
        <p:nvSpPr>
          <p:cNvPr id="18" name="Text 16"/>
          <p:cNvSpPr/>
          <p:nvPr/>
        </p:nvSpPr>
        <p:spPr>
          <a:xfrm>
            <a:off x="5346700" y="3641837"/>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19" name="Shape 17"/>
          <p:cNvSpPr/>
          <p:nvPr/>
        </p:nvSpPr>
        <p:spPr>
          <a:xfrm>
            <a:off x="812800" y="4126929"/>
            <a:ext cx="2432050" cy="472395"/>
          </a:xfrm>
          <a:prstGeom prst="rect">
            <a:avLst/>
          </a:prstGeom>
          <a:solidFill>
            <a:srgbClr val="F3F6FA"/>
          </a:solidFill>
          <a:ln/>
        </p:spPr>
      </p:sp>
      <p:sp>
        <p:nvSpPr>
          <p:cNvPr id="20" name="Text 18"/>
          <p:cNvSpPr/>
          <p:nvPr/>
        </p:nvSpPr>
        <p:spPr>
          <a:xfrm>
            <a:off x="952500" y="4238675"/>
            <a:ext cx="1198925"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Hiện trường</a:t>
            </a:r>
            <a:endParaRPr lang="en-US" sz="1400" dirty="0">
              <a:latin typeface="Times New Roman" panose="02020603050405020304" pitchFamily="18" charset="0"/>
              <a:cs typeface="Times New Roman" panose="02020603050405020304" pitchFamily="18" charset="0"/>
            </a:endParaRPr>
          </a:p>
        </p:txBody>
      </p:sp>
      <p:sp>
        <p:nvSpPr>
          <p:cNvPr id="21" name="Text 19"/>
          <p:cNvSpPr/>
          <p:nvPr/>
        </p:nvSpPr>
        <p:spPr>
          <a:xfrm>
            <a:off x="2825750" y="4203129"/>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22" name="Shape 20"/>
          <p:cNvSpPr/>
          <p:nvPr/>
        </p:nvSpPr>
        <p:spPr>
          <a:xfrm>
            <a:off x="3333750" y="4126929"/>
            <a:ext cx="2432050" cy="472395"/>
          </a:xfrm>
          <a:prstGeom prst="rect">
            <a:avLst/>
          </a:prstGeom>
          <a:solidFill>
            <a:srgbClr val="F3F6FA"/>
          </a:solidFill>
          <a:ln/>
        </p:spPr>
      </p:sp>
      <p:sp>
        <p:nvSpPr>
          <p:cNvPr id="23" name="Text 21"/>
          <p:cNvSpPr/>
          <p:nvPr/>
        </p:nvSpPr>
        <p:spPr>
          <a:xfrm>
            <a:off x="3473450" y="4238675"/>
            <a:ext cx="977945"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Nhịp bấm</a:t>
            </a:r>
            <a:endParaRPr lang="en-US" sz="1400" dirty="0">
              <a:latin typeface="Times New Roman" panose="02020603050405020304" pitchFamily="18" charset="0"/>
              <a:cs typeface="Times New Roman" panose="02020603050405020304" pitchFamily="18" charset="0"/>
            </a:endParaRPr>
          </a:p>
        </p:txBody>
      </p:sp>
      <p:sp>
        <p:nvSpPr>
          <p:cNvPr id="24" name="Text 22"/>
          <p:cNvSpPr/>
          <p:nvPr/>
        </p:nvSpPr>
        <p:spPr>
          <a:xfrm>
            <a:off x="5346700" y="4203129"/>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10</a:t>
            </a:r>
            <a:endParaRPr lang="en-US" sz="1800" dirty="0">
              <a:latin typeface="Times New Roman" panose="02020603050405020304" pitchFamily="18" charset="0"/>
              <a:cs typeface="Times New Roman" panose="02020603050405020304" pitchFamily="18" charset="0"/>
            </a:endParaRPr>
          </a:p>
        </p:txBody>
      </p:sp>
      <p:sp>
        <p:nvSpPr>
          <p:cNvPr id="25" name="Shape 23"/>
          <p:cNvSpPr/>
          <p:nvPr/>
        </p:nvSpPr>
        <p:spPr>
          <a:xfrm>
            <a:off x="812800" y="4688222"/>
            <a:ext cx="2432050" cy="472395"/>
          </a:xfrm>
          <a:prstGeom prst="rect">
            <a:avLst/>
          </a:prstGeom>
          <a:solidFill>
            <a:srgbClr val="F3F6FA"/>
          </a:solidFill>
          <a:ln/>
        </p:spPr>
      </p:sp>
      <p:sp>
        <p:nvSpPr>
          <p:cNvPr id="26" name="Text 24"/>
          <p:cNvSpPr/>
          <p:nvPr/>
        </p:nvSpPr>
        <p:spPr>
          <a:xfrm>
            <a:off x="952500" y="4799967"/>
            <a:ext cx="1403441"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Định dạng tệp</a:t>
            </a:r>
            <a:endParaRPr lang="en-US" sz="1400" dirty="0">
              <a:latin typeface="Times New Roman" panose="02020603050405020304" pitchFamily="18" charset="0"/>
              <a:cs typeface="Times New Roman" panose="02020603050405020304" pitchFamily="18" charset="0"/>
            </a:endParaRPr>
          </a:p>
        </p:txBody>
      </p:sp>
      <p:sp>
        <p:nvSpPr>
          <p:cNvPr id="27" name="Text 25"/>
          <p:cNvSpPr/>
          <p:nvPr/>
        </p:nvSpPr>
        <p:spPr>
          <a:xfrm>
            <a:off x="2940050" y="4764422"/>
            <a:ext cx="1651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8</a:t>
            </a:r>
            <a:endParaRPr lang="en-US" sz="1800" dirty="0">
              <a:latin typeface="Times New Roman" panose="02020603050405020304" pitchFamily="18" charset="0"/>
              <a:cs typeface="Times New Roman" panose="02020603050405020304" pitchFamily="18" charset="0"/>
            </a:endParaRPr>
          </a:p>
        </p:txBody>
      </p:sp>
      <p:sp>
        <p:nvSpPr>
          <p:cNvPr id="28" name="Shape 26"/>
          <p:cNvSpPr/>
          <p:nvPr/>
        </p:nvSpPr>
        <p:spPr>
          <a:xfrm>
            <a:off x="3333750" y="4688222"/>
            <a:ext cx="2432050" cy="472395"/>
          </a:xfrm>
          <a:prstGeom prst="rect">
            <a:avLst/>
          </a:prstGeom>
          <a:solidFill>
            <a:srgbClr val="F3F6FA"/>
          </a:solidFill>
          <a:ln/>
        </p:spPr>
      </p:sp>
      <p:sp>
        <p:nvSpPr>
          <p:cNvPr id="29" name="Text 27"/>
          <p:cNvSpPr/>
          <p:nvPr/>
        </p:nvSpPr>
        <p:spPr>
          <a:xfrm>
            <a:off x="3473450" y="4799967"/>
            <a:ext cx="1130618"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Lệch tần số</a:t>
            </a:r>
            <a:endParaRPr lang="en-US" sz="1400" dirty="0">
              <a:latin typeface="Times New Roman" panose="02020603050405020304" pitchFamily="18" charset="0"/>
              <a:cs typeface="Times New Roman" panose="02020603050405020304" pitchFamily="18" charset="0"/>
            </a:endParaRPr>
          </a:p>
        </p:txBody>
      </p:sp>
      <p:sp>
        <p:nvSpPr>
          <p:cNvPr id="30" name="Text 28"/>
          <p:cNvSpPr/>
          <p:nvPr/>
        </p:nvSpPr>
        <p:spPr>
          <a:xfrm>
            <a:off x="5461000" y="4764422"/>
            <a:ext cx="1651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31" name="Shape 29"/>
          <p:cNvSpPr/>
          <p:nvPr/>
        </p:nvSpPr>
        <p:spPr>
          <a:xfrm>
            <a:off x="812800" y="5249515"/>
            <a:ext cx="2432050" cy="472395"/>
          </a:xfrm>
          <a:prstGeom prst="rect">
            <a:avLst/>
          </a:prstGeom>
          <a:solidFill>
            <a:srgbClr val="F3F6FA"/>
          </a:solidFill>
          <a:ln/>
        </p:spPr>
      </p:sp>
      <p:sp>
        <p:nvSpPr>
          <p:cNvPr id="32" name="Text 30"/>
          <p:cNvSpPr/>
          <p:nvPr/>
        </p:nvSpPr>
        <p:spPr>
          <a:xfrm>
            <a:off x="952500" y="5361260"/>
            <a:ext cx="1376975"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Chênh hai âm</a:t>
            </a:r>
            <a:endParaRPr lang="en-US" sz="1400" dirty="0">
              <a:latin typeface="Times New Roman" panose="02020603050405020304" pitchFamily="18" charset="0"/>
              <a:cs typeface="Times New Roman" panose="02020603050405020304" pitchFamily="18" charset="0"/>
            </a:endParaRPr>
          </a:p>
        </p:txBody>
      </p:sp>
      <p:sp>
        <p:nvSpPr>
          <p:cNvPr id="33" name="Text 31"/>
          <p:cNvSpPr/>
          <p:nvPr/>
        </p:nvSpPr>
        <p:spPr>
          <a:xfrm>
            <a:off x="2940050" y="5325715"/>
            <a:ext cx="1651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1F4E9A"/>
                </a:solidFill>
                <a:latin typeface="Times New Roman" panose="02020603050405020304" pitchFamily="18" charset="0"/>
                <a:ea typeface="Tinos" pitchFamily="18" charset="-122"/>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34" name="Shape 32"/>
          <p:cNvSpPr/>
          <p:nvPr/>
        </p:nvSpPr>
        <p:spPr>
          <a:xfrm>
            <a:off x="3333750" y="5249515"/>
            <a:ext cx="2432050" cy="472395"/>
          </a:xfrm>
          <a:prstGeom prst="rect">
            <a:avLst/>
          </a:prstGeom>
          <a:solidFill>
            <a:srgbClr val="FBE5D6"/>
          </a:solidFill>
          <a:ln/>
        </p:spPr>
      </p:sp>
      <p:sp>
        <p:nvSpPr>
          <p:cNvPr id="35" name="Text 33"/>
          <p:cNvSpPr/>
          <p:nvPr/>
        </p:nvSpPr>
        <p:spPr>
          <a:xfrm>
            <a:off x="3473450" y="5361260"/>
            <a:ext cx="157734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F2A44"/>
                </a:solidFill>
                <a:latin typeface="Times New Roman" panose="02020603050405020304" pitchFamily="18" charset="0"/>
                <a:ea typeface="Open Sans" pitchFamily="34" charset="-122"/>
                <a:cs typeface="Times New Roman" panose="02020603050405020304" pitchFamily="18" charset="0"/>
              </a:rPr>
              <a:t>Không có phím</a:t>
            </a:r>
            <a:endParaRPr lang="en-US" sz="1400" dirty="0">
              <a:latin typeface="Times New Roman" panose="02020603050405020304" pitchFamily="18" charset="0"/>
              <a:cs typeface="Times New Roman" panose="02020603050405020304" pitchFamily="18" charset="0"/>
            </a:endParaRPr>
          </a:p>
        </p:txBody>
      </p:sp>
      <p:sp>
        <p:nvSpPr>
          <p:cNvPr id="36" name="Text 34"/>
          <p:cNvSpPr/>
          <p:nvPr/>
        </p:nvSpPr>
        <p:spPr>
          <a:xfrm>
            <a:off x="5346700" y="5325715"/>
            <a:ext cx="279400" cy="345395"/>
          </a:xfrm>
          <a:prstGeom prst="rect">
            <a:avLst/>
          </a:prstGeom>
          <a:noFill/>
          <a:ln/>
        </p:spPr>
        <p:txBody>
          <a:bodyPr wrap="square" lIns="0" tIns="0" rIns="0" bIns="0" rtlCol="0" anchor="t">
            <a:normAutofit/>
          </a:bodyPr>
          <a:lstStyle/>
          <a:p>
            <a:pPr marL="0" indent="0" algn="r">
              <a:lnSpc>
                <a:spcPts val="2520"/>
              </a:lnSpc>
              <a:buNone/>
            </a:pPr>
            <a:r>
              <a:rPr lang="en-US" sz="1800" b="1" dirty="0">
                <a:solidFill>
                  <a:srgbClr val="B8480F"/>
                </a:solidFill>
                <a:latin typeface="Times New Roman" panose="02020603050405020304" pitchFamily="18" charset="0"/>
                <a:ea typeface="Tinos" pitchFamily="18" charset="-122"/>
                <a:cs typeface="Times New Roman" panose="02020603050405020304" pitchFamily="18" charset="0"/>
              </a:rPr>
              <a:t>14</a:t>
            </a:r>
            <a:endParaRPr lang="en-US" sz="1800" dirty="0">
              <a:latin typeface="Times New Roman" panose="02020603050405020304" pitchFamily="18" charset="0"/>
              <a:cs typeface="Times New Roman" panose="02020603050405020304" pitchFamily="18" charset="0"/>
            </a:endParaRPr>
          </a:p>
        </p:txBody>
      </p:sp>
      <p:sp>
        <p:nvSpPr>
          <p:cNvPr id="37" name="Shape 35"/>
          <p:cNvSpPr/>
          <p:nvPr/>
        </p:nvSpPr>
        <p:spPr>
          <a:xfrm>
            <a:off x="6172200" y="2340707"/>
            <a:ext cx="5207000" cy="708592"/>
          </a:xfrm>
          <a:prstGeom prst="rect">
            <a:avLst/>
          </a:prstGeom>
          <a:solidFill>
            <a:srgbClr val="E8F5EE"/>
          </a:solidFill>
          <a:ln/>
        </p:spPr>
      </p:sp>
      <p:sp>
        <p:nvSpPr>
          <p:cNvPr id="38" name="Text 36"/>
          <p:cNvSpPr/>
          <p:nvPr/>
        </p:nvSpPr>
        <p:spPr>
          <a:xfrm>
            <a:off x="6350000" y="2457500"/>
            <a:ext cx="1135970" cy="500346"/>
          </a:xfrm>
          <a:prstGeom prst="rect">
            <a:avLst/>
          </a:prstGeom>
          <a:noFill/>
          <a:ln/>
        </p:spPr>
        <p:txBody>
          <a:bodyPr wrap="square" lIns="0" tIns="0" rIns="0" bIns="0" rtlCol="0" anchor="t">
            <a:normAutofit/>
          </a:bodyPr>
          <a:lstStyle/>
          <a:p>
            <a:pPr marL="0" indent="0" algn="l">
              <a:lnSpc>
                <a:spcPts val="3740"/>
              </a:lnSpc>
              <a:buNone/>
            </a:pPr>
            <a:r>
              <a:rPr lang="en-US" sz="3400" b="1" dirty="0">
                <a:solidFill>
                  <a:srgbClr val="178A48"/>
                </a:solidFill>
                <a:latin typeface="Times New Roman" panose="02020603050405020304" pitchFamily="18" charset="0"/>
                <a:ea typeface="Tinos" pitchFamily="18" charset="-122"/>
                <a:cs typeface="Times New Roman" panose="02020603050405020304" pitchFamily="18" charset="0"/>
              </a:rPr>
              <a:t>62/62</a:t>
            </a:r>
            <a:endParaRPr lang="en-US" sz="3400" dirty="0">
              <a:latin typeface="Times New Roman" panose="02020603050405020304" pitchFamily="18" charset="0"/>
              <a:cs typeface="Times New Roman" panose="02020603050405020304" pitchFamily="18" charset="0"/>
            </a:endParaRPr>
          </a:p>
        </p:txBody>
      </p:sp>
      <p:sp>
        <p:nvSpPr>
          <p:cNvPr id="39" name="Text 37"/>
          <p:cNvSpPr/>
          <p:nvPr/>
        </p:nvSpPr>
        <p:spPr>
          <a:xfrm>
            <a:off x="7485970" y="2455007"/>
            <a:ext cx="3826893"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tệp phải đọc đúng, cả ba bộ giải mã đều đúng hết</a:t>
            </a:r>
            <a:endParaRPr lang="en-US" sz="1400" dirty="0">
              <a:latin typeface="Times New Roman" panose="02020603050405020304" pitchFamily="18" charset="0"/>
              <a:cs typeface="Times New Roman" panose="02020603050405020304" pitchFamily="18" charset="0"/>
            </a:endParaRPr>
          </a:p>
        </p:txBody>
      </p:sp>
      <p:sp>
        <p:nvSpPr>
          <p:cNvPr id="40" name="Text 38"/>
          <p:cNvSpPr/>
          <p:nvPr/>
        </p:nvSpPr>
        <p:spPr>
          <a:xfrm>
            <a:off x="6172200" y="3189002"/>
            <a:ext cx="536321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1F4E9A"/>
                </a:solidFill>
                <a:latin typeface="Times New Roman" panose="02020603050405020304" pitchFamily="18" charset="0"/>
                <a:ea typeface="Open Sans" pitchFamily="34" charset="-122"/>
                <a:cs typeface="Times New Roman" panose="02020603050405020304" pitchFamily="18" charset="0"/>
              </a:rPr>
              <a:t>18 tệp phải im lặng, số phím đọc nhầm</a:t>
            </a:r>
            <a:endParaRPr lang="en-US" sz="1400" dirty="0">
              <a:latin typeface="Times New Roman" panose="02020603050405020304" pitchFamily="18" charset="0"/>
              <a:cs typeface="Times New Roman" panose="02020603050405020304" pitchFamily="18" charset="0"/>
            </a:endParaRPr>
          </a:p>
        </p:txBody>
      </p:sp>
      <p:sp>
        <p:nvSpPr>
          <p:cNvPr id="41" name="Shape 39"/>
          <p:cNvSpPr/>
          <p:nvPr/>
        </p:nvSpPr>
        <p:spPr>
          <a:xfrm>
            <a:off x="6172200" y="3577592"/>
            <a:ext cx="5207000" cy="518149"/>
          </a:xfrm>
          <a:prstGeom prst="rect">
            <a:avLst/>
          </a:prstGeom>
          <a:solidFill>
            <a:srgbClr val="DEEBF7"/>
          </a:solidFill>
          <a:ln/>
        </p:spPr>
      </p:sp>
      <p:sp>
        <p:nvSpPr>
          <p:cNvPr id="42" name="Text 40"/>
          <p:cNvSpPr/>
          <p:nvPr/>
        </p:nvSpPr>
        <p:spPr>
          <a:xfrm>
            <a:off x="6324600" y="3703290"/>
            <a:ext cx="38331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43" name="Text 41"/>
          <p:cNvSpPr/>
          <p:nvPr/>
        </p:nvSpPr>
        <p:spPr>
          <a:xfrm>
            <a:off x="11036301" y="3641092"/>
            <a:ext cx="190500" cy="416549"/>
          </a:xfrm>
          <a:prstGeom prst="rect">
            <a:avLst/>
          </a:prstGeom>
          <a:noFill/>
          <a:ln/>
        </p:spPr>
        <p:txBody>
          <a:bodyPr wrap="square" lIns="0" tIns="0" rIns="0" bIns="0" rtlCol="0" anchor="t">
            <a:normAutofit/>
          </a:bodyPr>
          <a:lstStyle/>
          <a:p>
            <a:pPr marL="0" indent="0" algn="r">
              <a:lnSpc>
                <a:spcPts val="3080"/>
              </a:lnSpc>
              <a:buNone/>
            </a:pPr>
            <a:r>
              <a:rPr lang="en-US" sz="2200" b="1" dirty="0">
                <a:solidFill>
                  <a:srgbClr val="0B64A8"/>
                </a:solidFill>
                <a:latin typeface="Times New Roman" panose="02020603050405020304" pitchFamily="18" charset="0"/>
                <a:ea typeface="Tinos" pitchFamily="18" charset="-122"/>
                <a:cs typeface="Times New Roman" panose="02020603050405020304" pitchFamily="18" charset="0"/>
              </a:rPr>
              <a:t>0</a:t>
            </a:r>
            <a:endParaRPr lang="en-US" sz="2200" dirty="0">
              <a:latin typeface="Times New Roman" panose="02020603050405020304" pitchFamily="18" charset="0"/>
              <a:cs typeface="Times New Roman" panose="02020603050405020304" pitchFamily="18" charset="0"/>
            </a:endParaRPr>
          </a:p>
        </p:txBody>
      </p:sp>
      <p:sp>
        <p:nvSpPr>
          <p:cNvPr id="44" name="Shape 42"/>
          <p:cNvSpPr/>
          <p:nvPr/>
        </p:nvSpPr>
        <p:spPr>
          <a:xfrm>
            <a:off x="6172200" y="4235450"/>
            <a:ext cx="5207000" cy="518149"/>
          </a:xfrm>
          <a:prstGeom prst="rect">
            <a:avLst/>
          </a:prstGeom>
          <a:solidFill>
            <a:srgbClr val="FBE5D6"/>
          </a:solidFill>
          <a:ln/>
        </p:spPr>
      </p:sp>
      <p:sp>
        <p:nvSpPr>
          <p:cNvPr id="45" name="Text 43"/>
          <p:cNvSpPr/>
          <p:nvPr/>
        </p:nvSpPr>
        <p:spPr>
          <a:xfrm>
            <a:off x="6324600" y="4361135"/>
            <a:ext cx="961549"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46" name="Text 44"/>
          <p:cNvSpPr/>
          <p:nvPr/>
        </p:nvSpPr>
        <p:spPr>
          <a:xfrm>
            <a:off x="11036301" y="4298950"/>
            <a:ext cx="190500" cy="416549"/>
          </a:xfrm>
          <a:prstGeom prst="rect">
            <a:avLst/>
          </a:prstGeom>
          <a:noFill/>
          <a:ln/>
        </p:spPr>
        <p:txBody>
          <a:bodyPr wrap="square" lIns="0" tIns="0" rIns="0" bIns="0" rtlCol="0" anchor="t">
            <a:normAutofit/>
          </a:bodyPr>
          <a:lstStyle/>
          <a:p>
            <a:pPr marL="0" indent="0" algn="r">
              <a:lnSpc>
                <a:spcPts val="3080"/>
              </a:lnSpc>
              <a:buNone/>
            </a:pPr>
            <a:r>
              <a:rPr lang="en-US" sz="2200" b="1" dirty="0">
                <a:solidFill>
                  <a:srgbClr val="B8480F"/>
                </a:solidFill>
                <a:latin typeface="Times New Roman" panose="02020603050405020304" pitchFamily="18" charset="0"/>
                <a:ea typeface="Tinos" pitchFamily="18" charset="-122"/>
                <a:cs typeface="Times New Roman" panose="02020603050405020304" pitchFamily="18" charset="0"/>
              </a:rPr>
              <a:t>0</a:t>
            </a:r>
            <a:endParaRPr lang="en-US" sz="2200" dirty="0">
              <a:latin typeface="Times New Roman" panose="02020603050405020304" pitchFamily="18" charset="0"/>
              <a:cs typeface="Times New Roman" panose="02020603050405020304" pitchFamily="18" charset="0"/>
            </a:endParaRPr>
          </a:p>
        </p:txBody>
      </p:sp>
      <p:sp>
        <p:nvSpPr>
          <p:cNvPr id="47" name="Shape 45"/>
          <p:cNvSpPr/>
          <p:nvPr/>
        </p:nvSpPr>
        <p:spPr>
          <a:xfrm>
            <a:off x="6178550" y="4899645"/>
            <a:ext cx="5194300" cy="527220"/>
          </a:xfrm>
          <a:prstGeom prst="rect">
            <a:avLst/>
          </a:prstGeom>
          <a:solidFill>
            <a:srgbClr val="FCE8E8"/>
          </a:solidFill>
          <a:ln w="12700">
            <a:solidFill>
              <a:srgbClr val="C00000"/>
            </a:solidFill>
            <a:prstDash val="solid"/>
          </a:ln>
        </p:spPr>
      </p:sp>
      <p:sp>
        <p:nvSpPr>
          <p:cNvPr id="48" name="Text 46"/>
          <p:cNvSpPr/>
          <p:nvPr/>
        </p:nvSpPr>
        <p:spPr>
          <a:xfrm>
            <a:off x="6335486" y="5029870"/>
            <a:ext cx="161863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49" name="Text 47"/>
          <p:cNvSpPr/>
          <p:nvPr/>
        </p:nvSpPr>
        <p:spPr>
          <a:xfrm>
            <a:off x="11025415" y="4967684"/>
            <a:ext cx="190500" cy="416549"/>
          </a:xfrm>
          <a:prstGeom prst="rect">
            <a:avLst/>
          </a:prstGeom>
          <a:noFill/>
          <a:ln/>
        </p:spPr>
        <p:txBody>
          <a:bodyPr wrap="square" lIns="0" tIns="0" rIns="0" bIns="0" rtlCol="0" anchor="t">
            <a:normAutofit/>
          </a:bodyPr>
          <a:lstStyle/>
          <a:p>
            <a:pPr marL="0" indent="0" algn="r">
              <a:lnSpc>
                <a:spcPts val="3080"/>
              </a:lnSpc>
              <a:buNone/>
            </a:pPr>
            <a:r>
              <a:rPr lang="en-US" sz="2200" b="1" dirty="0">
                <a:solidFill>
                  <a:srgbClr val="C00000"/>
                </a:solidFill>
                <a:latin typeface="Times New Roman" panose="02020603050405020304" pitchFamily="18" charset="0"/>
                <a:ea typeface="Tinos" pitchFamily="18" charset="-122"/>
                <a:cs typeface="Times New Roman" panose="02020603050405020304" pitchFamily="18" charset="0"/>
              </a:rPr>
              <a:t>2</a:t>
            </a:r>
            <a:endParaRPr lang="en-US" sz="2200" dirty="0">
              <a:latin typeface="Times New Roman" panose="02020603050405020304" pitchFamily="18" charset="0"/>
              <a:cs typeface="Times New Roman" panose="02020603050405020304" pitchFamily="18" charset="0"/>
            </a:endParaRPr>
          </a:p>
        </p:txBody>
      </p:sp>
      <p:sp>
        <p:nvSpPr>
          <p:cNvPr id="50" name="Text 48"/>
          <p:cNvSpPr/>
          <p:nvPr/>
        </p:nvSpPr>
        <p:spPr>
          <a:xfrm>
            <a:off x="6172200" y="5572919"/>
            <a:ext cx="5363210" cy="487589"/>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Phím nhầm đến từ </a:t>
            </a: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dư âm</a:t>
            </a: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 khi bộ lọc còn ngân lúc âm thanh vừa tắt</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23</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Chọn phương pháp nào?</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819150" y="1301750"/>
            <a:ext cx="10553701" cy="539920"/>
          </a:xfrm>
          <a:prstGeom prst="rect">
            <a:avLst/>
          </a:prstGeom>
          <a:solidFill>
            <a:srgbClr val="DAE3F3"/>
          </a:solidFill>
          <a:ln w="12700">
            <a:solidFill>
              <a:srgbClr val="33415C"/>
            </a:solidFill>
            <a:prstDash val="solid"/>
          </a:ln>
        </p:spPr>
        <p:txBody>
          <a:bodyPr wrap="square" lIns="55662" tIns="118836" rIns="55662" bIns="93436"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Không có phương pháp nào tốt nhất ở mọi mặt, nên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chọn theo bối cảnh sử dụng</a:t>
            </a:r>
            <a:endParaRPr lang="en-US" sz="1700" dirty="0">
              <a:latin typeface="Times New Roman" panose="02020603050405020304" pitchFamily="18" charset="0"/>
              <a:cs typeface="Times New Roman" panose="02020603050405020304" pitchFamily="18" charset="0"/>
            </a:endParaRPr>
          </a:p>
        </p:txBody>
      </p:sp>
      <p:sp>
        <p:nvSpPr>
          <p:cNvPr id="6" name="Shape 4"/>
          <p:cNvSpPr/>
          <p:nvPr/>
        </p:nvSpPr>
        <p:spPr>
          <a:xfrm>
            <a:off x="822325" y="2111536"/>
            <a:ext cx="3333750" cy="4178130"/>
          </a:xfrm>
          <a:prstGeom prst="rect">
            <a:avLst/>
          </a:prstGeom>
          <a:solidFill>
            <a:srgbClr val="FFFFFF"/>
          </a:solidFill>
          <a:ln w="19050">
            <a:solidFill>
              <a:srgbClr val="B8480F"/>
            </a:solidFill>
            <a:prstDash val="solid"/>
          </a:ln>
        </p:spPr>
      </p:sp>
      <p:sp>
        <p:nvSpPr>
          <p:cNvPr id="7" name="Text 5"/>
          <p:cNvSpPr/>
          <p:nvPr/>
        </p:nvSpPr>
        <p:spPr>
          <a:xfrm>
            <a:off x="830943" y="2120156"/>
            <a:ext cx="3316515" cy="604497"/>
          </a:xfrm>
          <a:prstGeom prst="rect">
            <a:avLst/>
          </a:prstGeom>
          <a:solidFill>
            <a:srgbClr val="B8480F"/>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8" name="Text 6"/>
          <p:cNvSpPr/>
          <p:nvPr/>
        </p:nvSpPr>
        <p:spPr>
          <a:xfrm>
            <a:off x="10341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9" name="Text 7"/>
          <p:cNvSpPr/>
          <p:nvPr/>
        </p:nvSpPr>
        <p:spPr>
          <a:xfrm>
            <a:off x="1034143" y="3192004"/>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Thiết bị nhúng, ít tài nguyên</a:t>
            </a:r>
            <a:endParaRPr lang="en-US" sz="1700" dirty="0">
              <a:latin typeface="Times New Roman" panose="02020603050405020304" pitchFamily="18" charset="0"/>
              <a:cs typeface="Times New Roman" panose="02020603050405020304" pitchFamily="18" charset="0"/>
            </a:endParaRPr>
          </a:p>
        </p:txBody>
      </p:sp>
      <p:pic>
        <p:nvPicPr>
          <p:cNvPr id="10" name="Image 0" descr="line"/>
          <p:cNvPicPr>
            <a:picLocks noChangeAspect="1"/>
          </p:cNvPicPr>
          <p:nvPr/>
        </p:nvPicPr>
        <p:blipFill>
          <a:blip r:embed="rId3"/>
          <a:srcRect l="-31" r="-31"/>
          <a:stretch/>
        </p:blipFill>
        <p:spPr>
          <a:xfrm>
            <a:off x="1034143" y="3829496"/>
            <a:ext cx="2910114" cy="12700"/>
          </a:xfrm>
          <a:prstGeom prst="rect">
            <a:avLst/>
          </a:prstGeom>
        </p:spPr>
      </p:pic>
      <p:sp>
        <p:nvSpPr>
          <p:cNvPr id="11" name="Text 8"/>
          <p:cNvSpPr/>
          <p:nvPr/>
        </p:nvSpPr>
        <p:spPr>
          <a:xfrm>
            <a:off x="1034143" y="3918396"/>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Bộ nhớ 2 số thực/bin</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1034143" y="4261296"/>
            <a:ext cx="3112407"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Chịu nhiễu kém ngân hàng lọc</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830943" y="5143153"/>
            <a:ext cx="3316515" cy="1137897"/>
          </a:xfrm>
          <a:prstGeom prst="rect">
            <a:avLst/>
          </a:prstGeom>
          <a:solidFill>
            <a:srgbClr val="FBE5D6"/>
          </a:solidFill>
          <a:ln/>
        </p:spPr>
      </p:sp>
      <p:sp>
        <p:nvSpPr>
          <p:cNvPr id="14" name="Text 11"/>
          <p:cNvSpPr/>
          <p:nvPr/>
        </p:nvSpPr>
        <p:spPr>
          <a:xfrm>
            <a:off x="1651000" y="5295553"/>
            <a:ext cx="1676400"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B8480F"/>
                </a:solidFill>
                <a:latin typeface="Times New Roman" panose="02020603050405020304" pitchFamily="18" charset="0"/>
                <a:ea typeface="Tinos" pitchFamily="18" charset="-122"/>
                <a:cs typeface="Times New Roman" panose="02020603050405020304" pitchFamily="18" charset="0"/>
              </a:rPr>
              <a:t>65 249</a:t>
            </a:r>
            <a:endParaRPr lang="en-US" sz="4000" dirty="0">
              <a:latin typeface="Times New Roman" panose="02020603050405020304" pitchFamily="18" charset="0"/>
              <a:cs typeface="Times New Roman" panose="02020603050405020304" pitchFamily="18" charset="0"/>
            </a:endParaRPr>
          </a:p>
        </p:txBody>
      </p:sp>
      <p:sp>
        <p:nvSpPr>
          <p:cNvPr id="15" name="Text 12"/>
          <p:cNvSpPr/>
          <p:nvPr/>
        </p:nvSpPr>
        <p:spPr>
          <a:xfrm>
            <a:off x="1092495" y="5879753"/>
            <a:ext cx="2793410"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phép nhân mỗi giây, rẻ nhất</a:t>
            </a:r>
            <a:endParaRPr lang="en-US" sz="1400" dirty="0">
              <a:latin typeface="Times New Roman" panose="02020603050405020304" pitchFamily="18" charset="0"/>
              <a:cs typeface="Times New Roman" panose="02020603050405020304" pitchFamily="18" charset="0"/>
            </a:endParaRPr>
          </a:p>
        </p:txBody>
      </p:sp>
      <p:sp>
        <p:nvSpPr>
          <p:cNvPr id="16" name="Shape 13"/>
          <p:cNvSpPr/>
          <p:nvPr/>
        </p:nvSpPr>
        <p:spPr>
          <a:xfrm>
            <a:off x="4429125" y="2111536"/>
            <a:ext cx="3333750" cy="4178130"/>
          </a:xfrm>
          <a:prstGeom prst="rect">
            <a:avLst/>
          </a:prstGeom>
          <a:solidFill>
            <a:srgbClr val="FFFFFF"/>
          </a:solidFill>
          <a:ln w="19050">
            <a:solidFill>
              <a:srgbClr val="0B7F58"/>
            </a:solidFill>
            <a:prstDash val="solid"/>
          </a:ln>
        </p:spPr>
      </p:sp>
      <p:sp>
        <p:nvSpPr>
          <p:cNvPr id="17" name="Text 14"/>
          <p:cNvSpPr/>
          <p:nvPr/>
        </p:nvSpPr>
        <p:spPr>
          <a:xfrm>
            <a:off x="4437743" y="2120156"/>
            <a:ext cx="3316515" cy="604497"/>
          </a:xfrm>
          <a:prstGeom prst="rect">
            <a:avLst/>
          </a:prstGeom>
          <a:solidFill>
            <a:srgbClr val="0B7F58"/>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18" name="Text 15"/>
          <p:cNvSpPr/>
          <p:nvPr/>
        </p:nvSpPr>
        <p:spPr>
          <a:xfrm>
            <a:off x="46409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19" name="Text 16"/>
          <p:cNvSpPr/>
          <p:nvPr/>
        </p:nvSpPr>
        <p:spPr>
          <a:xfrm>
            <a:off x="4640943" y="3192004"/>
            <a:ext cx="2997418" cy="306047"/>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Nhiễu mạnh, ù điện lưới</a:t>
            </a:r>
            <a:endParaRPr lang="en-US" sz="1700" dirty="0">
              <a:latin typeface="Times New Roman" panose="02020603050405020304" pitchFamily="18" charset="0"/>
              <a:cs typeface="Times New Roman" panose="02020603050405020304" pitchFamily="18" charset="0"/>
            </a:endParaRPr>
          </a:p>
        </p:txBody>
      </p:sp>
      <p:pic>
        <p:nvPicPr>
          <p:cNvPr id="20" name="Image 1" descr="line"/>
          <p:cNvPicPr>
            <a:picLocks noChangeAspect="1"/>
          </p:cNvPicPr>
          <p:nvPr/>
        </p:nvPicPr>
        <p:blipFill>
          <a:blip r:embed="rId3"/>
          <a:srcRect l="-31" r="-31"/>
          <a:stretch/>
        </p:blipFill>
        <p:spPr>
          <a:xfrm>
            <a:off x="4640943" y="3548856"/>
            <a:ext cx="2910114" cy="12700"/>
          </a:xfrm>
          <a:prstGeom prst="rect">
            <a:avLst/>
          </a:prstGeom>
        </p:spPr>
      </p:pic>
      <p:sp>
        <p:nvSpPr>
          <p:cNvPr id="21" name="Text 17"/>
          <p:cNvSpPr/>
          <p:nvPr/>
        </p:nvSpPr>
        <p:spPr>
          <a:xfrm>
            <a:off x="4640943" y="3637756"/>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Đúng 100% với tiếng ù</a:t>
            </a:r>
            <a:endParaRPr lang="en-US" sz="1500" dirty="0">
              <a:latin typeface="Times New Roman" panose="02020603050405020304" pitchFamily="18" charset="0"/>
              <a:cs typeface="Times New Roman" panose="02020603050405020304" pitchFamily="18" charset="0"/>
            </a:endParaRPr>
          </a:p>
        </p:txBody>
      </p:sp>
      <p:sp>
        <p:nvSpPr>
          <p:cNvPr id="22" name="Text 18"/>
          <p:cNvSpPr/>
          <p:nvPr/>
        </p:nvSpPr>
        <p:spPr>
          <a:xfrm>
            <a:off x="4640943" y="3980656"/>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Đắt nhất, có thể sinh phím giả</a:t>
            </a:r>
            <a:endParaRPr lang="en-US" sz="1500" dirty="0">
              <a:latin typeface="Times New Roman" panose="02020603050405020304" pitchFamily="18" charset="0"/>
              <a:cs typeface="Times New Roman" panose="02020603050405020304" pitchFamily="18" charset="0"/>
            </a:endParaRPr>
          </a:p>
        </p:txBody>
      </p:sp>
      <p:sp>
        <p:nvSpPr>
          <p:cNvPr id="23" name="Shape 19"/>
          <p:cNvSpPr/>
          <p:nvPr/>
        </p:nvSpPr>
        <p:spPr>
          <a:xfrm>
            <a:off x="4437743" y="5143153"/>
            <a:ext cx="3316515" cy="1137897"/>
          </a:xfrm>
          <a:prstGeom prst="rect">
            <a:avLst/>
          </a:prstGeom>
          <a:solidFill>
            <a:srgbClr val="E8F5EE"/>
          </a:solidFill>
          <a:ln/>
        </p:spPr>
      </p:sp>
      <p:sp>
        <p:nvSpPr>
          <p:cNvPr id="24" name="Text 20"/>
          <p:cNvSpPr/>
          <p:nvPr/>
        </p:nvSpPr>
        <p:spPr>
          <a:xfrm>
            <a:off x="5486400" y="5295553"/>
            <a:ext cx="1219200"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0B7F58"/>
                </a:solidFill>
                <a:latin typeface="Times New Roman" panose="02020603050405020304" pitchFamily="18" charset="0"/>
                <a:ea typeface="Tinos" pitchFamily="18" charset="-122"/>
                <a:cs typeface="Times New Roman" panose="02020603050405020304" pitchFamily="18" charset="0"/>
              </a:rPr>
              <a:t>96%</a:t>
            </a:r>
            <a:endParaRPr lang="en-US" sz="4000" dirty="0">
              <a:latin typeface="Times New Roman" panose="02020603050405020304" pitchFamily="18" charset="0"/>
              <a:cs typeface="Times New Roman" panose="02020603050405020304" pitchFamily="18" charset="0"/>
            </a:endParaRPr>
          </a:p>
        </p:txBody>
      </p:sp>
      <p:sp>
        <p:nvSpPr>
          <p:cNvPr id="25" name="Text 21"/>
          <p:cNvSpPr/>
          <p:nvPr/>
        </p:nvSpPr>
        <p:spPr>
          <a:xfrm>
            <a:off x="4869594" y="5879753"/>
            <a:ext cx="2452756"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đúng khi nhiễu rất mạnh</a:t>
            </a:r>
            <a:endParaRPr lang="en-US" sz="1400" dirty="0">
              <a:latin typeface="Times New Roman" panose="02020603050405020304" pitchFamily="18" charset="0"/>
              <a:cs typeface="Times New Roman" panose="02020603050405020304" pitchFamily="18" charset="0"/>
            </a:endParaRPr>
          </a:p>
        </p:txBody>
      </p:sp>
      <p:sp>
        <p:nvSpPr>
          <p:cNvPr id="26" name="Shape 22"/>
          <p:cNvSpPr/>
          <p:nvPr/>
        </p:nvSpPr>
        <p:spPr>
          <a:xfrm>
            <a:off x="8035925" y="2111536"/>
            <a:ext cx="3333750" cy="4178130"/>
          </a:xfrm>
          <a:prstGeom prst="rect">
            <a:avLst/>
          </a:prstGeom>
          <a:solidFill>
            <a:srgbClr val="FFFFFF"/>
          </a:solidFill>
          <a:ln w="19050">
            <a:solidFill>
              <a:srgbClr val="0B64A8"/>
            </a:solidFill>
            <a:prstDash val="solid"/>
          </a:ln>
        </p:spPr>
      </p:sp>
      <p:sp>
        <p:nvSpPr>
          <p:cNvPr id="27" name="Text 23"/>
          <p:cNvSpPr/>
          <p:nvPr/>
        </p:nvSpPr>
        <p:spPr>
          <a:xfrm>
            <a:off x="8044543" y="2120156"/>
            <a:ext cx="3316515" cy="604497"/>
          </a:xfrm>
          <a:prstGeom prst="rect">
            <a:avLst/>
          </a:prstGeom>
          <a:solidFill>
            <a:srgbClr val="0B64A8"/>
          </a:solidFill>
          <a:ln/>
        </p:spPr>
        <p:txBody>
          <a:bodyPr wrap="square" lIns="107224" tIns="88900" rIns="107224" bIns="6350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18"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28" name="Text 24"/>
          <p:cNvSpPr/>
          <p:nvPr/>
        </p:nvSpPr>
        <p:spPr>
          <a:xfrm>
            <a:off x="82477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29" name="Text 25"/>
          <p:cNvSpPr/>
          <p:nvPr/>
        </p:nvSpPr>
        <p:spPr>
          <a:xfrm>
            <a:off x="8247743" y="3192004"/>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Cần phổ đầy đủ, dò tín hiệu khác</a:t>
            </a:r>
            <a:endParaRPr lang="en-US" sz="1700" dirty="0">
              <a:latin typeface="Times New Roman" panose="02020603050405020304" pitchFamily="18" charset="0"/>
              <a:cs typeface="Times New Roman" panose="02020603050405020304" pitchFamily="18" charset="0"/>
            </a:endParaRPr>
          </a:p>
        </p:txBody>
      </p:sp>
      <p:pic>
        <p:nvPicPr>
          <p:cNvPr id="30" name="Image 2" descr="line"/>
          <p:cNvPicPr>
            <a:picLocks noChangeAspect="1"/>
          </p:cNvPicPr>
          <p:nvPr/>
        </p:nvPicPr>
        <p:blipFill>
          <a:blip r:embed="rId3"/>
          <a:srcRect l="-31" r="-31"/>
          <a:stretch/>
        </p:blipFill>
        <p:spPr>
          <a:xfrm>
            <a:off x="8247743" y="3829496"/>
            <a:ext cx="2910114" cy="12700"/>
          </a:xfrm>
          <a:prstGeom prst="rect">
            <a:avLst/>
          </a:prstGeom>
        </p:spPr>
      </p:pic>
      <p:sp>
        <p:nvSpPr>
          <p:cNvPr id="31" name="Text 26"/>
          <p:cNvSpPr/>
          <p:nvPr/>
        </p:nvSpPr>
        <p:spPr>
          <a:xfrm>
            <a:off x="8247743" y="3918396"/>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Dễ cài đặt nhất</a:t>
            </a:r>
            <a:endParaRPr lang="en-US" sz="1500" dirty="0">
              <a:latin typeface="Times New Roman" panose="02020603050405020304" pitchFamily="18" charset="0"/>
              <a:cs typeface="Times New Roman" panose="02020603050405020304" pitchFamily="18" charset="0"/>
            </a:endParaRPr>
          </a:p>
        </p:txBody>
      </p:sp>
      <p:sp>
        <p:nvSpPr>
          <p:cNvPr id="32" name="Text 27"/>
          <p:cNvSpPr/>
          <p:nvPr/>
        </p:nvSpPr>
        <p:spPr>
          <a:xfrm>
            <a:off x="8247743" y="4261296"/>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Kém bền nhiễu nhất</a:t>
            </a:r>
            <a:endParaRPr lang="en-US" sz="1500" dirty="0">
              <a:latin typeface="Times New Roman" panose="02020603050405020304" pitchFamily="18" charset="0"/>
              <a:cs typeface="Times New Roman" panose="02020603050405020304" pitchFamily="18" charset="0"/>
            </a:endParaRPr>
          </a:p>
        </p:txBody>
      </p:sp>
      <p:sp>
        <p:nvSpPr>
          <p:cNvPr id="33" name="Shape 28"/>
          <p:cNvSpPr/>
          <p:nvPr/>
        </p:nvSpPr>
        <p:spPr>
          <a:xfrm>
            <a:off x="8044543" y="5143153"/>
            <a:ext cx="3316515" cy="1137897"/>
          </a:xfrm>
          <a:prstGeom prst="rect">
            <a:avLst/>
          </a:prstGeom>
          <a:solidFill>
            <a:srgbClr val="DEEBF7"/>
          </a:solidFill>
          <a:ln/>
        </p:spPr>
      </p:sp>
      <p:sp>
        <p:nvSpPr>
          <p:cNvPr id="34" name="Text 29"/>
          <p:cNvSpPr/>
          <p:nvPr/>
        </p:nvSpPr>
        <p:spPr>
          <a:xfrm>
            <a:off x="9245601" y="5295553"/>
            <a:ext cx="914400"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0B64A8"/>
                </a:solidFill>
                <a:latin typeface="Times New Roman" panose="02020603050405020304" pitchFamily="18" charset="0"/>
                <a:ea typeface="Tinos" pitchFamily="18" charset="-122"/>
                <a:cs typeface="Times New Roman" panose="02020603050405020304" pitchFamily="18" charset="0"/>
              </a:rPr>
              <a:t>256</a:t>
            </a:r>
            <a:endParaRPr lang="en-US" sz="4000" dirty="0">
              <a:latin typeface="Times New Roman" panose="02020603050405020304" pitchFamily="18" charset="0"/>
              <a:cs typeface="Times New Roman" panose="02020603050405020304" pitchFamily="18" charset="0"/>
            </a:endParaRPr>
          </a:p>
        </p:txBody>
      </p:sp>
      <p:sp>
        <p:nvSpPr>
          <p:cNvPr id="35" name="Text 30"/>
          <p:cNvSpPr/>
          <p:nvPr/>
        </p:nvSpPr>
        <p:spPr>
          <a:xfrm>
            <a:off x="8767037" y="5879753"/>
            <a:ext cx="1871526"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bin phổ mỗi khung</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DFDFB"/>
        </a:solidFill>
        <a:effectLst/>
      </p:bgPr>
    </p:bg>
    <p:spTree>
      <p:nvGrpSpPr>
        <p:cNvPr id="1" name=""/>
        <p:cNvGrpSpPr/>
        <p:nvPr/>
      </p:nvGrpSpPr>
      <p:grpSpPr>
        <a:xfrm>
          <a:off x="0" y="0"/>
          <a:ext cx="0" cy="0"/>
          <a:chOff x="0" y="0"/>
          <a:chExt cx="0" cy="0"/>
        </a:xfrm>
      </p:grpSpPr>
      <p:sp>
        <p:nvSpPr>
          <p:cNvPr id="2" name="Text 0"/>
          <p:cNvSpPr/>
          <p:nvPr/>
        </p:nvSpPr>
        <p:spPr>
          <a:xfrm>
            <a:off x="0" y="0"/>
            <a:ext cx="609600" cy="863600"/>
          </a:xfrm>
          <a:prstGeom prst="rect">
            <a:avLst/>
          </a:prstGeom>
          <a:solidFill>
            <a:srgbClr val="B4C7E7"/>
          </a:solid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18" charset="-122"/>
                <a:cs typeface="Times New Roman" panose="02020603050405020304" pitchFamily="18" charset="0"/>
              </a:rPr>
              <a:t>24</a:t>
            </a:r>
            <a:endParaRPr lang="en-US" sz="1800" dirty="0">
              <a:latin typeface="Times New Roman" panose="02020603050405020304" pitchFamily="18" charset="0"/>
              <a:cs typeface="Times New Roman" panose="02020603050405020304" pitchFamily="18" charset="0"/>
            </a:endParaRPr>
          </a:p>
        </p:txBody>
      </p:sp>
      <p:sp>
        <p:nvSpPr>
          <p:cNvPr id="3" name="Shape 1"/>
          <p:cNvSpPr/>
          <p:nvPr/>
        </p:nvSpPr>
        <p:spPr>
          <a:xfrm>
            <a:off x="0" y="863600"/>
            <a:ext cx="12192001" cy="127000"/>
          </a:xfrm>
          <a:prstGeom prst="rect">
            <a:avLst/>
          </a:prstGeom>
          <a:solidFill>
            <a:srgbClr val="F4B183"/>
          </a:solidFill>
          <a:ln/>
        </p:spPr>
      </p:sp>
      <p:sp>
        <p:nvSpPr>
          <p:cNvPr id="4" name="Text 2"/>
          <p:cNvSpPr>
            <a:spLocks noGrp="1"/>
          </p:cNvSpPr>
          <p:nvPr>
            <p:ph type="title"/>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i="0" dirty="0">
                <a:solidFill>
                  <a:srgbClr val="178A48"/>
                </a:solidFill>
                <a:latin typeface="Times New Roman" panose="02020603050405020304" pitchFamily="18" charset="0"/>
                <a:ea typeface="Tinos" pitchFamily="18" charset="-122"/>
                <a:cs typeface="Times New Roman" panose="02020603050405020304" pitchFamily="18" charset="0"/>
              </a:rPr>
              <a:t>Kết luận và hướng phát triển</a:t>
            </a:r>
            <a:endParaRPr lang="en-US" sz="4400" dirty="0">
              <a:latin typeface="Times New Roman" panose="02020603050405020304" pitchFamily="18" charset="0"/>
              <a:cs typeface="Times New Roman" panose="02020603050405020304" pitchFamily="18" charset="0"/>
            </a:endParaRPr>
          </a:p>
        </p:txBody>
      </p:sp>
      <p:sp>
        <p:nvSpPr>
          <p:cNvPr id="5" name="Shape 3"/>
          <p:cNvSpPr/>
          <p:nvPr/>
        </p:nvSpPr>
        <p:spPr>
          <a:xfrm>
            <a:off x="812800" y="1295400"/>
            <a:ext cx="5130800" cy="5003800"/>
          </a:xfrm>
          <a:prstGeom prst="rect">
            <a:avLst/>
          </a:prstGeom>
          <a:solidFill>
            <a:srgbClr val="F6FAF4"/>
          </a:solidFill>
          <a:ln/>
        </p:spPr>
      </p:sp>
      <p:sp>
        <p:nvSpPr>
          <p:cNvPr id="6" name="Text 4"/>
          <p:cNvSpPr/>
          <p:nvPr/>
        </p:nvSpPr>
        <p:spPr>
          <a:xfrm>
            <a:off x="812800" y="1295400"/>
            <a:ext cx="5130800" cy="619749"/>
          </a:xfrm>
          <a:prstGeom prst="rect">
            <a:avLst/>
          </a:prstGeom>
          <a:solidFill>
            <a:srgbClr val="178A48"/>
          </a:solidFill>
          <a:ln/>
        </p:spPr>
        <p:txBody>
          <a:bodyPr wrap="square" lIns="203200" tIns="114300" rIns="61468" bIns="8890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18" charset="-122"/>
                <a:cs typeface="Times New Roman" panose="02020603050405020304" pitchFamily="18" charset="0"/>
              </a:rPr>
              <a:t>Đã làm được</a:t>
            </a:r>
            <a:endParaRPr lang="en-US" sz="2200" dirty="0">
              <a:latin typeface="Times New Roman" panose="02020603050405020304" pitchFamily="18" charset="0"/>
              <a:cs typeface="Times New Roman" panose="02020603050405020304" pitchFamily="18" charset="0"/>
            </a:endParaRPr>
          </a:p>
        </p:txBody>
      </p:sp>
      <p:pic>
        <p:nvPicPr>
          <p:cNvPr id="7" name="Image 0" descr="CheckCircle"/>
          <p:cNvPicPr>
            <a:picLocks noChangeAspect="1"/>
          </p:cNvPicPr>
          <p:nvPr/>
        </p:nvPicPr>
        <p:blipFill>
          <a:blip r:embed="rId3"/>
          <a:srcRect/>
          <a:stretch/>
        </p:blipFill>
        <p:spPr>
          <a:xfrm>
            <a:off x="1041400" y="2385045"/>
            <a:ext cx="279400" cy="279400"/>
          </a:xfrm>
          <a:prstGeom prst="rect">
            <a:avLst/>
          </a:prstGeom>
        </p:spPr>
      </p:pic>
      <p:sp>
        <p:nvSpPr>
          <p:cNvPr id="8" name="Text 5"/>
          <p:cNvSpPr/>
          <p:nvPr/>
        </p:nvSpPr>
        <p:spPr>
          <a:xfrm>
            <a:off x="1447800" y="2387600"/>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Bộ phát chuẩn Q.23 + cộng nhiễu đúng SNR</a:t>
            </a:r>
            <a:endParaRPr lang="en-US" sz="1600" dirty="0">
              <a:latin typeface="Times New Roman" panose="02020603050405020304" pitchFamily="18" charset="0"/>
              <a:cs typeface="Times New Roman" panose="02020603050405020304" pitchFamily="18" charset="0"/>
            </a:endParaRPr>
          </a:p>
        </p:txBody>
      </p:sp>
      <p:pic>
        <p:nvPicPr>
          <p:cNvPr id="9" name="Image 1" descr="CheckCircle"/>
          <p:cNvPicPr>
            <a:picLocks noChangeAspect="1"/>
          </p:cNvPicPr>
          <p:nvPr/>
        </p:nvPicPr>
        <p:blipFill>
          <a:blip r:embed="rId3"/>
          <a:srcRect/>
          <a:stretch/>
        </p:blipFill>
        <p:spPr>
          <a:xfrm>
            <a:off x="1041400" y="3243535"/>
            <a:ext cx="279400" cy="279400"/>
          </a:xfrm>
          <a:prstGeom prst="rect">
            <a:avLst/>
          </a:prstGeom>
        </p:spPr>
      </p:pic>
      <p:sp>
        <p:nvSpPr>
          <p:cNvPr id="10" name="Text 6"/>
          <p:cNvSpPr/>
          <p:nvPr/>
        </p:nvSpPr>
        <p:spPr>
          <a:xfrm>
            <a:off x="1447800" y="3108945"/>
            <a:ext cx="4395216" cy="573995"/>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3 bộ giải mã chung một luật, đúng 100% từ 7,5 dB</a:t>
            </a:r>
            <a:endParaRPr lang="en-US" sz="1600" dirty="0">
              <a:latin typeface="Times New Roman" panose="02020603050405020304" pitchFamily="18" charset="0"/>
              <a:cs typeface="Times New Roman" panose="02020603050405020304" pitchFamily="18" charset="0"/>
            </a:endParaRPr>
          </a:p>
        </p:txBody>
      </p:sp>
      <p:pic>
        <p:nvPicPr>
          <p:cNvPr id="11" name="Image 2" descr="CheckCircle"/>
          <p:cNvPicPr>
            <a:picLocks noChangeAspect="1"/>
          </p:cNvPicPr>
          <p:nvPr/>
        </p:nvPicPr>
        <p:blipFill>
          <a:blip r:embed="rId3"/>
          <a:srcRect/>
          <a:stretch/>
        </p:blipFill>
        <p:spPr>
          <a:xfrm>
            <a:off x="1041400" y="4102038"/>
            <a:ext cx="279400" cy="279400"/>
          </a:xfrm>
          <a:prstGeom prst="rect">
            <a:avLst/>
          </a:prstGeom>
        </p:spPr>
      </p:pic>
      <p:sp>
        <p:nvSpPr>
          <p:cNvPr id="12" name="Text 7"/>
          <p:cNvSpPr/>
          <p:nvPr/>
        </p:nvSpPr>
        <p:spPr>
          <a:xfrm>
            <a:off x="1447800" y="4104593"/>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3 giao diện: khảo sát, tổng đài, giám định</a:t>
            </a:r>
            <a:endParaRPr lang="en-US" sz="1600" dirty="0">
              <a:latin typeface="Times New Roman" panose="02020603050405020304" pitchFamily="18" charset="0"/>
              <a:cs typeface="Times New Roman" panose="02020603050405020304" pitchFamily="18" charset="0"/>
            </a:endParaRPr>
          </a:p>
        </p:txBody>
      </p:sp>
      <p:pic>
        <p:nvPicPr>
          <p:cNvPr id="13" name="Image 3" descr="CheckCircle"/>
          <p:cNvPicPr>
            <a:picLocks noChangeAspect="1"/>
          </p:cNvPicPr>
          <p:nvPr/>
        </p:nvPicPr>
        <p:blipFill>
          <a:blip r:embed="rId3"/>
          <a:srcRect/>
          <a:stretch/>
        </p:blipFill>
        <p:spPr>
          <a:xfrm>
            <a:off x="1041400" y="4826000"/>
            <a:ext cx="279400" cy="279400"/>
          </a:xfrm>
          <a:prstGeom prst="rect">
            <a:avLst/>
          </a:prstGeom>
        </p:spPr>
      </p:pic>
      <p:sp>
        <p:nvSpPr>
          <p:cNvPr id="14" name="Text 8"/>
          <p:cNvSpPr/>
          <p:nvPr/>
        </p:nvSpPr>
        <p:spPr>
          <a:xfrm>
            <a:off x="1447800" y="4828542"/>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Thử thêm 139 tệp âm thanh có nhãn</a:t>
            </a:r>
            <a:endParaRPr lang="en-US" sz="1600" dirty="0">
              <a:latin typeface="Times New Roman" panose="02020603050405020304" pitchFamily="18" charset="0"/>
              <a:cs typeface="Times New Roman" panose="02020603050405020304" pitchFamily="18" charset="0"/>
            </a:endParaRPr>
          </a:p>
        </p:txBody>
      </p:sp>
      <p:pic>
        <p:nvPicPr>
          <p:cNvPr id="15" name="Image 4" descr="CheckCircle"/>
          <p:cNvPicPr>
            <a:picLocks noChangeAspect="1"/>
          </p:cNvPicPr>
          <p:nvPr/>
        </p:nvPicPr>
        <p:blipFill>
          <a:blip r:embed="rId3"/>
          <a:srcRect/>
          <a:stretch/>
        </p:blipFill>
        <p:spPr>
          <a:xfrm>
            <a:off x="1041400" y="5549900"/>
            <a:ext cx="279400" cy="279400"/>
          </a:xfrm>
          <a:prstGeom prst="rect">
            <a:avLst/>
          </a:prstGeom>
        </p:spPr>
      </p:pic>
      <p:sp>
        <p:nvSpPr>
          <p:cNvPr id="16" name="Text 9"/>
          <p:cNvSpPr/>
          <p:nvPr/>
        </p:nvSpPr>
        <p:spPr>
          <a:xfrm>
            <a:off x="1447800" y="5552442"/>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266 + 63 ca kiểm thử tự động</a:t>
            </a:r>
            <a:endParaRPr lang="en-US" sz="1600" dirty="0">
              <a:latin typeface="Times New Roman" panose="02020603050405020304" pitchFamily="18" charset="0"/>
              <a:cs typeface="Times New Roman" panose="02020603050405020304" pitchFamily="18" charset="0"/>
            </a:endParaRPr>
          </a:p>
        </p:txBody>
      </p:sp>
      <p:sp>
        <p:nvSpPr>
          <p:cNvPr id="17" name="Shape 10"/>
          <p:cNvSpPr/>
          <p:nvPr/>
        </p:nvSpPr>
        <p:spPr>
          <a:xfrm>
            <a:off x="6248400" y="1295400"/>
            <a:ext cx="5130800" cy="5003800"/>
          </a:xfrm>
          <a:prstGeom prst="rect">
            <a:avLst/>
          </a:prstGeom>
          <a:solidFill>
            <a:srgbClr val="F3F6FA"/>
          </a:solidFill>
          <a:ln/>
        </p:spPr>
      </p:sp>
      <p:sp>
        <p:nvSpPr>
          <p:cNvPr id="18" name="Text 11"/>
          <p:cNvSpPr/>
          <p:nvPr/>
        </p:nvSpPr>
        <p:spPr>
          <a:xfrm>
            <a:off x="6248400" y="1295400"/>
            <a:ext cx="5130800" cy="619749"/>
          </a:xfrm>
          <a:prstGeom prst="rect">
            <a:avLst/>
          </a:prstGeom>
          <a:solidFill>
            <a:srgbClr val="1F4E9A"/>
          </a:solidFill>
          <a:ln/>
        </p:spPr>
        <p:txBody>
          <a:bodyPr wrap="square" lIns="203200" tIns="114300" rIns="61468" bIns="8890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18" charset="-122"/>
                <a:cs typeface="Times New Roman" panose="02020603050405020304" pitchFamily="18" charset="0"/>
              </a:rPr>
              <a:t>Hướng phát triển</a:t>
            </a:r>
            <a:endParaRPr lang="en-US" sz="2200" dirty="0">
              <a:latin typeface="Times New Roman" panose="02020603050405020304" pitchFamily="18" charset="0"/>
              <a:cs typeface="Times New Roman" panose="02020603050405020304" pitchFamily="18" charset="0"/>
            </a:endParaRPr>
          </a:p>
        </p:txBody>
      </p:sp>
      <p:pic>
        <p:nvPicPr>
          <p:cNvPr id="19" name="Image 5" descr="Lightbulb"/>
          <p:cNvPicPr>
            <a:picLocks noChangeAspect="1"/>
          </p:cNvPicPr>
          <p:nvPr/>
        </p:nvPicPr>
        <p:blipFill>
          <a:blip r:embed="rId4"/>
          <a:srcRect/>
          <a:stretch/>
        </p:blipFill>
        <p:spPr>
          <a:xfrm>
            <a:off x="6477000" y="2519635"/>
            <a:ext cx="279400" cy="279400"/>
          </a:xfrm>
          <a:prstGeom prst="rect">
            <a:avLst/>
          </a:prstGeom>
        </p:spPr>
      </p:pic>
      <p:sp>
        <p:nvSpPr>
          <p:cNvPr id="20" name="Text 12"/>
          <p:cNvSpPr/>
          <p:nvPr/>
        </p:nvSpPr>
        <p:spPr>
          <a:xfrm>
            <a:off x="6883400" y="2385045"/>
            <a:ext cx="4395216" cy="573995"/>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Ngưỡng tự chỉnh theo nhiễu, thử tiếng nói thật</a:t>
            </a:r>
            <a:endParaRPr lang="en-US" sz="1600" dirty="0">
              <a:latin typeface="Times New Roman" panose="02020603050405020304" pitchFamily="18" charset="0"/>
              <a:cs typeface="Times New Roman" panose="02020603050405020304" pitchFamily="18" charset="0"/>
            </a:endParaRPr>
          </a:p>
        </p:txBody>
      </p:sp>
      <p:pic>
        <p:nvPicPr>
          <p:cNvPr id="21" name="Image 6" descr="Lightbulb"/>
          <p:cNvPicPr>
            <a:picLocks noChangeAspect="1"/>
          </p:cNvPicPr>
          <p:nvPr/>
        </p:nvPicPr>
        <p:blipFill>
          <a:blip r:embed="rId4"/>
          <a:srcRect/>
          <a:stretch/>
        </p:blipFill>
        <p:spPr>
          <a:xfrm>
            <a:off x="6477000" y="3378138"/>
            <a:ext cx="279400" cy="279400"/>
          </a:xfrm>
          <a:prstGeom prst="rect">
            <a:avLst/>
          </a:prstGeom>
        </p:spPr>
      </p:pic>
      <p:sp>
        <p:nvSpPr>
          <p:cNvPr id="22" name="Text 13"/>
          <p:cNvSpPr/>
          <p:nvPr/>
        </p:nvSpPr>
        <p:spPr>
          <a:xfrm>
            <a:off x="6883400" y="3380693"/>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Goertzel đo đúng tại tần số chuẩn</a:t>
            </a:r>
            <a:endParaRPr lang="en-US" sz="1600" dirty="0">
              <a:latin typeface="Times New Roman" panose="02020603050405020304" pitchFamily="18" charset="0"/>
              <a:cs typeface="Times New Roman" panose="02020603050405020304" pitchFamily="18" charset="0"/>
            </a:endParaRPr>
          </a:p>
        </p:txBody>
      </p:sp>
      <p:pic>
        <p:nvPicPr>
          <p:cNvPr id="23" name="Image 7" descr="Lightbulb"/>
          <p:cNvPicPr>
            <a:picLocks noChangeAspect="1"/>
          </p:cNvPicPr>
          <p:nvPr/>
        </p:nvPicPr>
        <p:blipFill>
          <a:blip r:embed="rId4"/>
          <a:srcRect/>
          <a:stretch/>
        </p:blipFill>
        <p:spPr>
          <a:xfrm>
            <a:off x="6477000" y="4102038"/>
            <a:ext cx="279400" cy="279400"/>
          </a:xfrm>
          <a:prstGeom prst="rect">
            <a:avLst/>
          </a:prstGeom>
        </p:spPr>
      </p:pic>
      <p:sp>
        <p:nvSpPr>
          <p:cNvPr id="24" name="Text 14"/>
          <p:cNvSpPr/>
          <p:nvPr/>
        </p:nvSpPr>
        <p:spPr>
          <a:xfrm>
            <a:off x="6883400" y="4104593"/>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Chặn phím giả do dư âm của bộ lọc</a:t>
            </a:r>
            <a:endParaRPr lang="en-US" sz="1600" dirty="0">
              <a:latin typeface="Times New Roman" panose="02020603050405020304" pitchFamily="18" charset="0"/>
              <a:cs typeface="Times New Roman" panose="02020603050405020304" pitchFamily="18" charset="0"/>
            </a:endParaRPr>
          </a:p>
        </p:txBody>
      </p:sp>
      <p:pic>
        <p:nvPicPr>
          <p:cNvPr id="25" name="Image 8" descr="Lightbulb"/>
          <p:cNvPicPr>
            <a:picLocks noChangeAspect="1"/>
          </p:cNvPicPr>
          <p:nvPr/>
        </p:nvPicPr>
        <p:blipFill>
          <a:blip r:embed="rId4"/>
          <a:srcRect/>
          <a:stretch/>
        </p:blipFill>
        <p:spPr>
          <a:xfrm>
            <a:off x="6477000" y="4826000"/>
            <a:ext cx="279400" cy="279400"/>
          </a:xfrm>
          <a:prstGeom prst="rect">
            <a:avLst/>
          </a:prstGeom>
        </p:spPr>
      </p:pic>
      <p:sp>
        <p:nvSpPr>
          <p:cNvPr id="26" name="Text 15"/>
          <p:cNvSpPr/>
          <p:nvPr/>
        </p:nvSpPr>
        <p:spPr>
          <a:xfrm>
            <a:off x="6883400" y="4828542"/>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Đạt đủ Q.24: dung sai ±1,5%, âm 40 ms</a:t>
            </a:r>
            <a:endParaRPr lang="en-US" sz="1600" dirty="0">
              <a:latin typeface="Times New Roman" panose="02020603050405020304" pitchFamily="18" charset="0"/>
              <a:cs typeface="Times New Roman" panose="02020603050405020304" pitchFamily="18" charset="0"/>
            </a:endParaRPr>
          </a:p>
        </p:txBody>
      </p:sp>
      <p:pic>
        <p:nvPicPr>
          <p:cNvPr id="27" name="Image 9" descr="Lightbulb"/>
          <p:cNvPicPr>
            <a:picLocks noChangeAspect="1"/>
          </p:cNvPicPr>
          <p:nvPr/>
        </p:nvPicPr>
        <p:blipFill>
          <a:blip r:embed="rId4"/>
          <a:srcRect/>
          <a:stretch/>
        </p:blipFill>
        <p:spPr>
          <a:xfrm>
            <a:off x="6477000" y="5549900"/>
            <a:ext cx="279400" cy="279400"/>
          </a:xfrm>
          <a:prstGeom prst="rect">
            <a:avLst/>
          </a:prstGeom>
        </p:spPr>
      </p:pic>
      <p:sp>
        <p:nvSpPr>
          <p:cNvPr id="28" name="Text 16"/>
          <p:cNvSpPr/>
          <p:nvPr/>
        </p:nvSpPr>
        <p:spPr>
          <a:xfrm>
            <a:off x="6883400" y="5552442"/>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Chạy Goertzel trên vi điều khiển</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2F5E22"/>
        </a:solidFill>
        <a:effectLst/>
      </p:bgPr>
    </p:bg>
    <p:spTree>
      <p:nvGrpSpPr>
        <p:cNvPr id="1" name=""/>
        <p:cNvGrpSpPr/>
        <p:nvPr/>
      </p:nvGrpSpPr>
      <p:grpSpPr>
        <a:xfrm>
          <a:off x="0" y="0"/>
          <a:ext cx="0" cy="0"/>
          <a:chOff x="0" y="0"/>
          <a:chExt cx="0" cy="0"/>
        </a:xfrm>
      </p:grpSpPr>
      <p:sp>
        <p:nvSpPr>
          <p:cNvPr id="2" name="Shape 0"/>
          <p:cNvSpPr/>
          <p:nvPr/>
        </p:nvSpPr>
        <p:spPr>
          <a:xfrm>
            <a:off x="0" y="0"/>
            <a:ext cx="12192001" cy="6858000"/>
          </a:xfrm>
          <a:prstGeom prst="rect">
            <a:avLst/>
          </a:prstGeom>
          <a:gradFill rotWithShape="1">
            <a:gsLst>
              <a:gs pos="0">
                <a:srgbClr val="2F5E22"/>
              </a:gs>
              <a:gs pos="50000">
                <a:srgbClr val="5E9C3F"/>
              </a:gs>
              <a:gs pos="100000">
                <a:srgbClr val="2F5E22"/>
              </a:gs>
            </a:gsLst>
            <a:lin ang="0" scaled="0"/>
          </a:gradFill>
          <a:ln/>
        </p:spPr>
      </p:sp>
      <p:sp>
        <p:nvSpPr>
          <p:cNvPr id="3" name="Text 1"/>
          <p:cNvSpPr>
            <a:spLocks noGrp="1"/>
          </p:cNvSpPr>
          <p:nvPr>
            <p:ph type="title"/>
          </p:nvPr>
        </p:nvSpPr>
        <p:spPr>
          <a:xfrm>
            <a:off x="1884619" y="2204752"/>
            <a:ext cx="8422763" cy="1661092"/>
          </a:xfrm>
          <a:prstGeom prst="rect">
            <a:avLst/>
          </a:prstGeom>
          <a:noFill/>
          <a:ln/>
        </p:spPr>
        <p:txBody>
          <a:bodyPr wrap="square" lIns="0" tIns="0" rIns="0" bIns="0" rtlCol="0" anchor="t">
            <a:normAutofit/>
          </a:bodyPr>
          <a:lstStyle/>
          <a:p>
            <a:pPr marL="0" indent="0" algn="ctr">
              <a:lnSpc>
                <a:spcPts val="6440"/>
              </a:lnSpc>
              <a:buNone/>
            </a:pPr>
            <a:r>
              <a:rPr lang="en-US" sz="5600" b="1" i="0" dirty="0">
                <a:solidFill>
                  <a:srgbClr val="FDFDFB"/>
                </a:solidFill>
                <a:latin typeface="Times New Roman" panose="02020603050405020304" pitchFamily="18" charset="0"/>
                <a:ea typeface="Tinos" pitchFamily="18" charset="-122"/>
                <a:cs typeface="Times New Roman" panose="02020603050405020304" pitchFamily="18" charset="0"/>
              </a:rPr>
              <a:t>Cảm ơn thầy cô và các bạn</a:t>
            </a:r>
            <a:endParaRPr lang="en-US" sz="5600" dirty="0">
              <a:latin typeface="Times New Roman" panose="02020603050405020304" pitchFamily="18" charset="0"/>
              <a:cs typeface="Times New Roman" panose="02020603050405020304" pitchFamily="18" charset="0"/>
            </a:endParaRPr>
          </a:p>
          <a:p>
            <a:pPr marL="0" indent="0" algn="ctr">
              <a:lnSpc>
                <a:spcPts val="6440"/>
              </a:lnSpc>
              <a:buNone/>
            </a:pPr>
            <a:r>
              <a:rPr lang="en-US" sz="5600" b="1" i="0" dirty="0">
                <a:solidFill>
                  <a:srgbClr val="FDFDFB"/>
                </a:solidFill>
                <a:latin typeface="Times New Roman" panose="02020603050405020304" pitchFamily="18" charset="0"/>
                <a:ea typeface="Tinos" pitchFamily="18" charset="-122"/>
                <a:cs typeface="Times New Roman" panose="02020603050405020304" pitchFamily="18" charset="0"/>
              </a:rPr>
              <a:t>đã lắng nghe!</a:t>
            </a:r>
            <a:endParaRPr lang="en-US" sz="5600" dirty="0">
              <a:latin typeface="Times New Roman" panose="02020603050405020304" pitchFamily="18" charset="0"/>
              <a:cs typeface="Times New Roman" panose="02020603050405020304" pitchFamily="18" charset="0"/>
            </a:endParaRPr>
          </a:p>
        </p:txBody>
      </p:sp>
      <p:sp>
        <p:nvSpPr>
          <p:cNvPr id="4" name="Text 2"/>
          <p:cNvSpPr/>
          <p:nvPr/>
        </p:nvSpPr>
        <p:spPr>
          <a:xfrm>
            <a:off x="3573916" y="4094435"/>
            <a:ext cx="5044111" cy="558800"/>
          </a:xfrm>
          <a:prstGeom prst="rect">
            <a:avLst/>
          </a:prstGeom>
          <a:solidFill>
            <a:srgbClr val="FDFDFB"/>
          </a:solidFill>
          <a:ln/>
        </p:spPr>
        <p:txBody>
          <a:bodyPr wrap="none" lIns="0" tIns="0" rIns="0" bIns="0" rtlCol="0" anchor="ctr">
            <a:normAutofit/>
          </a:bodyPr>
          <a:lstStyle/>
          <a:p>
            <a:pPr marL="0" indent="0" algn="ctr">
              <a:lnSpc>
                <a:spcPts val="2800"/>
              </a:lnSpc>
              <a:buNone/>
            </a:pPr>
            <a:r>
              <a:rPr lang="en-US" sz="2000" b="1" dirty="0">
                <a:solidFill>
                  <a:srgbClr val="2F5E22"/>
                </a:solidFill>
                <a:latin typeface="Times New Roman" panose="02020603050405020304" pitchFamily="18" charset="0"/>
                <a:ea typeface="Open Sans" pitchFamily="34" charset="-122"/>
                <a:cs typeface="Times New Roman" panose="02020603050405020304" pitchFamily="18" charset="0"/>
              </a:rPr>
              <a:t>Hỏi &amp; đáp · Demo giám định ghi âm</a:t>
            </a:r>
            <a:endParaRPr lang="en-US" sz="2000" dirty="0">
              <a:latin typeface="Times New Roman" panose="02020603050405020304" pitchFamily="18" charset="0"/>
              <a:cs typeface="Times New Roman" panose="02020603050405020304" pitchFamily="18" charset="0"/>
            </a:endParaRPr>
          </a:p>
        </p:txBody>
      </p:sp>
      <p:sp>
        <p:nvSpPr>
          <p:cNvPr id="5" name="Text 3"/>
          <p:cNvSpPr/>
          <p:nvPr/>
        </p:nvSpPr>
        <p:spPr>
          <a:xfrm>
            <a:off x="654304" y="5943600"/>
            <a:ext cx="1088339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EAF5E4"/>
                </a:solidFill>
                <a:latin typeface="Times New Roman" panose="02020603050405020304" pitchFamily="18" charset="0"/>
                <a:ea typeface="Open Sans" pitchFamily="34" charset="-122"/>
                <a:cs typeface="Times New Roman" panose="02020603050405020304" pitchFamily="18" charset="0"/>
              </a:rPr>
              <a:t>Nhóm 4 · Xử lý tín hiệu số · Học viện An ninh nhân dân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Hệ thống phát và giải mã tín hiệu DTMF">
  <a:themeElements>
    <a:clrScheme name="Hệ thống phát và giải mã tín hiệu DTMF">
      <a:dk1>
        <a:srgbClr val="178A48"/>
      </a:dk1>
      <a:lt1>
        <a:srgbClr val="FDFDFB"/>
      </a:lt1>
      <a:dk2>
        <a:srgbClr val="51A775"/>
      </a:dk2>
      <a:lt2>
        <a:srgbClr val="E6F2E9"/>
      </a:lt2>
      <a:accent1>
        <a:srgbClr val="1F4E9A"/>
      </a:accent1>
      <a:accent2>
        <a:srgbClr val="B8480F"/>
      </a:accent2>
      <a:accent3>
        <a:srgbClr val="F4B183"/>
      </a:accent3>
      <a:accent4>
        <a:srgbClr val="B4C7E7"/>
      </a:accent4>
      <a:accent5>
        <a:srgbClr val="0B64A8"/>
      </a:accent5>
      <a:accent6>
        <a:srgbClr val="C00000"/>
      </a:accent6>
      <a:hlink>
        <a:srgbClr val="0563C1"/>
      </a:hlink>
      <a:folHlink>
        <a:srgbClr val="954F72"/>
      </a:folHlink>
    </a:clrScheme>
    <a:fontScheme name="Hệ thống phát và giải mã tín hiệu DTMF">
      <a:majorFont>
        <a:latin typeface="Tin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pe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TotalTime>
  <Words>5721</Words>
  <Application>Microsoft Office PowerPoint</Application>
  <PresentationFormat>Widescreen</PresentationFormat>
  <Paragraphs>516</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Arial</vt:lpstr>
      <vt:lpstr>Open Sans</vt:lpstr>
      <vt:lpstr>Times New Roman</vt:lpstr>
      <vt:lpstr>Tinos</vt:lpstr>
      <vt:lpstr>Hệ thống phát và giải mã tín hiệu DTMF</vt:lpstr>
      <vt:lpstr>ĐÁNH GIÁ SO SÁNH BA PHƯƠNG PHÁP PHÂN TÍCH PHỔ TRONG GIẢI MÃ TÍN HIỆU DTMF DƯỚI TÁC ĐỘNG CỦA NHIỄU</vt:lpstr>
      <vt:lpstr>Đặt vấn đề</vt:lpstr>
      <vt:lpstr>Đặt vấn đề</vt:lpstr>
      <vt:lpstr>Nội dung</vt:lpstr>
      <vt:lpstr>Tín hiệu DTMF là gì?</vt:lpstr>
      <vt:lpstr>Sơ đồ hệ thống</vt:lpstr>
      <vt:lpstr>Ba bộ giải mã</vt:lpstr>
      <vt:lpstr>Một phím qua ba phương pháp</vt:lpstr>
      <vt:lpstr>Thuật toán Goertzel</vt:lpstr>
      <vt:lpstr>Ngân hàng bộ lọc cộng hưởng</vt:lpstr>
      <vt:lpstr>Luật quyết định dùng chung</vt:lpstr>
      <vt:lpstr>Kiến trúc phần mềm</vt:lpstr>
      <vt:lpstr>DTMFApp - Khảo sát tín hiệu</vt:lpstr>
      <vt:lpstr>Giải mã theo luồng</vt:lpstr>
      <vt:lpstr>Web điện thoại</vt:lpstr>
      <vt:lpstr>Tổng đài trực tiếp DTMFLive</vt:lpstr>
      <vt:lpstr>Giám định ghi âm DTMFForensic</vt:lpstr>
      <vt:lpstr>Bốn mức độ khó khi giám định</vt:lpstr>
      <vt:lpstr>Kết quả: độ bền với nhiễu</vt:lpstr>
      <vt:lpstr>Vì sao ngân hàng lọc bền hơn?</vt:lpstr>
      <vt:lpstr>Chi phí tính toán</vt:lpstr>
      <vt:lpstr>Dung sai tần số theo ITU-T Q.24</vt:lpstr>
      <vt:lpstr>Thử trên 139 tệp âm thanh có nhãn</vt:lpstr>
      <vt:lpstr>Chọn phương pháp nào?</vt:lpstr>
      <vt:lpstr>Kết luận và hướng phát triển</vt:lpstr>
      <vt:lpstr>Cảm ơn thầy cô và các bạn đã lắng nghe!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phát và giải mã tín hiệu DTMF</dc:title>
  <dc:subject/>
  <dc:creator/>
  <cp:lastModifiedBy>Nhất Đỗ</cp:lastModifiedBy>
  <cp:revision>2</cp:revision>
  <dcterms:created xsi:type="dcterms:W3CDTF">2026-10-08T17:08:52Z</dcterms:created>
  <dcterms:modified xsi:type="dcterms:W3CDTF">2026-10-08T17:29:01Z</dcterms:modified>
</cp:coreProperties>
</file>