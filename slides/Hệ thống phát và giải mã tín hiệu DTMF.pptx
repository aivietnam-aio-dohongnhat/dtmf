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192"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575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4 trình bày đề tài: xây dựng hệ thống tự động phát và giải mã tín hiệu điện thoại DTMF, so sánh ba cách giải mã FFT, Goertzel và ngân hàng bộ lọc.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lần bấm phím, điện thoại phát ra một âm thanh. Bài toán của nhóm: từ âm thanh đó, có thể có nhiễu, tự động khôi phục lại chuỗi phím đã bấm, và so sánh ba cách làm.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năm phần: tín hiệu DTMF, ba cách giải mã, phần mềm, thực nghiệm và kết luận.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Bàn phím 4 hàng 3 cột. Mỗi hàng một tần số thấp, mỗi cột một tần số cao. Ví dụ phím 5 là 770 Hz cộng 1336 Hz. Tiếng nói hiếm khi mạnh đúng một tần số ở mỗi nhóm, nên dùng hai âm giúp chống nhận nhầm. Chuẩn ITU-T Q.23.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bốn khối. Bộ phát theo ITU-T Q.23/Q.24. Nhiễu cộng đúng SNR đặt. Chuỗi phím gốc được giữ làm nhãn đúng, đánh giá bằng khoảng cách Levenshtein và ma trận nhầm lẫn.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bộ giải mã có cùng chữ ký hàm. Chỉ ô màu cam, bước đo công suất tại 8 tần số, là khác nhau. FFT: N 256, bước 128. Goertzel và ngân hàng lọc: N 205, bước 205. Các bước còn lại dùng chung hàm dtmf_decide và dtmf_debounce, nên so sánh được công bằng.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trên là chuỗi 0912345 ở SNR 20 dB: mỗi phím là hai vạch ngang. Phía dưới là cùng một phím 5 nhìn qua ba phương pháp: đều thấy hai đỉnh tại 770 Hz và 1336 Hz, nhưng cách đo khác nhau.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Goertzel thực chất là một bộ cộng hưởng bậc hai. Mỗi mẫu chỉ một phép nhân thực, cuối khung mới tính công suất. Chọn N bằng 205 để mọi tần số chuẩn rơi gần tâm bin. Không nhân cửa sổ: rò rỉ lớn nhất −15,9 dB, còn dư khoảng 10 dB so với ngưỡng 6 dB.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bộ lọc là một bộ cộng hưởng thiết kế trực tiếp trong miền z. r bằng 0,99 cho băng thông khoảng 25 Hz. Hai điểm không tại z bằng ±1 triệt thành phần một chiều. Pha phi tuyến không ảnh hưởng vì chỉ dùng năng lượng đầu ra. Nhóm tự viết hàm design_bpf_bank.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điều kiện xét lần lượt, khung dừng ở điều kiện đầu tiên không thoả và mang nhãn lý do: level, twist hoặc harmonic. Công suất được chuẩn hoá theo năng lượng khung, E j bằng P j chia P khung, nên một ngưỡng dùng được cho cả ba phương pháp.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giao diện sau khi phát chuỗi 0912345 và giải mã bằng Goertzel. Biểu đồ 8 bin cho thấy trực tiếp lý do của quyết định. Giao diện viết bằng classdef thay vì kéo thả, nên kiểm thử tự động được. Nếu có thời gian, nhóm sẽ demo trực tiếp.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lập: 20 chuỗi 12 phím, 15 mức SNR, hai loại nhiễu, cố định rng(2026). Độ chính xác acc bằng 1 trừ khoảng cách Levenshtein chia độ dài chuỗi dài hơn. Trong dải làm việc SNR từ 10 dB cả ba đều đúng hoàn toàn. Khác biệt ở SNR thấp: tại 2,5 dB ngân hàng lọc đạt 0,96, FFT chỉ 0,16. Với nhiễu điện lưới 50 Hz: ngân hàng lọc 1,00, Goertzel 0,07, FFT 0,00.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hạn chịu nhiễu do biên dự trữ của ρ so với ngưỡng 0,70 quyết định, không phải khả năng đo phổ. Nhiễu lọt vào tỷ lệ năng lượng như nhau ở cả ba. Bộ cộng hưởng có độ lợi bằng 1 tại tần số chuẩn nên giữ gần hết năng lượng, xa ngưỡng hơn. Khi bỏ ngưỡng, FFT và Goertzel vẫn giải mã trên 0,93 ở −5 dB.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Cột ms là thời gian đo được cho một giây âm thanh. Thời gian đo không tỷ lệ với số phép nhân: Goertzel là vòng lặp MATLAB thông dịch, còn fft và filter là mã đã biên dịch, và thời gian dao động giữa các lần chạy. Vì vậy nhóm dùng số phép nhân làm thước đo chính khi nghĩ tới thiết bị nhúng.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Goertzel: ít phép nhân nhất, bộ nhớ chỉ 2 số thực mỗi bin, đúng 100% từ 7,5 dB, hợp với thiết bị nhúng và nhiễu vừa phải. Ngân hàng lọc: bền nhiễu nhất, là cách duy nhất đạt 1,00 với nhiễu điện lưới ở 2,5 dB, nhưng tốn phép nhân nhất. FFT: dễ cài đặt nhất, cho phổ đầy đủ, nhưng kém bền nhiễu nhất ở SNR thấp.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bộ phát theo ITU-T Q.23/Q.24, ba bộ giải mã chung chữ ký và tiêu chí chấp nhận khung, tự cài đặt Goertzel và bộ lọc cộng hưởng, so sánh trên 5400 lượt giải mã. Hạn chế: thực nghiệm định lượng mới dùng dữ liệu tổng hợp, giọng nói thật mới có một giọng dài 18 giây, chuẩn Q.24 mới đạt một phần, và ngân hàng lọc còn sinh phím giả từ dao động dư. Các hướng phát triển khắc phục lần lượt từng điểm.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cô và các bạn. Nhóm sẵn sàng trả lời câu hỏi và demo phần mềm.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12192001" cy="127000"/>
          </a:xfrm>
          <a:prstGeom prst="rect">
            <a:avLst/>
          </a:prstGeom>
          <a:solidFill>
            <a:srgbClr val="F4B183"/>
          </a:solidFill>
          <a:ln/>
        </p:spPr>
      </p:sp>
      <p:sp>
        <p:nvSpPr>
          <p:cNvPr id="3" name="Text 1"/>
          <p:cNvSpPr/>
          <p:nvPr/>
        </p:nvSpPr>
        <p:spPr>
          <a:xfrm>
            <a:off x="4481166" y="403877"/>
            <a:ext cx="3229669" cy="309846"/>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1F4E9A"/>
                </a:solidFill>
                <a:latin typeface="Times New Roman" panose="02020603050405020304" pitchFamily="18" charset="0"/>
                <a:ea typeface="Open Sans" pitchFamily="34" charset="-122"/>
                <a:cs typeface="Times New Roman" panose="02020603050405020304" pitchFamily="18" charset="0"/>
              </a:rPr>
              <a:t>HỌC VIỆN AN NINH NHÂN DÂN</a:t>
            </a:r>
            <a:endParaRPr lang="en-US" sz="1500" dirty="0">
              <a:latin typeface="Times New Roman" panose="02020603050405020304" pitchFamily="18" charset="0"/>
              <a:cs typeface="Times New Roman" panose="02020603050405020304" pitchFamily="18" charset="0"/>
            </a:endParaRPr>
          </a:p>
        </p:txBody>
      </p:sp>
      <p:sp>
        <p:nvSpPr>
          <p:cNvPr id="4" name="Text 2"/>
          <p:cNvSpPr/>
          <p:nvPr/>
        </p:nvSpPr>
        <p:spPr>
          <a:xfrm>
            <a:off x="3902853" y="814869"/>
            <a:ext cx="4386294" cy="309846"/>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5A6478"/>
                </a:solidFill>
                <a:latin typeface="Times New Roman" panose="02020603050405020304" pitchFamily="18" charset="0"/>
                <a:ea typeface="Open Sans" pitchFamily="34" charset="-122"/>
                <a:cs typeface="Times New Roman" panose="02020603050405020304" pitchFamily="18" charset="0"/>
              </a:rPr>
              <a:t>Khoa An ninh mạng và Phòng, chống tội phạm sử dụng công nghệ cao</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2073238" y="2371385"/>
            <a:ext cx="8045524" cy="1561533"/>
          </a:xfrm>
          <a:prstGeom prst="rect">
            <a:avLst/>
          </a:prstGeom>
          <a:noFill/>
          <a:ln/>
        </p:spPr>
        <p:txBody>
          <a:bodyPr wrap="square" lIns="0" tIns="0" rIns="0" bIns="0" rtlCol="0" anchor="t">
            <a:normAutofit/>
          </a:bodyPr>
          <a:lstStyle/>
          <a:p>
            <a:pPr marL="0" indent="0" algn="ctr">
              <a:lnSpc>
                <a:spcPts val="6048"/>
              </a:lnSpc>
              <a:buNone/>
            </a:pPr>
            <a:r>
              <a:rPr lang="en-US" sz="5600" b="1" dirty="0">
                <a:solidFill>
                  <a:srgbClr val="178A48"/>
                </a:solidFill>
                <a:latin typeface="Times New Roman" panose="02020603050405020304" pitchFamily="18" charset="0"/>
                <a:ea typeface="Tinos" pitchFamily="34" charset="-122"/>
                <a:cs typeface="Times New Roman" panose="02020603050405020304" pitchFamily="18" charset="0"/>
              </a:rPr>
              <a:t>Hệ thống phát và giải mã</a:t>
            </a:r>
            <a:endParaRPr lang="en-US" sz="5600" dirty="0">
              <a:latin typeface="Times New Roman" panose="02020603050405020304" pitchFamily="18" charset="0"/>
              <a:cs typeface="Times New Roman" panose="02020603050405020304" pitchFamily="18" charset="0"/>
            </a:endParaRPr>
          </a:p>
          <a:p>
            <a:pPr marL="0" indent="0" algn="ctr">
              <a:lnSpc>
                <a:spcPts val="6048"/>
              </a:lnSpc>
              <a:buNone/>
            </a:pPr>
            <a:r>
              <a:rPr lang="en-US" sz="5600" b="1" dirty="0">
                <a:solidFill>
                  <a:srgbClr val="178A48"/>
                </a:solidFill>
                <a:latin typeface="Times New Roman" panose="02020603050405020304" pitchFamily="18" charset="0"/>
                <a:ea typeface="Tinos" pitchFamily="34" charset="-122"/>
                <a:cs typeface="Times New Roman" panose="02020603050405020304" pitchFamily="18" charset="0"/>
              </a:rPr>
              <a:t>tín hiệu DTMF</a:t>
            </a:r>
            <a:endParaRPr lang="en-US" sz="5600" dirty="0">
              <a:latin typeface="Times New Roman" panose="02020603050405020304" pitchFamily="18" charset="0"/>
              <a:cs typeface="Times New Roman" panose="02020603050405020304" pitchFamily="18" charset="0"/>
            </a:endParaRPr>
          </a:p>
        </p:txBody>
      </p:sp>
      <p:sp>
        <p:nvSpPr>
          <p:cNvPr id="6" name="Text 4"/>
          <p:cNvSpPr/>
          <p:nvPr/>
        </p:nvSpPr>
        <p:spPr>
          <a:xfrm>
            <a:off x="1828149" y="4059918"/>
            <a:ext cx="8535703" cy="452097"/>
          </a:xfrm>
          <a:prstGeom prst="rect">
            <a:avLst/>
          </a:prstGeom>
          <a:noFill/>
          <a:ln/>
        </p:spPr>
        <p:txBody>
          <a:bodyPr wrap="square" lIns="0" tIns="0" rIns="0" bIns="0" rtlCol="0" anchor="t">
            <a:normAutofit/>
          </a:bodyPr>
          <a:lstStyle/>
          <a:p>
            <a:pPr marL="0" indent="0" algn="ctr">
              <a:lnSpc>
                <a:spcPts val="3360"/>
              </a:lnSpc>
              <a:buNone/>
            </a:pPr>
            <a:r>
              <a:rPr lang="en-US" sz="2400" b="1" i="1" dirty="0">
                <a:solidFill>
                  <a:srgbClr val="1F6FB0"/>
                </a:solidFill>
                <a:latin typeface="Times New Roman" panose="02020603050405020304" pitchFamily="18" charset="0"/>
                <a:ea typeface="Tinos" pitchFamily="34" charset="-122"/>
                <a:cs typeface="Times New Roman" panose="02020603050405020304" pitchFamily="18" charset="0"/>
              </a:rPr>
              <a:t>(Giải mã bằng FFT, Goertzel và ngân hàng bộ lọc trên MATLAB)</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812800" y="5334000"/>
            <a:ext cx="4970780" cy="30984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4E9A"/>
                </a:solidFill>
                <a:latin typeface="Times New Roman" panose="02020603050405020304" pitchFamily="18" charset="0"/>
                <a:ea typeface="Open Sans" pitchFamily="34" charset="-122"/>
                <a:cs typeface="Times New Roman" panose="02020603050405020304" pitchFamily="18" charset="0"/>
              </a:rPr>
              <a:t>Học phần: Xử lý tín hiệu số</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7193280" y="5334000"/>
            <a:ext cx="4185920" cy="594292"/>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8A6A00"/>
                </a:solidFill>
                <a:latin typeface="Times New Roman" panose="02020603050405020304" pitchFamily="18" charset="0"/>
                <a:ea typeface="Open Sans" pitchFamily="34" charset="-122"/>
                <a:cs typeface="Times New Roman" panose="02020603050405020304" pitchFamily="18" charset="0"/>
              </a:rPr>
              <a:t>Nhóm 4</a:t>
            </a:r>
            <a:endParaRPr lang="en-US" sz="1600" dirty="0">
              <a:latin typeface="Times New Roman" panose="02020603050405020304" pitchFamily="18" charset="0"/>
              <a:cs typeface="Times New Roman" panose="02020603050405020304" pitchFamily="18" charset="0"/>
            </a:endParaRPr>
          </a:p>
          <a:p>
            <a:pPr algn="r">
              <a:lnSpc>
                <a:spcPts val="2240"/>
              </a:lnSpc>
            </a:pPr>
            <a:r>
              <a:rPr lang="en-US" sz="1600" b="1" dirty="0">
                <a:solidFill>
                  <a:srgbClr val="8A6A00"/>
                </a:solidFill>
                <a:latin typeface="Times New Roman" panose="02020603050405020304" pitchFamily="18" charset="0"/>
                <a:ea typeface="Open Sans" pitchFamily="34" charset="-122"/>
                <a:cs typeface="Times New Roman" panose="02020603050405020304" pitchFamily="18" charset="0"/>
              </a:rPr>
              <a:t>GVHD: </a:t>
            </a:r>
            <a:r>
              <a:rPr lang="en-US" sz="1600" b="1" dirty="0" err="1">
                <a:solidFill>
                  <a:srgbClr val="8A6A00"/>
                </a:solidFill>
                <a:latin typeface="Times New Roman" panose="02020603050405020304" pitchFamily="18" charset="0"/>
                <a:ea typeface="Open Sans" pitchFamily="34" charset="-122"/>
                <a:cs typeface="Times New Roman" panose="02020603050405020304" pitchFamily="18" charset="0"/>
              </a:rPr>
              <a:t>ThS</a:t>
            </a:r>
            <a:r>
              <a:rPr lang="en-US" sz="1600" b="1" dirty="0">
                <a:solidFill>
                  <a:srgbClr val="8A6A00"/>
                </a:solidFill>
                <a:latin typeface="Times New Roman" panose="02020603050405020304" pitchFamily="18" charset="0"/>
                <a:ea typeface="Open Sans" pitchFamily="34" charset="-122"/>
                <a:cs typeface="Times New Roman" panose="02020603050405020304" pitchFamily="18" charset="0"/>
              </a:rPr>
              <a:t> </a:t>
            </a:r>
            <a:r>
              <a:rPr lang="en-US" sz="1600" b="1" dirty="0" err="1">
                <a:solidFill>
                  <a:srgbClr val="8A6A00"/>
                </a:solidFill>
                <a:latin typeface="Times New Roman" panose="02020603050405020304" pitchFamily="18" charset="0"/>
                <a:ea typeface="Open Sans" pitchFamily="34" charset="-122"/>
                <a:cs typeface="Times New Roman" panose="02020603050405020304" pitchFamily="18" charset="0"/>
              </a:rPr>
              <a:t>Trần</a:t>
            </a:r>
            <a:r>
              <a:rPr lang="en-US" sz="1600" b="1" dirty="0">
                <a:solidFill>
                  <a:srgbClr val="8A6A00"/>
                </a:solidFill>
                <a:latin typeface="Times New Roman" panose="02020603050405020304" pitchFamily="18" charset="0"/>
                <a:ea typeface="Open Sans" pitchFamily="34" charset="-122"/>
                <a:cs typeface="Times New Roman" panose="02020603050405020304" pitchFamily="18" charset="0"/>
              </a:rPr>
              <a:t> Hoàng Anh </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12192001" cy="1079500"/>
          </a:xfrm>
          <a:prstGeom prst="rect">
            <a:avLst/>
          </a:prstGeom>
          <a:gradFill rotWithShape="1">
            <a:gsLst>
              <a:gs pos="0">
                <a:srgbClr val="2F5E22"/>
              </a:gs>
              <a:gs pos="50000">
                <a:srgbClr val="5E9C3F"/>
              </a:gs>
              <a:gs pos="100000">
                <a:srgbClr val="2F5E22"/>
              </a:gs>
            </a:gsLst>
            <a:lin ang="0" scaled="0"/>
          </a:gradFill>
          <a:ln/>
        </p:spPr>
      </p:sp>
      <p:sp>
        <p:nvSpPr>
          <p:cNvPr id="3" name="Text 1"/>
          <p:cNvSpPr/>
          <p:nvPr/>
        </p:nvSpPr>
        <p:spPr>
          <a:xfrm>
            <a:off x="654304" y="139700"/>
            <a:ext cx="10883393" cy="807697"/>
          </a:xfrm>
          <a:prstGeom prst="rect">
            <a:avLst/>
          </a:prstGeom>
          <a:noFill/>
          <a:ln/>
        </p:spPr>
        <p:txBody>
          <a:bodyPr wrap="square" lIns="0" tIns="0" rIns="0" bIns="0" rtlCol="0" anchor="t">
            <a:normAutofit/>
          </a:bodyPr>
          <a:lstStyle/>
          <a:p>
            <a:pPr marL="0" indent="0" algn="ctr">
              <a:lnSpc>
                <a:spcPts val="6160"/>
              </a:lnSpc>
              <a:buNone/>
            </a:pPr>
            <a:r>
              <a:rPr lang="en-US" sz="5600" b="1" dirty="0">
                <a:solidFill>
                  <a:srgbClr val="FDFDFB"/>
                </a:solidFill>
                <a:latin typeface="Times New Roman" panose="02020603050405020304" pitchFamily="18" charset="0"/>
                <a:ea typeface="Tinos" pitchFamily="34" charset="-122"/>
                <a:cs typeface="Times New Roman" panose="02020603050405020304" pitchFamily="18" charset="0"/>
              </a:rPr>
              <a:t>Đặt vấn đề</a:t>
            </a:r>
            <a:endParaRPr lang="en-US" sz="5600" dirty="0">
              <a:latin typeface="Times New Roman" panose="02020603050405020304" pitchFamily="18" charset="0"/>
              <a:cs typeface="Times New Roman" panose="02020603050405020304" pitchFamily="18" charset="0"/>
            </a:endParaRPr>
          </a:p>
        </p:txBody>
      </p:sp>
      <p:sp>
        <p:nvSpPr>
          <p:cNvPr id="4" name="Shape 2"/>
          <p:cNvSpPr/>
          <p:nvPr/>
        </p:nvSpPr>
        <p:spPr>
          <a:xfrm>
            <a:off x="812800" y="1333500"/>
            <a:ext cx="10566401" cy="939800"/>
          </a:xfrm>
          <a:prstGeom prst="rect">
            <a:avLst/>
          </a:prstGeom>
          <a:solidFill>
            <a:srgbClr val="E2EFDA"/>
          </a:solidFill>
          <a:ln/>
        </p:spPr>
      </p:sp>
      <p:sp>
        <p:nvSpPr>
          <p:cNvPr id="5" name="Text 3"/>
          <p:cNvSpPr/>
          <p:nvPr/>
        </p:nvSpPr>
        <p:spPr>
          <a:xfrm>
            <a:off x="915924" y="1460500"/>
            <a:ext cx="10360153" cy="711200"/>
          </a:xfrm>
          <a:prstGeom prst="rect">
            <a:avLst/>
          </a:prstGeom>
          <a:noFill/>
          <a:ln/>
        </p:spPr>
        <p:txBody>
          <a:bodyPr wrap="square" lIns="0" tIns="0" rIns="0" bIns="0" rtlCol="0" anchor="t">
            <a:normAutofit/>
          </a:bodyPr>
          <a:lstStyle/>
          <a:p>
            <a:pPr marL="0" indent="0" algn="ctr">
              <a:lnSpc>
                <a:spcPts val="2700"/>
              </a:lnSpc>
              <a:buNone/>
            </a:pPr>
            <a:r>
              <a:rPr lang="en-US" sz="2000" dirty="0">
                <a:solidFill>
                  <a:srgbClr val="1F4E9A"/>
                </a:solidFill>
                <a:latin typeface="Times New Roman" panose="02020603050405020304" pitchFamily="18" charset="0"/>
                <a:ea typeface="Tinos" pitchFamily="34" charset="-122"/>
                <a:cs typeface="Times New Roman" panose="02020603050405020304" pitchFamily="18" charset="0"/>
              </a:rPr>
              <a:t>Khi bấm một phím điện thoại, làm sao tổng đài “nghe” ra đó là phím nào, kể cả khi đường truyền có nhiễu?</a:t>
            </a:r>
            <a:endParaRPr lang="en-US" sz="2000" dirty="0">
              <a:latin typeface="Times New Roman" panose="02020603050405020304" pitchFamily="18" charset="0"/>
              <a:cs typeface="Times New Roman" panose="02020603050405020304" pitchFamily="18" charset="0"/>
            </a:endParaRPr>
          </a:p>
        </p:txBody>
      </p:sp>
      <p:sp>
        <p:nvSpPr>
          <p:cNvPr id="6" name="Shape 4"/>
          <p:cNvSpPr/>
          <p:nvPr/>
        </p:nvSpPr>
        <p:spPr>
          <a:xfrm>
            <a:off x="822325" y="2536826"/>
            <a:ext cx="4375150" cy="3702050"/>
          </a:xfrm>
          <a:prstGeom prst="rect">
            <a:avLst/>
          </a:prstGeom>
          <a:solidFill>
            <a:srgbClr val="F6F7F9"/>
          </a:solidFill>
          <a:ln w="19050">
            <a:solidFill>
              <a:srgbClr val="DDE1E7"/>
            </a:solidFill>
            <a:prstDash val="solid"/>
          </a:ln>
        </p:spPr>
      </p:sp>
      <p:pic>
        <p:nvPicPr>
          <p:cNvPr id="7" name="Image 0" descr="Dạng sóng ba phím bấm: ba đoạn dao động xen kẽ khoảng lặng"/>
          <p:cNvPicPr>
            <a:picLocks noChangeAspect="1"/>
          </p:cNvPicPr>
          <p:nvPr/>
        </p:nvPicPr>
        <p:blipFill>
          <a:blip r:embed="rId3"/>
          <a:srcRect/>
          <a:stretch/>
        </p:blipFill>
        <p:spPr>
          <a:xfrm>
            <a:off x="977900" y="3162301"/>
            <a:ext cx="4064000" cy="1651000"/>
          </a:xfrm>
          <a:prstGeom prst="rect">
            <a:avLst/>
          </a:prstGeom>
        </p:spPr>
      </p:pic>
      <p:sp>
        <p:nvSpPr>
          <p:cNvPr id="8" name="Text 5"/>
          <p:cNvSpPr/>
          <p:nvPr/>
        </p:nvSpPr>
        <p:spPr>
          <a:xfrm>
            <a:off x="1335124" y="4914901"/>
            <a:ext cx="3349495" cy="391149"/>
          </a:xfrm>
          <a:prstGeom prst="rect">
            <a:avLst/>
          </a:prstGeom>
          <a:noFill/>
          <a:ln/>
        </p:spPr>
        <p:txBody>
          <a:bodyPr wrap="square" lIns="0" tIns="0" rIns="0" bIns="0" rtlCol="0" anchor="t">
            <a:normAutofit/>
          </a:bodyPr>
          <a:lstStyle/>
          <a:p>
            <a:pPr marL="0" indent="0" algn="ctr">
              <a:lnSpc>
                <a:spcPts val="2880"/>
              </a:lnSpc>
              <a:buNone/>
            </a:pPr>
            <a:r>
              <a:rPr lang="en-US" sz="2400" b="1" dirty="0">
                <a:solidFill>
                  <a:srgbClr val="1F3FA8"/>
                </a:solidFill>
                <a:latin typeface="Times New Roman" panose="02020603050405020304" pitchFamily="18" charset="0"/>
                <a:ea typeface="Tinos" pitchFamily="34" charset="-122"/>
                <a:cs typeface="Times New Roman" panose="02020603050405020304" pitchFamily="18" charset="0"/>
              </a:rPr>
              <a:t>Âm thanh của phím bấm</a:t>
            </a:r>
            <a:endParaRPr lang="en-US" sz="2400" dirty="0">
              <a:latin typeface="Times New Roman" panose="02020603050405020304" pitchFamily="18" charset="0"/>
              <a:cs typeface="Times New Roman" panose="02020603050405020304" pitchFamily="18" charset="0"/>
            </a:endParaRPr>
          </a:p>
        </p:txBody>
      </p:sp>
      <p:sp>
        <p:nvSpPr>
          <p:cNvPr id="9" name="Text 6"/>
          <p:cNvSpPr/>
          <p:nvPr/>
        </p:nvSpPr>
        <p:spPr>
          <a:xfrm>
            <a:off x="1590846" y="5382249"/>
            <a:ext cx="2838051" cy="256495"/>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(Tín hiệu y[n] = hai sóng sin + nhiễu)</a:t>
            </a:r>
            <a:endParaRPr lang="en-US" sz="1300" dirty="0">
              <a:latin typeface="Times New Roman" panose="02020603050405020304" pitchFamily="18" charset="0"/>
              <a:cs typeface="Times New Roman" panose="02020603050405020304" pitchFamily="18" charset="0"/>
            </a:endParaRPr>
          </a:p>
        </p:txBody>
      </p:sp>
      <p:pic>
        <p:nvPicPr>
          <p:cNvPr id="10" name="Image 1" descr="arrow-right"/>
          <p:cNvPicPr>
            <a:picLocks noChangeAspect="1"/>
          </p:cNvPicPr>
          <p:nvPr/>
        </p:nvPicPr>
        <p:blipFill>
          <a:blip r:embed="rId4"/>
          <a:srcRect/>
          <a:stretch/>
        </p:blipFill>
        <p:spPr>
          <a:xfrm>
            <a:off x="5461000" y="4038601"/>
            <a:ext cx="1270000" cy="698500"/>
          </a:xfrm>
          <a:prstGeom prst="rect">
            <a:avLst/>
          </a:prstGeom>
        </p:spPr>
      </p:pic>
      <p:sp>
        <p:nvSpPr>
          <p:cNvPr id="11" name="Shape 7"/>
          <p:cNvSpPr/>
          <p:nvPr/>
        </p:nvSpPr>
        <p:spPr>
          <a:xfrm>
            <a:off x="6994525" y="2536826"/>
            <a:ext cx="4375150" cy="3702050"/>
          </a:xfrm>
          <a:prstGeom prst="rect">
            <a:avLst/>
          </a:prstGeom>
          <a:solidFill>
            <a:srgbClr val="F6F7F9"/>
          </a:solidFill>
          <a:ln w="19050">
            <a:solidFill>
              <a:srgbClr val="DDE1E7"/>
            </a:solidFill>
            <a:prstDash val="solid"/>
          </a:ln>
        </p:spPr>
      </p:sp>
      <p:sp>
        <p:nvSpPr>
          <p:cNvPr id="12" name="Text 8"/>
          <p:cNvSpPr/>
          <p:nvPr/>
        </p:nvSpPr>
        <p:spPr>
          <a:xfrm>
            <a:off x="7350469" y="3530601"/>
            <a:ext cx="3663264" cy="939800"/>
          </a:xfrm>
          <a:prstGeom prst="rect">
            <a:avLst/>
          </a:prstGeom>
          <a:noFill/>
          <a:ln/>
        </p:spPr>
        <p:txBody>
          <a:bodyPr wrap="square" lIns="0" tIns="0" rIns="0" bIns="0" rtlCol="0" anchor="t">
            <a:normAutofit/>
          </a:bodyPr>
          <a:lstStyle/>
          <a:p>
            <a:pPr marL="0" indent="0" algn="ctr">
              <a:lnSpc>
                <a:spcPts val="7200"/>
              </a:lnSpc>
              <a:buNone/>
            </a:pPr>
            <a:r>
              <a:rPr lang="en-US" sz="6000" b="1" kern="0" spc="400" dirty="0">
                <a:solidFill>
                  <a:srgbClr val="1F2A44"/>
                </a:solidFill>
                <a:latin typeface="Times New Roman" panose="02020603050405020304" pitchFamily="18" charset="0"/>
                <a:ea typeface="Courier New" pitchFamily="34" charset="-122"/>
                <a:cs typeface="Times New Roman" panose="02020603050405020304" pitchFamily="18" charset="0"/>
              </a:rPr>
              <a:t>0912345</a:t>
            </a:r>
            <a:endParaRPr lang="en-US" sz="6000" dirty="0">
              <a:latin typeface="Times New Roman" panose="02020603050405020304" pitchFamily="18" charset="0"/>
              <a:cs typeface="Times New Roman" panose="02020603050405020304" pitchFamily="18" charset="0"/>
            </a:endParaRPr>
          </a:p>
        </p:txBody>
      </p:sp>
      <p:sp>
        <p:nvSpPr>
          <p:cNvPr id="13" name="Text 9"/>
          <p:cNvSpPr/>
          <p:nvPr/>
        </p:nvSpPr>
        <p:spPr>
          <a:xfrm>
            <a:off x="7851868" y="4546601"/>
            <a:ext cx="2660407" cy="391149"/>
          </a:xfrm>
          <a:prstGeom prst="rect">
            <a:avLst/>
          </a:prstGeom>
          <a:noFill/>
          <a:ln/>
        </p:spPr>
        <p:txBody>
          <a:bodyPr wrap="square" lIns="0" tIns="0" rIns="0" bIns="0" rtlCol="0" anchor="t">
            <a:normAutofit/>
          </a:bodyPr>
          <a:lstStyle/>
          <a:p>
            <a:pPr marL="0" indent="0" algn="ctr">
              <a:lnSpc>
                <a:spcPts val="2880"/>
              </a:lnSpc>
              <a:buNone/>
            </a:pPr>
            <a:r>
              <a:rPr lang="en-US" sz="2400" b="1" dirty="0">
                <a:solidFill>
                  <a:srgbClr val="1F3FA8"/>
                </a:solidFill>
                <a:latin typeface="Times New Roman" panose="02020603050405020304" pitchFamily="18" charset="0"/>
                <a:ea typeface="Tinos" pitchFamily="34" charset="-122"/>
                <a:cs typeface="Times New Roman" panose="02020603050405020304" pitchFamily="18" charset="0"/>
              </a:rPr>
              <a:t>Chuỗi phím giải mã</a:t>
            </a:r>
            <a:endParaRPr lang="en-US" sz="2400" dirty="0">
              <a:latin typeface="Times New Roman" panose="02020603050405020304" pitchFamily="18" charset="0"/>
              <a:cs typeface="Times New Roman" panose="02020603050405020304" pitchFamily="18" charset="0"/>
            </a:endParaRPr>
          </a:p>
        </p:txBody>
      </p:sp>
      <p:sp>
        <p:nvSpPr>
          <p:cNvPr id="14" name="Text 10"/>
          <p:cNvSpPr/>
          <p:nvPr/>
        </p:nvSpPr>
        <p:spPr>
          <a:xfrm>
            <a:off x="7385565" y="5013949"/>
            <a:ext cx="3593071" cy="256495"/>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(Bộ giải mã tự động · so sánh 3 phương pháp)</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12192001" cy="1079500"/>
          </a:xfrm>
          <a:prstGeom prst="rect">
            <a:avLst/>
          </a:prstGeom>
          <a:gradFill rotWithShape="1">
            <a:gsLst>
              <a:gs pos="0">
                <a:srgbClr val="2F5E22"/>
              </a:gs>
              <a:gs pos="50000">
                <a:srgbClr val="5E9C3F"/>
              </a:gs>
              <a:gs pos="100000">
                <a:srgbClr val="2F5E22"/>
              </a:gs>
            </a:gsLst>
            <a:lin ang="0" scaled="0"/>
          </a:gradFill>
          <a:ln/>
        </p:spPr>
      </p:sp>
      <p:sp>
        <p:nvSpPr>
          <p:cNvPr id="3" name="Text 1"/>
          <p:cNvSpPr/>
          <p:nvPr/>
        </p:nvSpPr>
        <p:spPr>
          <a:xfrm>
            <a:off x="654304" y="139700"/>
            <a:ext cx="10883393" cy="807697"/>
          </a:xfrm>
          <a:prstGeom prst="rect">
            <a:avLst/>
          </a:prstGeom>
          <a:noFill/>
          <a:ln/>
        </p:spPr>
        <p:txBody>
          <a:bodyPr wrap="square" lIns="0" tIns="0" rIns="0" bIns="0" rtlCol="0" anchor="t">
            <a:normAutofit/>
          </a:bodyPr>
          <a:lstStyle/>
          <a:p>
            <a:pPr marL="0" indent="0" algn="ctr">
              <a:lnSpc>
                <a:spcPts val="6160"/>
              </a:lnSpc>
              <a:buNone/>
            </a:pPr>
            <a:r>
              <a:rPr lang="en-US" sz="5600" b="1" dirty="0">
                <a:solidFill>
                  <a:srgbClr val="FDFDFB"/>
                </a:solidFill>
                <a:latin typeface="Times New Roman" panose="02020603050405020304" pitchFamily="18" charset="0"/>
                <a:ea typeface="Tinos" pitchFamily="34" charset="-122"/>
                <a:cs typeface="Times New Roman" panose="02020603050405020304" pitchFamily="18" charset="0"/>
              </a:rPr>
              <a:t>Nội dung</a:t>
            </a:r>
            <a:endParaRPr lang="en-US" sz="5600" dirty="0">
              <a:latin typeface="Times New Roman" panose="02020603050405020304" pitchFamily="18" charset="0"/>
              <a:cs typeface="Times New Roman" panose="02020603050405020304" pitchFamily="18" charset="0"/>
            </a:endParaRPr>
          </a:p>
        </p:txBody>
      </p:sp>
      <p:sp>
        <p:nvSpPr>
          <p:cNvPr id="4" name="Shape 2"/>
          <p:cNvSpPr/>
          <p:nvPr/>
        </p:nvSpPr>
        <p:spPr>
          <a:xfrm>
            <a:off x="819150" y="1847850"/>
            <a:ext cx="1958295" cy="3670300"/>
          </a:xfrm>
          <a:prstGeom prst="roundRect">
            <a:avLst>
              <a:gd name="adj" fmla="val 5512"/>
            </a:avLst>
          </a:prstGeom>
          <a:solidFill>
            <a:srgbClr val="FFFFFF"/>
          </a:solidFill>
          <a:ln w="12700">
            <a:solidFill>
              <a:srgbClr val="DDE1E7"/>
            </a:solidFill>
            <a:prstDash val="solid"/>
          </a:ln>
          <a:effectLst>
            <a:outerShdw blurRad="114300" dist="38100" dir="5400000" algn="bl" rotWithShape="0">
              <a:srgbClr val="1F2A44">
                <a:alpha val="8000"/>
              </a:srgbClr>
            </a:outerShdw>
          </a:effectLst>
        </p:spPr>
      </p:sp>
      <p:sp>
        <p:nvSpPr>
          <p:cNvPr id="5" name="Shape 3"/>
          <p:cNvSpPr/>
          <p:nvPr/>
        </p:nvSpPr>
        <p:spPr>
          <a:xfrm>
            <a:off x="1452222" y="2217511"/>
            <a:ext cx="692150" cy="692150"/>
          </a:xfrm>
          <a:prstGeom prst="roundRect">
            <a:avLst>
              <a:gd name="adj" fmla="val 50000"/>
            </a:avLst>
          </a:prstGeom>
          <a:solidFill>
            <a:srgbClr val="FFF59D"/>
          </a:solidFill>
          <a:ln w="19050">
            <a:solidFill>
              <a:srgbClr val="C9A227"/>
            </a:solidFill>
            <a:prstDash val="solid"/>
          </a:ln>
        </p:spPr>
      </p:sp>
      <p:sp>
        <p:nvSpPr>
          <p:cNvPr id="6" name="Text 4"/>
          <p:cNvSpPr/>
          <p:nvPr/>
        </p:nvSpPr>
        <p:spPr>
          <a:xfrm>
            <a:off x="1435440" y="2226129"/>
            <a:ext cx="725714" cy="700314"/>
          </a:xfrm>
          <a:prstGeom prst="rect">
            <a:avLst/>
          </a:prstGeom>
          <a:noFill/>
          <a:ln/>
        </p:spPr>
        <p:txBody>
          <a:bodyPr wrap="square" lIns="0" tIns="0" rIns="0" bIns="0" rtlCol="0" anchor="t">
            <a:normAutofit/>
          </a:bodyPr>
          <a:lstStyle/>
          <a:p>
            <a:pPr marL="0" indent="0" algn="ctr">
              <a:lnSpc>
                <a:spcPts val="5292"/>
              </a:lnSpc>
              <a:buNone/>
            </a:pPr>
            <a:r>
              <a:rPr lang="en-US" sz="2800" b="1" dirty="0">
                <a:solidFill>
                  <a:srgbClr val="178A48"/>
                </a:solidFill>
                <a:latin typeface="Times New Roman" panose="02020603050405020304" pitchFamily="18" charset="0"/>
                <a:ea typeface="Tinos" pitchFamily="34" charset="-122"/>
                <a:cs typeface="Times New Roman" panose="02020603050405020304" pitchFamily="18" charset="0"/>
              </a:rPr>
              <a:t>1</a:t>
            </a:r>
            <a:endParaRPr lang="en-US" sz="2800" dirty="0">
              <a:latin typeface="Times New Roman" panose="02020603050405020304" pitchFamily="18" charset="0"/>
              <a:cs typeface="Times New Roman" panose="02020603050405020304" pitchFamily="18" charset="0"/>
            </a:endParaRPr>
          </a:p>
        </p:txBody>
      </p:sp>
      <p:sp>
        <p:nvSpPr>
          <p:cNvPr id="7" name="Text 5"/>
          <p:cNvSpPr/>
          <p:nvPr/>
        </p:nvSpPr>
        <p:spPr>
          <a:xfrm>
            <a:off x="1317568" y="3084286"/>
            <a:ext cx="961401" cy="609600"/>
          </a:xfrm>
          <a:prstGeom prst="rect">
            <a:avLst/>
          </a:prstGeom>
          <a:noFill/>
          <a:ln/>
        </p:spPr>
        <p:txBody>
          <a:bodyPr wrap="square" lIns="0" tIns="0" rIns="0" bIns="0" rtlCol="0" anchor="t">
            <a:normAutofit/>
          </a:bodyPr>
          <a:lstStyle/>
          <a:p>
            <a:pPr marL="0" indent="0" algn="ctr">
              <a:lnSpc>
                <a:spcPts val="2300"/>
              </a:lnSpc>
              <a:buNone/>
            </a:pPr>
            <a:r>
              <a:rPr lang="en-US" sz="2000" b="1" dirty="0">
                <a:solidFill>
                  <a:srgbClr val="178A48"/>
                </a:solidFill>
                <a:latin typeface="Times New Roman" panose="02020603050405020304" pitchFamily="18" charset="0"/>
                <a:ea typeface="Tinos" pitchFamily="34" charset="-122"/>
                <a:cs typeface="Times New Roman" panose="02020603050405020304" pitchFamily="18" charset="0"/>
              </a:rPr>
              <a:t>Tín hiệu</a:t>
            </a:r>
            <a:endParaRPr lang="en-US" sz="2000" dirty="0">
              <a:latin typeface="Times New Roman" panose="02020603050405020304" pitchFamily="18" charset="0"/>
              <a:cs typeface="Times New Roman" panose="02020603050405020304" pitchFamily="18" charset="0"/>
            </a:endParaRPr>
          </a:p>
          <a:p>
            <a:pPr marL="0" indent="0" algn="ctr">
              <a:lnSpc>
                <a:spcPts val="2300"/>
              </a:lnSpc>
              <a:buNone/>
            </a:pPr>
            <a:r>
              <a:rPr lang="en-US" sz="2000" b="1" dirty="0">
                <a:solidFill>
                  <a:srgbClr val="178A48"/>
                </a:solidFill>
                <a:latin typeface="Times New Roman" panose="02020603050405020304" pitchFamily="18" charset="0"/>
                <a:ea typeface="Tinos" pitchFamily="34" charset="-122"/>
                <a:cs typeface="Times New Roman" panose="02020603050405020304" pitchFamily="18" charset="0"/>
              </a:rPr>
              <a:t>DTMF</a:t>
            </a:r>
            <a:endParaRPr lang="en-US" sz="2000" dirty="0">
              <a:latin typeface="Times New Roman" panose="02020603050405020304" pitchFamily="18" charset="0"/>
              <a:cs typeface="Times New Roman" panose="02020603050405020304" pitchFamily="18" charset="0"/>
            </a:endParaRPr>
          </a:p>
        </p:txBody>
      </p:sp>
      <p:pic>
        <p:nvPicPr>
          <p:cNvPr id="8" name="Image 0" descr="line"/>
          <p:cNvPicPr>
            <a:picLocks noChangeAspect="1"/>
          </p:cNvPicPr>
          <p:nvPr/>
        </p:nvPicPr>
        <p:blipFill>
          <a:blip r:embed="rId3"/>
          <a:srcRect l="-2500" r="-2500"/>
          <a:stretch/>
        </p:blipFill>
        <p:spPr>
          <a:xfrm>
            <a:off x="1544297" y="3833586"/>
            <a:ext cx="508000" cy="36286"/>
          </a:xfrm>
          <a:prstGeom prst="rect">
            <a:avLst/>
          </a:prstGeom>
        </p:spPr>
      </p:pic>
      <p:sp>
        <p:nvSpPr>
          <p:cNvPr id="9" name="Text 6"/>
          <p:cNvSpPr/>
          <p:nvPr/>
        </p:nvSpPr>
        <p:spPr>
          <a:xfrm>
            <a:off x="1100818" y="4034972"/>
            <a:ext cx="1394959" cy="596900"/>
          </a:xfrm>
          <a:prstGeom prst="rect">
            <a:avLst/>
          </a:prstGeom>
          <a:noFill/>
          <a:ln/>
        </p:spPr>
        <p:txBody>
          <a:bodyPr wrap="square" lIns="0" tIns="0" rIns="0" bIns="0" rtlCol="0" anchor="t">
            <a:normAutofit/>
          </a:bodyPr>
          <a:lstStyle/>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Bảng tần số</a:t>
            </a:r>
            <a:endParaRPr lang="en-US" sz="1500" dirty="0">
              <a:latin typeface="Times New Roman" panose="02020603050405020304" pitchFamily="18" charset="0"/>
              <a:cs typeface="Times New Roman" panose="02020603050405020304" pitchFamily="18" charset="0"/>
            </a:endParaRPr>
          </a:p>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Sơ đồ hệ thống</a:t>
            </a:r>
            <a:endParaRPr lang="en-US" sz="1500" dirty="0">
              <a:latin typeface="Times New Roman" panose="02020603050405020304" pitchFamily="18" charset="0"/>
              <a:cs typeface="Times New Roman" panose="02020603050405020304" pitchFamily="18" charset="0"/>
            </a:endParaRPr>
          </a:p>
        </p:txBody>
      </p:sp>
      <p:sp>
        <p:nvSpPr>
          <p:cNvPr id="10" name="Shape 7"/>
          <p:cNvSpPr/>
          <p:nvPr/>
        </p:nvSpPr>
        <p:spPr>
          <a:xfrm>
            <a:off x="2967945" y="1847850"/>
            <a:ext cx="1958351" cy="3670300"/>
          </a:xfrm>
          <a:prstGeom prst="roundRect">
            <a:avLst>
              <a:gd name="adj" fmla="val 5512"/>
            </a:avLst>
          </a:prstGeom>
          <a:solidFill>
            <a:srgbClr val="FFFFFF"/>
          </a:solidFill>
          <a:ln w="12700">
            <a:solidFill>
              <a:srgbClr val="DDE1E7"/>
            </a:solidFill>
            <a:prstDash val="solid"/>
          </a:ln>
          <a:effectLst>
            <a:outerShdw blurRad="114300" dist="38100" dir="5400000" algn="bl" rotWithShape="0">
              <a:srgbClr val="1F2A44">
                <a:alpha val="8000"/>
              </a:srgbClr>
            </a:outerShdw>
          </a:effectLst>
        </p:spPr>
      </p:sp>
      <p:sp>
        <p:nvSpPr>
          <p:cNvPr id="11" name="Shape 8"/>
          <p:cNvSpPr/>
          <p:nvPr/>
        </p:nvSpPr>
        <p:spPr>
          <a:xfrm>
            <a:off x="3601017" y="2217511"/>
            <a:ext cx="692150" cy="692150"/>
          </a:xfrm>
          <a:prstGeom prst="roundRect">
            <a:avLst>
              <a:gd name="adj" fmla="val 50000"/>
            </a:avLst>
          </a:prstGeom>
          <a:solidFill>
            <a:srgbClr val="FFF59D"/>
          </a:solidFill>
          <a:ln w="19050">
            <a:solidFill>
              <a:srgbClr val="C9A227"/>
            </a:solidFill>
            <a:prstDash val="solid"/>
          </a:ln>
        </p:spPr>
      </p:sp>
      <p:sp>
        <p:nvSpPr>
          <p:cNvPr id="12" name="Text 9"/>
          <p:cNvSpPr/>
          <p:nvPr/>
        </p:nvSpPr>
        <p:spPr>
          <a:xfrm>
            <a:off x="3584235" y="2226129"/>
            <a:ext cx="725714" cy="700314"/>
          </a:xfrm>
          <a:prstGeom prst="rect">
            <a:avLst/>
          </a:prstGeom>
          <a:noFill/>
          <a:ln/>
        </p:spPr>
        <p:txBody>
          <a:bodyPr wrap="square" lIns="0" tIns="0" rIns="0" bIns="0" rtlCol="0" anchor="t">
            <a:normAutofit/>
          </a:bodyPr>
          <a:lstStyle/>
          <a:p>
            <a:pPr marL="0" indent="0" algn="ctr">
              <a:lnSpc>
                <a:spcPts val="5292"/>
              </a:lnSpc>
              <a:buNone/>
            </a:pPr>
            <a:r>
              <a:rPr lang="en-US" sz="2800" b="1" dirty="0">
                <a:solidFill>
                  <a:srgbClr val="178A48"/>
                </a:solidFill>
                <a:latin typeface="Times New Roman" panose="02020603050405020304" pitchFamily="18" charset="0"/>
                <a:ea typeface="Tinos" pitchFamily="34" charset="-122"/>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13" name="Text 10"/>
          <p:cNvSpPr/>
          <p:nvPr/>
        </p:nvSpPr>
        <p:spPr>
          <a:xfrm>
            <a:off x="3494881" y="3084286"/>
            <a:ext cx="904478" cy="609600"/>
          </a:xfrm>
          <a:prstGeom prst="rect">
            <a:avLst/>
          </a:prstGeom>
          <a:noFill/>
          <a:ln/>
        </p:spPr>
        <p:txBody>
          <a:bodyPr wrap="square" lIns="0" tIns="0" rIns="0" bIns="0" rtlCol="0" anchor="t">
            <a:normAutofit/>
          </a:bodyPr>
          <a:lstStyle/>
          <a:p>
            <a:pPr marL="0" indent="0" algn="ctr">
              <a:lnSpc>
                <a:spcPts val="2300"/>
              </a:lnSpc>
              <a:buNone/>
            </a:pPr>
            <a:r>
              <a:rPr lang="en-US" sz="2000" b="1" dirty="0">
                <a:solidFill>
                  <a:srgbClr val="178A48"/>
                </a:solidFill>
                <a:latin typeface="Times New Roman" panose="02020603050405020304" pitchFamily="18" charset="0"/>
                <a:ea typeface="Tinos" pitchFamily="34" charset="-122"/>
                <a:cs typeface="Times New Roman" panose="02020603050405020304" pitchFamily="18" charset="0"/>
              </a:rPr>
              <a:t>Ba cách</a:t>
            </a:r>
            <a:endParaRPr lang="en-US" sz="2000" dirty="0">
              <a:latin typeface="Times New Roman" panose="02020603050405020304" pitchFamily="18" charset="0"/>
              <a:cs typeface="Times New Roman" panose="02020603050405020304" pitchFamily="18" charset="0"/>
            </a:endParaRPr>
          </a:p>
          <a:p>
            <a:pPr marL="0" indent="0" algn="ctr">
              <a:lnSpc>
                <a:spcPts val="2300"/>
              </a:lnSpc>
              <a:buNone/>
            </a:pPr>
            <a:r>
              <a:rPr lang="en-US" sz="2000" b="1" dirty="0">
                <a:solidFill>
                  <a:srgbClr val="178A48"/>
                </a:solidFill>
                <a:latin typeface="Times New Roman" panose="02020603050405020304" pitchFamily="18" charset="0"/>
                <a:ea typeface="Tinos" pitchFamily="34" charset="-122"/>
                <a:cs typeface="Times New Roman" panose="02020603050405020304" pitchFamily="18" charset="0"/>
              </a:rPr>
              <a:t>giải mã</a:t>
            </a:r>
            <a:endParaRPr lang="en-US" sz="2000" dirty="0">
              <a:latin typeface="Times New Roman" panose="02020603050405020304" pitchFamily="18" charset="0"/>
              <a:cs typeface="Times New Roman" panose="02020603050405020304" pitchFamily="18" charset="0"/>
            </a:endParaRPr>
          </a:p>
        </p:txBody>
      </p:sp>
      <p:pic>
        <p:nvPicPr>
          <p:cNvPr id="14" name="Image 1" descr="line"/>
          <p:cNvPicPr>
            <a:picLocks noChangeAspect="1"/>
          </p:cNvPicPr>
          <p:nvPr/>
        </p:nvPicPr>
        <p:blipFill>
          <a:blip r:embed="rId3"/>
          <a:srcRect l="-2500" r="-2500"/>
          <a:stretch/>
        </p:blipFill>
        <p:spPr>
          <a:xfrm>
            <a:off x="3693092" y="3833586"/>
            <a:ext cx="508000" cy="36286"/>
          </a:xfrm>
          <a:prstGeom prst="rect">
            <a:avLst/>
          </a:prstGeom>
        </p:spPr>
      </p:pic>
      <p:sp>
        <p:nvSpPr>
          <p:cNvPr id="15" name="Text 11"/>
          <p:cNvSpPr/>
          <p:nvPr/>
        </p:nvSpPr>
        <p:spPr>
          <a:xfrm>
            <a:off x="3226084" y="4034972"/>
            <a:ext cx="1442074" cy="882650"/>
          </a:xfrm>
          <a:prstGeom prst="rect">
            <a:avLst/>
          </a:prstGeom>
          <a:noFill/>
          <a:ln/>
        </p:spPr>
        <p:txBody>
          <a:bodyPr wrap="square" lIns="0" tIns="0" rIns="0" bIns="0" rtlCol="0" anchor="t">
            <a:normAutofit/>
          </a:bodyPr>
          <a:lstStyle/>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FFT · Goertzel</a:t>
            </a:r>
            <a:endParaRPr lang="en-US" sz="1500" dirty="0">
              <a:latin typeface="Times New Roman" panose="02020603050405020304" pitchFamily="18" charset="0"/>
              <a:cs typeface="Times New Roman" panose="02020603050405020304" pitchFamily="18" charset="0"/>
            </a:endParaRPr>
          </a:p>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Ngân hàng lọc</a:t>
            </a:r>
            <a:endParaRPr lang="en-US" sz="1500" dirty="0">
              <a:latin typeface="Times New Roman" panose="02020603050405020304" pitchFamily="18" charset="0"/>
              <a:cs typeface="Times New Roman" panose="02020603050405020304" pitchFamily="18" charset="0"/>
            </a:endParaRPr>
          </a:p>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Chấp nhận khung</a:t>
            </a:r>
            <a:endParaRPr lang="en-US" sz="1500" dirty="0">
              <a:latin typeface="Times New Roman" panose="02020603050405020304" pitchFamily="18" charset="0"/>
              <a:cs typeface="Times New Roman" panose="02020603050405020304" pitchFamily="18" charset="0"/>
            </a:endParaRPr>
          </a:p>
        </p:txBody>
      </p:sp>
      <p:sp>
        <p:nvSpPr>
          <p:cNvPr id="16" name="Shape 12"/>
          <p:cNvSpPr/>
          <p:nvPr/>
        </p:nvSpPr>
        <p:spPr>
          <a:xfrm>
            <a:off x="5116796" y="1847850"/>
            <a:ext cx="1958351" cy="3670300"/>
          </a:xfrm>
          <a:prstGeom prst="roundRect">
            <a:avLst>
              <a:gd name="adj" fmla="val 5512"/>
            </a:avLst>
          </a:prstGeom>
          <a:solidFill>
            <a:srgbClr val="FFFFFF"/>
          </a:solidFill>
          <a:ln w="12700">
            <a:solidFill>
              <a:srgbClr val="DDE1E7"/>
            </a:solidFill>
            <a:prstDash val="solid"/>
          </a:ln>
          <a:effectLst>
            <a:outerShdw blurRad="114300" dist="38100" dir="5400000" algn="bl" rotWithShape="0">
              <a:srgbClr val="1F2A44">
                <a:alpha val="8000"/>
              </a:srgbClr>
            </a:outerShdw>
          </a:effectLst>
        </p:spPr>
      </p:sp>
      <p:sp>
        <p:nvSpPr>
          <p:cNvPr id="17" name="Shape 13"/>
          <p:cNvSpPr/>
          <p:nvPr/>
        </p:nvSpPr>
        <p:spPr>
          <a:xfrm>
            <a:off x="5749868" y="2217511"/>
            <a:ext cx="692150" cy="692150"/>
          </a:xfrm>
          <a:prstGeom prst="roundRect">
            <a:avLst>
              <a:gd name="adj" fmla="val 50000"/>
            </a:avLst>
          </a:prstGeom>
          <a:solidFill>
            <a:srgbClr val="FFF59D"/>
          </a:solidFill>
          <a:ln w="19050">
            <a:solidFill>
              <a:srgbClr val="C9A227"/>
            </a:solidFill>
            <a:prstDash val="solid"/>
          </a:ln>
        </p:spPr>
      </p:sp>
      <p:sp>
        <p:nvSpPr>
          <p:cNvPr id="18" name="Text 14"/>
          <p:cNvSpPr/>
          <p:nvPr/>
        </p:nvSpPr>
        <p:spPr>
          <a:xfrm>
            <a:off x="5733086" y="2226129"/>
            <a:ext cx="725714" cy="700314"/>
          </a:xfrm>
          <a:prstGeom prst="rect">
            <a:avLst/>
          </a:prstGeom>
          <a:noFill/>
          <a:ln/>
        </p:spPr>
        <p:txBody>
          <a:bodyPr wrap="square" lIns="0" tIns="0" rIns="0" bIns="0" rtlCol="0" anchor="t">
            <a:normAutofit/>
          </a:bodyPr>
          <a:lstStyle/>
          <a:p>
            <a:pPr marL="0" indent="0" algn="ctr">
              <a:lnSpc>
                <a:spcPts val="5292"/>
              </a:lnSpc>
              <a:buNone/>
            </a:pPr>
            <a:r>
              <a:rPr lang="en-US" sz="2800" b="1" dirty="0">
                <a:solidFill>
                  <a:srgbClr val="178A48"/>
                </a:solidFill>
                <a:latin typeface="Times New Roman" panose="02020603050405020304" pitchFamily="18" charset="0"/>
                <a:ea typeface="Tinos" pitchFamily="34" charset="-122"/>
                <a:cs typeface="Times New Roman" panose="02020603050405020304" pitchFamily="18" charset="0"/>
              </a:rPr>
              <a:t>3</a:t>
            </a:r>
            <a:endParaRPr lang="en-US" sz="2800" dirty="0">
              <a:latin typeface="Times New Roman" panose="02020603050405020304" pitchFamily="18" charset="0"/>
              <a:cs typeface="Times New Roman" panose="02020603050405020304" pitchFamily="18" charset="0"/>
            </a:endParaRPr>
          </a:p>
        </p:txBody>
      </p:sp>
      <p:sp>
        <p:nvSpPr>
          <p:cNvPr id="19" name="Text 15"/>
          <p:cNvSpPr/>
          <p:nvPr/>
        </p:nvSpPr>
        <p:spPr>
          <a:xfrm>
            <a:off x="5488498" y="3084286"/>
            <a:ext cx="1214891" cy="609600"/>
          </a:xfrm>
          <a:prstGeom prst="rect">
            <a:avLst/>
          </a:prstGeom>
          <a:noFill/>
          <a:ln/>
        </p:spPr>
        <p:txBody>
          <a:bodyPr wrap="square" lIns="0" tIns="0" rIns="0" bIns="0" rtlCol="0" anchor="t">
            <a:normAutofit/>
          </a:bodyPr>
          <a:lstStyle/>
          <a:p>
            <a:pPr marL="0" indent="0" algn="ctr">
              <a:lnSpc>
                <a:spcPts val="2300"/>
              </a:lnSpc>
              <a:buNone/>
            </a:pPr>
            <a:r>
              <a:rPr lang="en-US" sz="2000" b="1" dirty="0">
                <a:solidFill>
                  <a:srgbClr val="178A48"/>
                </a:solidFill>
                <a:latin typeface="Times New Roman" panose="02020603050405020304" pitchFamily="18" charset="0"/>
                <a:ea typeface="Tinos" pitchFamily="34" charset="-122"/>
                <a:cs typeface="Times New Roman" panose="02020603050405020304" pitchFamily="18" charset="0"/>
              </a:rPr>
              <a:t>Phần mềm</a:t>
            </a:r>
            <a:endParaRPr lang="en-US" sz="2000" dirty="0">
              <a:latin typeface="Times New Roman" panose="02020603050405020304" pitchFamily="18" charset="0"/>
              <a:cs typeface="Times New Roman" panose="02020603050405020304" pitchFamily="18" charset="0"/>
            </a:endParaRPr>
          </a:p>
        </p:txBody>
      </p:sp>
      <p:pic>
        <p:nvPicPr>
          <p:cNvPr id="20" name="Image 2" descr="line"/>
          <p:cNvPicPr>
            <a:picLocks noChangeAspect="1"/>
          </p:cNvPicPr>
          <p:nvPr/>
        </p:nvPicPr>
        <p:blipFill>
          <a:blip r:embed="rId3"/>
          <a:srcRect l="-2500" r="-2500"/>
          <a:stretch/>
        </p:blipFill>
        <p:spPr>
          <a:xfrm>
            <a:off x="5841943" y="3833586"/>
            <a:ext cx="508000" cy="36286"/>
          </a:xfrm>
          <a:prstGeom prst="rect">
            <a:avLst/>
          </a:prstGeom>
        </p:spPr>
      </p:pic>
      <p:sp>
        <p:nvSpPr>
          <p:cNvPr id="21" name="Text 16"/>
          <p:cNvSpPr/>
          <p:nvPr/>
        </p:nvSpPr>
        <p:spPr>
          <a:xfrm>
            <a:off x="5363142" y="4034972"/>
            <a:ext cx="1465603" cy="596900"/>
          </a:xfrm>
          <a:prstGeom prst="rect">
            <a:avLst/>
          </a:prstGeom>
          <a:noFill/>
          <a:ln/>
        </p:spPr>
        <p:txBody>
          <a:bodyPr wrap="square" lIns="0" tIns="0" rIns="0" bIns="0" rtlCol="0" anchor="t">
            <a:normAutofit/>
          </a:bodyPr>
          <a:lstStyle/>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Giao diện</a:t>
            </a:r>
            <a:endParaRPr lang="en-US" sz="1500" dirty="0">
              <a:latin typeface="Times New Roman" panose="02020603050405020304" pitchFamily="18" charset="0"/>
              <a:cs typeface="Times New Roman" panose="02020603050405020304" pitchFamily="18" charset="0"/>
            </a:endParaRPr>
          </a:p>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266 ca kiểm thử</a:t>
            </a:r>
            <a:endParaRPr lang="en-US" sz="1500" dirty="0">
              <a:latin typeface="Times New Roman" panose="02020603050405020304" pitchFamily="18" charset="0"/>
              <a:cs typeface="Times New Roman" panose="02020603050405020304" pitchFamily="18" charset="0"/>
            </a:endParaRPr>
          </a:p>
        </p:txBody>
      </p:sp>
      <p:sp>
        <p:nvSpPr>
          <p:cNvPr id="22" name="Shape 17"/>
          <p:cNvSpPr/>
          <p:nvPr/>
        </p:nvSpPr>
        <p:spPr>
          <a:xfrm>
            <a:off x="7265648" y="1847850"/>
            <a:ext cx="1958351" cy="3670300"/>
          </a:xfrm>
          <a:prstGeom prst="roundRect">
            <a:avLst>
              <a:gd name="adj" fmla="val 5512"/>
            </a:avLst>
          </a:prstGeom>
          <a:solidFill>
            <a:srgbClr val="FFFFFF"/>
          </a:solidFill>
          <a:ln w="12700">
            <a:solidFill>
              <a:srgbClr val="DDE1E7"/>
            </a:solidFill>
            <a:prstDash val="solid"/>
          </a:ln>
          <a:effectLst>
            <a:outerShdw blurRad="114300" dist="38100" dir="5400000" algn="bl" rotWithShape="0">
              <a:srgbClr val="1F2A44">
                <a:alpha val="8000"/>
              </a:srgbClr>
            </a:outerShdw>
          </a:effectLst>
        </p:spPr>
      </p:sp>
      <p:sp>
        <p:nvSpPr>
          <p:cNvPr id="23" name="Shape 18"/>
          <p:cNvSpPr/>
          <p:nvPr/>
        </p:nvSpPr>
        <p:spPr>
          <a:xfrm>
            <a:off x="7898720" y="2217511"/>
            <a:ext cx="692150" cy="692150"/>
          </a:xfrm>
          <a:prstGeom prst="roundRect">
            <a:avLst>
              <a:gd name="adj" fmla="val 50000"/>
            </a:avLst>
          </a:prstGeom>
          <a:solidFill>
            <a:srgbClr val="FFF59D"/>
          </a:solidFill>
          <a:ln w="19050">
            <a:solidFill>
              <a:srgbClr val="C9A227"/>
            </a:solidFill>
            <a:prstDash val="solid"/>
          </a:ln>
        </p:spPr>
      </p:sp>
      <p:sp>
        <p:nvSpPr>
          <p:cNvPr id="24" name="Text 19"/>
          <p:cNvSpPr/>
          <p:nvPr/>
        </p:nvSpPr>
        <p:spPr>
          <a:xfrm>
            <a:off x="7881938" y="2226129"/>
            <a:ext cx="725714" cy="700314"/>
          </a:xfrm>
          <a:prstGeom prst="rect">
            <a:avLst/>
          </a:prstGeom>
          <a:noFill/>
          <a:ln/>
        </p:spPr>
        <p:txBody>
          <a:bodyPr wrap="square" lIns="0" tIns="0" rIns="0" bIns="0" rtlCol="0" anchor="t">
            <a:normAutofit/>
          </a:bodyPr>
          <a:lstStyle/>
          <a:p>
            <a:pPr marL="0" indent="0" algn="ctr">
              <a:lnSpc>
                <a:spcPts val="5292"/>
              </a:lnSpc>
              <a:buNone/>
            </a:pPr>
            <a:r>
              <a:rPr lang="en-US" sz="2800" b="1" dirty="0">
                <a:solidFill>
                  <a:srgbClr val="178A48"/>
                </a:solidFill>
                <a:latin typeface="Times New Roman" panose="02020603050405020304" pitchFamily="18" charset="0"/>
                <a:ea typeface="Tinos" pitchFamily="34" charset="-122"/>
                <a:cs typeface="Times New Roman" panose="02020603050405020304" pitchFamily="18" charset="0"/>
              </a:rPr>
              <a:t>4</a:t>
            </a:r>
            <a:endParaRPr lang="en-US" sz="2800" dirty="0">
              <a:latin typeface="Times New Roman" panose="02020603050405020304" pitchFamily="18" charset="0"/>
              <a:cs typeface="Times New Roman" panose="02020603050405020304" pitchFamily="18" charset="0"/>
            </a:endParaRPr>
          </a:p>
        </p:txBody>
      </p:sp>
      <p:sp>
        <p:nvSpPr>
          <p:cNvPr id="25" name="Text 20"/>
          <p:cNvSpPr/>
          <p:nvPr/>
        </p:nvSpPr>
        <p:spPr>
          <a:xfrm>
            <a:off x="7497536" y="3084286"/>
            <a:ext cx="1494575" cy="609600"/>
          </a:xfrm>
          <a:prstGeom prst="rect">
            <a:avLst/>
          </a:prstGeom>
          <a:noFill/>
          <a:ln/>
        </p:spPr>
        <p:txBody>
          <a:bodyPr wrap="square" lIns="0" tIns="0" rIns="0" bIns="0" rtlCol="0" anchor="t">
            <a:normAutofit/>
          </a:bodyPr>
          <a:lstStyle/>
          <a:p>
            <a:pPr marL="0" indent="0" algn="ctr">
              <a:lnSpc>
                <a:spcPts val="2300"/>
              </a:lnSpc>
              <a:buNone/>
            </a:pPr>
            <a:r>
              <a:rPr lang="en-US" sz="2000" b="1" dirty="0">
                <a:solidFill>
                  <a:srgbClr val="178A48"/>
                </a:solidFill>
                <a:latin typeface="Times New Roman" panose="02020603050405020304" pitchFamily="18" charset="0"/>
                <a:ea typeface="Tinos" pitchFamily="34" charset="-122"/>
                <a:cs typeface="Times New Roman" panose="02020603050405020304" pitchFamily="18" charset="0"/>
              </a:rPr>
              <a:t>Thực nghiệm</a:t>
            </a:r>
            <a:endParaRPr lang="en-US" sz="2000" dirty="0">
              <a:latin typeface="Times New Roman" panose="02020603050405020304" pitchFamily="18" charset="0"/>
              <a:cs typeface="Times New Roman" panose="02020603050405020304" pitchFamily="18" charset="0"/>
            </a:endParaRPr>
          </a:p>
        </p:txBody>
      </p:sp>
      <p:pic>
        <p:nvPicPr>
          <p:cNvPr id="26" name="Image 3" descr="line"/>
          <p:cNvPicPr>
            <a:picLocks noChangeAspect="1"/>
          </p:cNvPicPr>
          <p:nvPr/>
        </p:nvPicPr>
        <p:blipFill>
          <a:blip r:embed="rId3"/>
          <a:srcRect l="-2500" r="-2500"/>
          <a:stretch/>
        </p:blipFill>
        <p:spPr>
          <a:xfrm>
            <a:off x="7990795" y="3833586"/>
            <a:ext cx="508000" cy="36286"/>
          </a:xfrm>
          <a:prstGeom prst="rect">
            <a:avLst/>
          </a:prstGeom>
        </p:spPr>
      </p:pic>
      <p:sp>
        <p:nvSpPr>
          <p:cNvPr id="27" name="Text 21"/>
          <p:cNvSpPr/>
          <p:nvPr/>
        </p:nvSpPr>
        <p:spPr>
          <a:xfrm>
            <a:off x="7484552" y="4034972"/>
            <a:ext cx="1520485" cy="596900"/>
          </a:xfrm>
          <a:prstGeom prst="rect">
            <a:avLst/>
          </a:prstGeom>
          <a:noFill/>
          <a:ln/>
        </p:spPr>
        <p:txBody>
          <a:bodyPr wrap="square" lIns="0" tIns="0" rIns="0" bIns="0" rtlCol="0" anchor="t">
            <a:normAutofit/>
          </a:bodyPr>
          <a:lstStyle/>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Độ bền nhiễu</a:t>
            </a:r>
            <a:endParaRPr lang="en-US" sz="1500" dirty="0">
              <a:latin typeface="Times New Roman" panose="02020603050405020304" pitchFamily="18" charset="0"/>
              <a:cs typeface="Times New Roman" panose="02020603050405020304" pitchFamily="18" charset="0"/>
            </a:endParaRPr>
          </a:p>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Chi phí tính toán</a:t>
            </a:r>
            <a:endParaRPr lang="en-US" sz="1500" dirty="0">
              <a:latin typeface="Times New Roman" panose="02020603050405020304" pitchFamily="18" charset="0"/>
              <a:cs typeface="Times New Roman" panose="02020603050405020304" pitchFamily="18" charset="0"/>
            </a:endParaRPr>
          </a:p>
        </p:txBody>
      </p:sp>
      <p:sp>
        <p:nvSpPr>
          <p:cNvPr id="28" name="Shape 22"/>
          <p:cNvSpPr/>
          <p:nvPr/>
        </p:nvSpPr>
        <p:spPr>
          <a:xfrm>
            <a:off x="9414499" y="1847850"/>
            <a:ext cx="1958351" cy="3670300"/>
          </a:xfrm>
          <a:prstGeom prst="roundRect">
            <a:avLst>
              <a:gd name="adj" fmla="val 5512"/>
            </a:avLst>
          </a:prstGeom>
          <a:solidFill>
            <a:srgbClr val="FFFFFF"/>
          </a:solidFill>
          <a:ln w="12700">
            <a:solidFill>
              <a:srgbClr val="DDE1E7"/>
            </a:solidFill>
            <a:prstDash val="solid"/>
          </a:ln>
          <a:effectLst>
            <a:outerShdw blurRad="114300" dist="38100" dir="5400000" algn="bl" rotWithShape="0">
              <a:srgbClr val="1F2A44">
                <a:alpha val="8000"/>
              </a:srgbClr>
            </a:outerShdw>
          </a:effectLst>
        </p:spPr>
      </p:sp>
      <p:sp>
        <p:nvSpPr>
          <p:cNvPr id="29" name="Shape 23"/>
          <p:cNvSpPr/>
          <p:nvPr/>
        </p:nvSpPr>
        <p:spPr>
          <a:xfrm>
            <a:off x="10047571" y="2217511"/>
            <a:ext cx="692150" cy="692150"/>
          </a:xfrm>
          <a:prstGeom prst="roundRect">
            <a:avLst>
              <a:gd name="adj" fmla="val 50000"/>
            </a:avLst>
          </a:prstGeom>
          <a:solidFill>
            <a:srgbClr val="FFF59D"/>
          </a:solidFill>
          <a:ln w="19050">
            <a:solidFill>
              <a:srgbClr val="C9A227"/>
            </a:solidFill>
            <a:prstDash val="solid"/>
          </a:ln>
        </p:spPr>
      </p:sp>
      <p:sp>
        <p:nvSpPr>
          <p:cNvPr id="30" name="Text 24"/>
          <p:cNvSpPr/>
          <p:nvPr/>
        </p:nvSpPr>
        <p:spPr>
          <a:xfrm>
            <a:off x="10030789" y="2226129"/>
            <a:ext cx="725714" cy="700314"/>
          </a:xfrm>
          <a:prstGeom prst="rect">
            <a:avLst/>
          </a:prstGeom>
          <a:noFill/>
          <a:ln/>
        </p:spPr>
        <p:txBody>
          <a:bodyPr wrap="square" lIns="0" tIns="0" rIns="0" bIns="0" rtlCol="0" anchor="t">
            <a:normAutofit/>
          </a:bodyPr>
          <a:lstStyle/>
          <a:p>
            <a:pPr marL="0" indent="0" algn="ctr">
              <a:lnSpc>
                <a:spcPts val="5292"/>
              </a:lnSpc>
              <a:buNone/>
            </a:pPr>
            <a:r>
              <a:rPr lang="en-US" sz="2800" b="1" dirty="0">
                <a:solidFill>
                  <a:srgbClr val="178A48"/>
                </a:solidFill>
                <a:latin typeface="Times New Roman" panose="02020603050405020304" pitchFamily="18" charset="0"/>
                <a:ea typeface="Tinos" pitchFamily="34" charset="-122"/>
                <a:cs typeface="Times New Roman" panose="02020603050405020304" pitchFamily="18" charset="0"/>
              </a:rPr>
              <a:t>5</a:t>
            </a:r>
            <a:endParaRPr lang="en-US" sz="2800" dirty="0">
              <a:latin typeface="Times New Roman" panose="02020603050405020304" pitchFamily="18" charset="0"/>
              <a:cs typeface="Times New Roman" panose="02020603050405020304" pitchFamily="18" charset="0"/>
            </a:endParaRPr>
          </a:p>
        </p:txBody>
      </p:sp>
      <p:sp>
        <p:nvSpPr>
          <p:cNvPr id="31" name="Text 25"/>
          <p:cNvSpPr/>
          <p:nvPr/>
        </p:nvSpPr>
        <p:spPr>
          <a:xfrm>
            <a:off x="9899027" y="3084286"/>
            <a:ext cx="989296" cy="609600"/>
          </a:xfrm>
          <a:prstGeom prst="rect">
            <a:avLst/>
          </a:prstGeom>
          <a:noFill/>
          <a:ln/>
        </p:spPr>
        <p:txBody>
          <a:bodyPr wrap="square" lIns="0" tIns="0" rIns="0" bIns="0" rtlCol="0" anchor="t">
            <a:normAutofit/>
          </a:bodyPr>
          <a:lstStyle/>
          <a:p>
            <a:pPr marL="0" indent="0" algn="ctr">
              <a:lnSpc>
                <a:spcPts val="2300"/>
              </a:lnSpc>
              <a:buNone/>
            </a:pPr>
            <a:r>
              <a:rPr lang="en-US" sz="2000" b="1" dirty="0">
                <a:solidFill>
                  <a:srgbClr val="178A48"/>
                </a:solidFill>
                <a:latin typeface="Times New Roman" panose="02020603050405020304" pitchFamily="18" charset="0"/>
                <a:ea typeface="Tinos" pitchFamily="34" charset="-122"/>
                <a:cs typeface="Times New Roman" panose="02020603050405020304" pitchFamily="18" charset="0"/>
              </a:rPr>
              <a:t>Kết luận</a:t>
            </a:r>
            <a:endParaRPr lang="en-US" sz="2000" dirty="0">
              <a:latin typeface="Times New Roman" panose="02020603050405020304" pitchFamily="18" charset="0"/>
              <a:cs typeface="Times New Roman" panose="02020603050405020304" pitchFamily="18" charset="0"/>
            </a:endParaRPr>
          </a:p>
        </p:txBody>
      </p:sp>
      <p:pic>
        <p:nvPicPr>
          <p:cNvPr id="32" name="Image 4" descr="line"/>
          <p:cNvPicPr>
            <a:picLocks noChangeAspect="1"/>
          </p:cNvPicPr>
          <p:nvPr/>
        </p:nvPicPr>
        <p:blipFill>
          <a:blip r:embed="rId3"/>
          <a:srcRect l="-2500" r="-2500"/>
          <a:stretch/>
        </p:blipFill>
        <p:spPr>
          <a:xfrm>
            <a:off x="10139646" y="3833586"/>
            <a:ext cx="508000" cy="36286"/>
          </a:xfrm>
          <a:prstGeom prst="rect">
            <a:avLst/>
          </a:prstGeom>
        </p:spPr>
      </p:pic>
      <p:sp>
        <p:nvSpPr>
          <p:cNvPr id="33" name="Text 26"/>
          <p:cNvSpPr/>
          <p:nvPr/>
        </p:nvSpPr>
        <p:spPr>
          <a:xfrm>
            <a:off x="9520606" y="4034972"/>
            <a:ext cx="1746138" cy="882650"/>
          </a:xfrm>
          <a:prstGeom prst="rect">
            <a:avLst/>
          </a:prstGeom>
          <a:noFill/>
          <a:ln/>
        </p:spPr>
        <p:txBody>
          <a:bodyPr wrap="square" lIns="0" tIns="0" rIns="0" bIns="0" rtlCol="0" anchor="t">
            <a:normAutofit/>
          </a:bodyPr>
          <a:lstStyle/>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Chọn phương pháp</a:t>
            </a:r>
            <a:endParaRPr lang="en-US" sz="1500" dirty="0">
              <a:latin typeface="Times New Roman" panose="02020603050405020304" pitchFamily="18" charset="0"/>
              <a:cs typeface="Times New Roman" panose="02020603050405020304" pitchFamily="18" charset="0"/>
            </a:endParaRPr>
          </a:p>
          <a:p>
            <a:pPr marL="0" indent="0" algn="ctr">
              <a:lnSpc>
                <a:spcPts val="2250"/>
              </a:lnSpc>
              <a:buNone/>
            </a:pPr>
            <a:r>
              <a:rPr lang="en-US" sz="1500" dirty="0">
                <a:solidFill>
                  <a:srgbClr val="1F6FB0"/>
                </a:solidFill>
                <a:latin typeface="Times New Roman" panose="02020603050405020304" pitchFamily="18" charset="0"/>
                <a:ea typeface="Open Sans" pitchFamily="34" charset="-122"/>
                <a:cs typeface="Times New Roman" panose="02020603050405020304" pitchFamily="18" charset="0"/>
              </a:rPr>
              <a:t>Hướng phát triển</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Tín hiệu DTMF là gì?</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Mỗi phím =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tổng hai sóng sin</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một tần số </a:t>
            </a:r>
            <a:r>
              <a:rPr lang="en-US" sz="1700" dirty="0">
                <a:solidFill>
                  <a:srgbClr val="C00000"/>
                </a:solidFill>
                <a:latin typeface="Times New Roman" panose="02020603050405020304" pitchFamily="18" charset="0"/>
                <a:ea typeface="Open Sans" pitchFamily="34" charset="-122"/>
                <a:cs typeface="Times New Roman" panose="02020603050405020304" pitchFamily="18" charset="0"/>
              </a:rPr>
              <a:t>hàng</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(nhóm thấp) + một tần số </a:t>
            </a:r>
            <a:r>
              <a:rPr lang="en-US" sz="1700" dirty="0">
                <a:solidFill>
                  <a:srgbClr val="C00000"/>
                </a:solidFill>
                <a:latin typeface="Times New Roman" panose="02020603050405020304" pitchFamily="18" charset="0"/>
                <a:ea typeface="Open Sans" pitchFamily="34" charset="-122"/>
                <a:cs typeface="Times New Roman" panose="02020603050405020304" pitchFamily="18" charset="0"/>
              </a:rPr>
              <a:t>cột</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(nhóm cao)</a:t>
            </a:r>
            <a:endParaRPr lang="en-US" sz="1700" dirty="0">
              <a:latin typeface="Times New Roman" panose="02020603050405020304" pitchFamily="18" charset="0"/>
              <a:cs typeface="Times New Roman" panose="02020603050405020304" pitchFamily="18" charset="0"/>
            </a:endParaRPr>
          </a:p>
        </p:txBody>
      </p:sp>
      <p:sp>
        <p:nvSpPr>
          <p:cNvPr id="8" name="Text 6"/>
          <p:cNvSpPr/>
          <p:nvPr/>
        </p:nvSpPr>
        <p:spPr>
          <a:xfrm>
            <a:off x="1828800" y="2397181"/>
            <a:ext cx="939800" cy="431800"/>
          </a:xfrm>
          <a:prstGeom prst="rect">
            <a:avLst/>
          </a:prstGeom>
          <a:noFill/>
          <a:ln/>
        </p:spPr>
        <p:txBody>
          <a:bodyPr wrap="square" lIns="0" tIns="0" rIns="0" bIns="0" rtlCol="0" anchor="t">
            <a:normAutofit/>
          </a:bodyPr>
          <a:lstStyle/>
          <a:p>
            <a:pPr marL="0" indent="0" algn="ctr">
              <a:lnSpc>
                <a:spcPts val="3206"/>
              </a:lnSpc>
              <a:buNone/>
            </a:pPr>
            <a:r>
              <a:rPr lang="en-US" sz="1400" dirty="0">
                <a:solidFill>
                  <a:srgbClr val="5A6478"/>
                </a:solidFill>
                <a:latin typeface="Times New Roman" panose="02020603050405020304" pitchFamily="18" charset="0"/>
                <a:ea typeface="Open Sans" pitchFamily="34" charset="-122"/>
                <a:cs typeface="Times New Roman" panose="02020603050405020304" pitchFamily="18" charset="0"/>
              </a:rPr>
              <a:t>1209 Hz</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2806700" y="2397181"/>
            <a:ext cx="939800" cy="431800"/>
          </a:xfrm>
          <a:prstGeom prst="rect">
            <a:avLst/>
          </a:prstGeom>
          <a:noFill/>
          <a:ln/>
        </p:spPr>
        <p:txBody>
          <a:bodyPr wrap="square" lIns="0" tIns="0" rIns="0" bIns="0" rtlCol="0" anchor="t">
            <a:normAutofit/>
          </a:bodyPr>
          <a:lstStyle/>
          <a:p>
            <a:pPr marL="0" indent="0" algn="ctr">
              <a:lnSpc>
                <a:spcPts val="3206"/>
              </a:lnSpc>
              <a:buNone/>
            </a:pPr>
            <a:r>
              <a:rPr lang="en-US" sz="1400" b="1" dirty="0">
                <a:solidFill>
                  <a:srgbClr val="C00000"/>
                </a:solidFill>
                <a:latin typeface="Times New Roman" panose="02020603050405020304" pitchFamily="18" charset="0"/>
                <a:ea typeface="Open Sans" pitchFamily="34" charset="-122"/>
                <a:cs typeface="Times New Roman" panose="02020603050405020304" pitchFamily="18" charset="0"/>
              </a:rPr>
              <a:t>1336 Hz</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784600" y="2397181"/>
            <a:ext cx="939800" cy="431800"/>
          </a:xfrm>
          <a:prstGeom prst="rect">
            <a:avLst/>
          </a:prstGeom>
          <a:noFill/>
          <a:ln/>
        </p:spPr>
        <p:txBody>
          <a:bodyPr wrap="square" lIns="0" tIns="0" rIns="0" bIns="0" rtlCol="0" anchor="t">
            <a:normAutofit/>
          </a:bodyPr>
          <a:lstStyle/>
          <a:p>
            <a:pPr marL="0" indent="0" algn="ctr">
              <a:lnSpc>
                <a:spcPts val="3206"/>
              </a:lnSpc>
              <a:buNone/>
            </a:pPr>
            <a:r>
              <a:rPr lang="en-US" sz="1400" dirty="0">
                <a:solidFill>
                  <a:srgbClr val="5A6478"/>
                </a:solidFill>
                <a:latin typeface="Times New Roman" panose="02020603050405020304" pitchFamily="18" charset="0"/>
                <a:ea typeface="Open Sans" pitchFamily="34" charset="-122"/>
                <a:cs typeface="Times New Roman" panose="02020603050405020304" pitchFamily="18" charset="0"/>
              </a:rPr>
              <a:t>1477 Hz</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762000" y="2892481"/>
            <a:ext cx="1003300" cy="736600"/>
          </a:xfrm>
          <a:prstGeom prst="rect">
            <a:avLst/>
          </a:prstGeom>
          <a:noFill/>
          <a:ln/>
        </p:spPr>
        <p:txBody>
          <a:bodyPr wrap="square" lIns="0" tIns="0" rIns="0" bIns="0" rtlCol="0" anchor="t">
            <a:normAutofit/>
          </a:bodyPr>
          <a:lstStyle/>
          <a:p>
            <a:pPr marL="0" indent="0" algn="r">
              <a:lnSpc>
                <a:spcPts val="5600"/>
              </a:lnSpc>
              <a:buNone/>
            </a:pPr>
            <a:r>
              <a:rPr lang="en-US" sz="1400" dirty="0">
                <a:solidFill>
                  <a:srgbClr val="5A6478"/>
                </a:solidFill>
                <a:latin typeface="Times New Roman" panose="02020603050405020304" pitchFamily="18" charset="0"/>
                <a:ea typeface="Open Sans" pitchFamily="34" charset="-122"/>
                <a:cs typeface="Times New Roman" panose="02020603050405020304" pitchFamily="18" charset="0"/>
              </a:rPr>
              <a:t>697 Hz</a:t>
            </a:r>
            <a:endParaRPr lang="en-US" sz="1400" dirty="0">
              <a:latin typeface="Times New Roman" panose="02020603050405020304" pitchFamily="18" charset="0"/>
              <a:cs typeface="Times New Roman" panose="02020603050405020304" pitchFamily="18" charset="0"/>
            </a:endParaRPr>
          </a:p>
        </p:txBody>
      </p:sp>
      <p:sp>
        <p:nvSpPr>
          <p:cNvPr id="12" name="Shape 10"/>
          <p:cNvSpPr/>
          <p:nvPr/>
        </p:nvSpPr>
        <p:spPr>
          <a:xfrm>
            <a:off x="1863725" y="2902006"/>
            <a:ext cx="869950" cy="692150"/>
          </a:xfrm>
          <a:prstGeom prst="roundRect">
            <a:avLst>
              <a:gd name="adj" fmla="val 11468"/>
            </a:avLst>
          </a:prstGeom>
          <a:solidFill>
            <a:srgbClr val="FFFFFF"/>
          </a:solidFill>
          <a:ln w="19050">
            <a:solidFill>
              <a:srgbClr val="1F3A5F"/>
            </a:solidFill>
            <a:prstDash val="solid"/>
          </a:ln>
        </p:spPr>
      </p:sp>
      <p:sp>
        <p:nvSpPr>
          <p:cNvPr id="13" name="Text 11"/>
          <p:cNvSpPr/>
          <p:nvPr/>
        </p:nvSpPr>
        <p:spPr>
          <a:xfrm>
            <a:off x="1846943" y="29106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1</a:t>
            </a:r>
            <a:endParaRPr lang="en-US" sz="2600" dirty="0">
              <a:latin typeface="Times New Roman" panose="02020603050405020304" pitchFamily="18" charset="0"/>
              <a:cs typeface="Times New Roman" panose="02020603050405020304" pitchFamily="18" charset="0"/>
            </a:endParaRPr>
          </a:p>
        </p:txBody>
      </p:sp>
      <p:sp>
        <p:nvSpPr>
          <p:cNvPr id="14" name="Shape 12"/>
          <p:cNvSpPr/>
          <p:nvPr/>
        </p:nvSpPr>
        <p:spPr>
          <a:xfrm>
            <a:off x="2841625" y="2902006"/>
            <a:ext cx="869950" cy="692150"/>
          </a:xfrm>
          <a:prstGeom prst="roundRect">
            <a:avLst>
              <a:gd name="adj" fmla="val 11468"/>
            </a:avLst>
          </a:prstGeom>
          <a:solidFill>
            <a:srgbClr val="FFFFFF"/>
          </a:solidFill>
          <a:ln w="19050">
            <a:solidFill>
              <a:srgbClr val="1F3A5F"/>
            </a:solidFill>
            <a:prstDash val="solid"/>
          </a:ln>
        </p:spPr>
      </p:sp>
      <p:sp>
        <p:nvSpPr>
          <p:cNvPr id="15" name="Text 13"/>
          <p:cNvSpPr/>
          <p:nvPr/>
        </p:nvSpPr>
        <p:spPr>
          <a:xfrm>
            <a:off x="2824843" y="29106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2</a:t>
            </a:r>
            <a:endParaRPr lang="en-US" sz="2600" dirty="0">
              <a:latin typeface="Times New Roman" panose="02020603050405020304" pitchFamily="18" charset="0"/>
              <a:cs typeface="Times New Roman" panose="02020603050405020304" pitchFamily="18" charset="0"/>
            </a:endParaRPr>
          </a:p>
        </p:txBody>
      </p:sp>
      <p:sp>
        <p:nvSpPr>
          <p:cNvPr id="16" name="Shape 14"/>
          <p:cNvSpPr/>
          <p:nvPr/>
        </p:nvSpPr>
        <p:spPr>
          <a:xfrm>
            <a:off x="3819525" y="2902006"/>
            <a:ext cx="869950" cy="692150"/>
          </a:xfrm>
          <a:prstGeom prst="roundRect">
            <a:avLst>
              <a:gd name="adj" fmla="val 11468"/>
            </a:avLst>
          </a:prstGeom>
          <a:solidFill>
            <a:srgbClr val="FFFFFF"/>
          </a:solidFill>
          <a:ln w="19050">
            <a:solidFill>
              <a:srgbClr val="1F3A5F"/>
            </a:solidFill>
            <a:prstDash val="solid"/>
          </a:ln>
        </p:spPr>
      </p:sp>
      <p:sp>
        <p:nvSpPr>
          <p:cNvPr id="17" name="Text 15"/>
          <p:cNvSpPr/>
          <p:nvPr/>
        </p:nvSpPr>
        <p:spPr>
          <a:xfrm>
            <a:off x="3802743" y="29106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3</a:t>
            </a:r>
            <a:endParaRPr lang="en-US" sz="2600" dirty="0">
              <a:latin typeface="Times New Roman" panose="02020603050405020304" pitchFamily="18" charset="0"/>
              <a:cs typeface="Times New Roman" panose="02020603050405020304" pitchFamily="18" charset="0"/>
            </a:endParaRPr>
          </a:p>
        </p:txBody>
      </p:sp>
      <p:sp>
        <p:nvSpPr>
          <p:cNvPr id="18" name="Text 16"/>
          <p:cNvSpPr/>
          <p:nvPr/>
        </p:nvSpPr>
        <p:spPr>
          <a:xfrm>
            <a:off x="762000" y="3692581"/>
            <a:ext cx="1003300" cy="736600"/>
          </a:xfrm>
          <a:prstGeom prst="rect">
            <a:avLst/>
          </a:prstGeom>
          <a:noFill/>
          <a:ln/>
        </p:spPr>
        <p:txBody>
          <a:bodyPr wrap="square" lIns="0" tIns="0" rIns="0" bIns="0" rtlCol="0" anchor="t">
            <a:normAutofit/>
          </a:bodyPr>
          <a:lstStyle/>
          <a:p>
            <a:pPr marL="0" indent="0" algn="r">
              <a:lnSpc>
                <a:spcPts val="5600"/>
              </a:lnSpc>
              <a:buNone/>
            </a:pPr>
            <a:r>
              <a:rPr lang="en-US" sz="1400" b="1" dirty="0">
                <a:solidFill>
                  <a:srgbClr val="C00000"/>
                </a:solidFill>
                <a:latin typeface="Times New Roman" panose="02020603050405020304" pitchFamily="18" charset="0"/>
                <a:ea typeface="Open Sans" pitchFamily="34" charset="-122"/>
                <a:cs typeface="Times New Roman" panose="02020603050405020304" pitchFamily="18" charset="0"/>
              </a:rPr>
              <a:t>770 Hz</a:t>
            </a:r>
            <a:endParaRPr lang="en-US" sz="1400" dirty="0">
              <a:latin typeface="Times New Roman" panose="02020603050405020304" pitchFamily="18" charset="0"/>
              <a:cs typeface="Times New Roman" panose="02020603050405020304" pitchFamily="18" charset="0"/>
            </a:endParaRPr>
          </a:p>
        </p:txBody>
      </p:sp>
      <p:sp>
        <p:nvSpPr>
          <p:cNvPr id="19" name="Shape 17"/>
          <p:cNvSpPr/>
          <p:nvPr/>
        </p:nvSpPr>
        <p:spPr>
          <a:xfrm>
            <a:off x="1863725" y="3702106"/>
            <a:ext cx="869950" cy="692150"/>
          </a:xfrm>
          <a:prstGeom prst="roundRect">
            <a:avLst>
              <a:gd name="adj" fmla="val 11468"/>
            </a:avLst>
          </a:prstGeom>
          <a:solidFill>
            <a:srgbClr val="FFFFFF"/>
          </a:solidFill>
          <a:ln w="19050">
            <a:solidFill>
              <a:srgbClr val="1F3A5F"/>
            </a:solidFill>
            <a:prstDash val="solid"/>
          </a:ln>
        </p:spPr>
      </p:sp>
      <p:sp>
        <p:nvSpPr>
          <p:cNvPr id="20" name="Text 18"/>
          <p:cNvSpPr/>
          <p:nvPr/>
        </p:nvSpPr>
        <p:spPr>
          <a:xfrm>
            <a:off x="1846943" y="37107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4</a:t>
            </a:r>
            <a:endParaRPr lang="en-US" sz="2600" dirty="0">
              <a:latin typeface="Times New Roman" panose="02020603050405020304" pitchFamily="18" charset="0"/>
              <a:cs typeface="Times New Roman" panose="02020603050405020304" pitchFamily="18" charset="0"/>
            </a:endParaRPr>
          </a:p>
        </p:txBody>
      </p:sp>
      <p:sp>
        <p:nvSpPr>
          <p:cNvPr id="21" name="Shape 19"/>
          <p:cNvSpPr/>
          <p:nvPr/>
        </p:nvSpPr>
        <p:spPr>
          <a:xfrm>
            <a:off x="2841625" y="3702106"/>
            <a:ext cx="869950" cy="692150"/>
          </a:xfrm>
          <a:prstGeom prst="roundRect">
            <a:avLst>
              <a:gd name="adj" fmla="val 11468"/>
            </a:avLst>
          </a:prstGeom>
          <a:solidFill>
            <a:srgbClr val="1F3A5F"/>
          </a:solidFill>
          <a:ln w="19050">
            <a:solidFill>
              <a:srgbClr val="1F3A5F"/>
            </a:solidFill>
            <a:prstDash val="solid"/>
          </a:ln>
        </p:spPr>
      </p:sp>
      <p:sp>
        <p:nvSpPr>
          <p:cNvPr id="22" name="Text 20"/>
          <p:cNvSpPr/>
          <p:nvPr/>
        </p:nvSpPr>
        <p:spPr>
          <a:xfrm>
            <a:off x="2824843" y="37107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FDFDFB"/>
                </a:solidFill>
                <a:latin typeface="Times New Roman" panose="02020603050405020304" pitchFamily="18" charset="0"/>
                <a:ea typeface="Tinos" pitchFamily="34" charset="-122"/>
                <a:cs typeface="Times New Roman" panose="02020603050405020304" pitchFamily="18" charset="0"/>
              </a:rPr>
              <a:t>5</a:t>
            </a:r>
            <a:endParaRPr lang="en-US" sz="2600" dirty="0">
              <a:latin typeface="Times New Roman" panose="02020603050405020304" pitchFamily="18" charset="0"/>
              <a:cs typeface="Times New Roman" panose="02020603050405020304" pitchFamily="18" charset="0"/>
            </a:endParaRPr>
          </a:p>
        </p:txBody>
      </p:sp>
      <p:sp>
        <p:nvSpPr>
          <p:cNvPr id="23" name="Shape 21"/>
          <p:cNvSpPr/>
          <p:nvPr/>
        </p:nvSpPr>
        <p:spPr>
          <a:xfrm>
            <a:off x="3819525" y="3702106"/>
            <a:ext cx="869950" cy="692150"/>
          </a:xfrm>
          <a:prstGeom prst="roundRect">
            <a:avLst>
              <a:gd name="adj" fmla="val 11468"/>
            </a:avLst>
          </a:prstGeom>
          <a:solidFill>
            <a:srgbClr val="FFFFFF"/>
          </a:solidFill>
          <a:ln w="19050">
            <a:solidFill>
              <a:srgbClr val="1F3A5F"/>
            </a:solidFill>
            <a:prstDash val="solid"/>
          </a:ln>
        </p:spPr>
      </p:sp>
      <p:sp>
        <p:nvSpPr>
          <p:cNvPr id="24" name="Text 22"/>
          <p:cNvSpPr/>
          <p:nvPr/>
        </p:nvSpPr>
        <p:spPr>
          <a:xfrm>
            <a:off x="3802743" y="37107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6</a:t>
            </a:r>
            <a:endParaRPr lang="en-US" sz="2600" dirty="0">
              <a:latin typeface="Times New Roman" panose="02020603050405020304" pitchFamily="18" charset="0"/>
              <a:cs typeface="Times New Roman" panose="02020603050405020304" pitchFamily="18" charset="0"/>
            </a:endParaRPr>
          </a:p>
        </p:txBody>
      </p:sp>
      <p:sp>
        <p:nvSpPr>
          <p:cNvPr id="25" name="Text 23"/>
          <p:cNvSpPr/>
          <p:nvPr/>
        </p:nvSpPr>
        <p:spPr>
          <a:xfrm>
            <a:off x="762000" y="4492681"/>
            <a:ext cx="1003300" cy="736600"/>
          </a:xfrm>
          <a:prstGeom prst="rect">
            <a:avLst/>
          </a:prstGeom>
          <a:noFill/>
          <a:ln/>
        </p:spPr>
        <p:txBody>
          <a:bodyPr wrap="square" lIns="0" tIns="0" rIns="0" bIns="0" rtlCol="0" anchor="t">
            <a:normAutofit/>
          </a:bodyPr>
          <a:lstStyle/>
          <a:p>
            <a:pPr marL="0" indent="0" algn="r">
              <a:lnSpc>
                <a:spcPts val="5600"/>
              </a:lnSpc>
              <a:buNone/>
            </a:pPr>
            <a:r>
              <a:rPr lang="en-US" sz="1400" dirty="0">
                <a:solidFill>
                  <a:srgbClr val="5A6478"/>
                </a:solidFill>
                <a:latin typeface="Times New Roman" panose="02020603050405020304" pitchFamily="18" charset="0"/>
                <a:ea typeface="Open Sans" pitchFamily="34" charset="-122"/>
                <a:cs typeface="Times New Roman" panose="02020603050405020304" pitchFamily="18" charset="0"/>
              </a:rPr>
              <a:t>852 Hz</a:t>
            </a:r>
            <a:endParaRPr lang="en-US" sz="1400" dirty="0">
              <a:latin typeface="Times New Roman" panose="02020603050405020304" pitchFamily="18" charset="0"/>
              <a:cs typeface="Times New Roman" panose="02020603050405020304" pitchFamily="18" charset="0"/>
            </a:endParaRPr>
          </a:p>
        </p:txBody>
      </p:sp>
      <p:sp>
        <p:nvSpPr>
          <p:cNvPr id="26" name="Shape 24"/>
          <p:cNvSpPr/>
          <p:nvPr/>
        </p:nvSpPr>
        <p:spPr>
          <a:xfrm>
            <a:off x="1863725" y="4502206"/>
            <a:ext cx="869950" cy="692150"/>
          </a:xfrm>
          <a:prstGeom prst="roundRect">
            <a:avLst>
              <a:gd name="adj" fmla="val 11468"/>
            </a:avLst>
          </a:prstGeom>
          <a:solidFill>
            <a:srgbClr val="FFFFFF"/>
          </a:solidFill>
          <a:ln w="19050">
            <a:solidFill>
              <a:srgbClr val="1F3A5F"/>
            </a:solidFill>
            <a:prstDash val="solid"/>
          </a:ln>
        </p:spPr>
      </p:sp>
      <p:sp>
        <p:nvSpPr>
          <p:cNvPr id="27" name="Text 25"/>
          <p:cNvSpPr/>
          <p:nvPr/>
        </p:nvSpPr>
        <p:spPr>
          <a:xfrm>
            <a:off x="1846943" y="45108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7</a:t>
            </a:r>
            <a:endParaRPr lang="en-US" sz="2600" dirty="0">
              <a:latin typeface="Times New Roman" panose="02020603050405020304" pitchFamily="18" charset="0"/>
              <a:cs typeface="Times New Roman" panose="02020603050405020304" pitchFamily="18" charset="0"/>
            </a:endParaRPr>
          </a:p>
        </p:txBody>
      </p:sp>
      <p:sp>
        <p:nvSpPr>
          <p:cNvPr id="28" name="Shape 26"/>
          <p:cNvSpPr/>
          <p:nvPr/>
        </p:nvSpPr>
        <p:spPr>
          <a:xfrm>
            <a:off x="2841625" y="4502206"/>
            <a:ext cx="869950" cy="692150"/>
          </a:xfrm>
          <a:prstGeom prst="roundRect">
            <a:avLst>
              <a:gd name="adj" fmla="val 11468"/>
            </a:avLst>
          </a:prstGeom>
          <a:solidFill>
            <a:srgbClr val="FFFFFF"/>
          </a:solidFill>
          <a:ln w="19050">
            <a:solidFill>
              <a:srgbClr val="1F3A5F"/>
            </a:solidFill>
            <a:prstDash val="solid"/>
          </a:ln>
        </p:spPr>
      </p:sp>
      <p:sp>
        <p:nvSpPr>
          <p:cNvPr id="29" name="Text 27"/>
          <p:cNvSpPr/>
          <p:nvPr/>
        </p:nvSpPr>
        <p:spPr>
          <a:xfrm>
            <a:off x="2824843" y="45108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8</a:t>
            </a:r>
            <a:endParaRPr lang="en-US" sz="2600" dirty="0">
              <a:latin typeface="Times New Roman" panose="02020603050405020304" pitchFamily="18" charset="0"/>
              <a:cs typeface="Times New Roman" panose="02020603050405020304" pitchFamily="18" charset="0"/>
            </a:endParaRPr>
          </a:p>
        </p:txBody>
      </p:sp>
      <p:sp>
        <p:nvSpPr>
          <p:cNvPr id="30" name="Shape 28"/>
          <p:cNvSpPr/>
          <p:nvPr/>
        </p:nvSpPr>
        <p:spPr>
          <a:xfrm>
            <a:off x="3819525" y="4502206"/>
            <a:ext cx="869950" cy="692150"/>
          </a:xfrm>
          <a:prstGeom prst="roundRect">
            <a:avLst>
              <a:gd name="adj" fmla="val 11468"/>
            </a:avLst>
          </a:prstGeom>
          <a:solidFill>
            <a:srgbClr val="FFFFFF"/>
          </a:solidFill>
          <a:ln w="19050">
            <a:solidFill>
              <a:srgbClr val="1F3A5F"/>
            </a:solidFill>
            <a:prstDash val="solid"/>
          </a:ln>
        </p:spPr>
      </p:sp>
      <p:sp>
        <p:nvSpPr>
          <p:cNvPr id="31" name="Text 29"/>
          <p:cNvSpPr/>
          <p:nvPr/>
        </p:nvSpPr>
        <p:spPr>
          <a:xfrm>
            <a:off x="3802743" y="45108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9</a:t>
            </a:r>
            <a:endParaRPr lang="en-US" sz="2600" dirty="0">
              <a:latin typeface="Times New Roman" panose="02020603050405020304" pitchFamily="18" charset="0"/>
              <a:cs typeface="Times New Roman" panose="02020603050405020304" pitchFamily="18" charset="0"/>
            </a:endParaRPr>
          </a:p>
        </p:txBody>
      </p:sp>
      <p:sp>
        <p:nvSpPr>
          <p:cNvPr id="32" name="Text 30"/>
          <p:cNvSpPr/>
          <p:nvPr/>
        </p:nvSpPr>
        <p:spPr>
          <a:xfrm>
            <a:off x="762000" y="5292781"/>
            <a:ext cx="1003300" cy="736600"/>
          </a:xfrm>
          <a:prstGeom prst="rect">
            <a:avLst/>
          </a:prstGeom>
          <a:noFill/>
          <a:ln/>
        </p:spPr>
        <p:txBody>
          <a:bodyPr wrap="square" lIns="0" tIns="0" rIns="0" bIns="0" rtlCol="0" anchor="t">
            <a:normAutofit/>
          </a:bodyPr>
          <a:lstStyle/>
          <a:p>
            <a:pPr marL="0" indent="0" algn="r">
              <a:lnSpc>
                <a:spcPts val="5600"/>
              </a:lnSpc>
              <a:buNone/>
            </a:pPr>
            <a:r>
              <a:rPr lang="en-US" sz="1400" dirty="0">
                <a:solidFill>
                  <a:srgbClr val="5A6478"/>
                </a:solidFill>
                <a:latin typeface="Times New Roman" panose="02020603050405020304" pitchFamily="18" charset="0"/>
                <a:ea typeface="Open Sans" pitchFamily="34" charset="-122"/>
                <a:cs typeface="Times New Roman" panose="02020603050405020304" pitchFamily="18" charset="0"/>
              </a:rPr>
              <a:t>941 Hz</a:t>
            </a:r>
            <a:endParaRPr lang="en-US" sz="1400" dirty="0">
              <a:latin typeface="Times New Roman" panose="02020603050405020304" pitchFamily="18" charset="0"/>
              <a:cs typeface="Times New Roman" panose="02020603050405020304" pitchFamily="18" charset="0"/>
            </a:endParaRPr>
          </a:p>
        </p:txBody>
      </p:sp>
      <p:sp>
        <p:nvSpPr>
          <p:cNvPr id="33" name="Shape 31"/>
          <p:cNvSpPr/>
          <p:nvPr/>
        </p:nvSpPr>
        <p:spPr>
          <a:xfrm>
            <a:off x="1863725" y="5302306"/>
            <a:ext cx="869950" cy="692150"/>
          </a:xfrm>
          <a:prstGeom prst="roundRect">
            <a:avLst>
              <a:gd name="adj" fmla="val 11468"/>
            </a:avLst>
          </a:prstGeom>
          <a:solidFill>
            <a:srgbClr val="FFFFFF"/>
          </a:solidFill>
          <a:ln w="19050">
            <a:solidFill>
              <a:srgbClr val="1F3A5F"/>
            </a:solidFill>
            <a:prstDash val="solid"/>
          </a:ln>
        </p:spPr>
      </p:sp>
      <p:sp>
        <p:nvSpPr>
          <p:cNvPr id="34" name="Text 32"/>
          <p:cNvSpPr/>
          <p:nvPr/>
        </p:nvSpPr>
        <p:spPr>
          <a:xfrm>
            <a:off x="1846943" y="53109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
        <p:nvSpPr>
          <p:cNvPr id="35" name="Shape 33"/>
          <p:cNvSpPr/>
          <p:nvPr/>
        </p:nvSpPr>
        <p:spPr>
          <a:xfrm>
            <a:off x="2841625" y="5302306"/>
            <a:ext cx="869950" cy="692150"/>
          </a:xfrm>
          <a:prstGeom prst="roundRect">
            <a:avLst>
              <a:gd name="adj" fmla="val 11468"/>
            </a:avLst>
          </a:prstGeom>
          <a:solidFill>
            <a:srgbClr val="FFFFFF"/>
          </a:solidFill>
          <a:ln w="19050">
            <a:solidFill>
              <a:srgbClr val="1F3A5F"/>
            </a:solidFill>
            <a:prstDash val="solid"/>
          </a:ln>
        </p:spPr>
      </p:sp>
      <p:sp>
        <p:nvSpPr>
          <p:cNvPr id="36" name="Text 34"/>
          <p:cNvSpPr/>
          <p:nvPr/>
        </p:nvSpPr>
        <p:spPr>
          <a:xfrm>
            <a:off x="2824843" y="53109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0</a:t>
            </a:r>
            <a:endParaRPr lang="en-US" sz="2600" dirty="0">
              <a:latin typeface="Times New Roman" panose="02020603050405020304" pitchFamily="18" charset="0"/>
              <a:cs typeface="Times New Roman" panose="02020603050405020304" pitchFamily="18" charset="0"/>
            </a:endParaRPr>
          </a:p>
        </p:txBody>
      </p:sp>
      <p:sp>
        <p:nvSpPr>
          <p:cNvPr id="37" name="Shape 35"/>
          <p:cNvSpPr/>
          <p:nvPr/>
        </p:nvSpPr>
        <p:spPr>
          <a:xfrm>
            <a:off x="3819525" y="5302306"/>
            <a:ext cx="869950" cy="692150"/>
          </a:xfrm>
          <a:prstGeom prst="roundRect">
            <a:avLst>
              <a:gd name="adj" fmla="val 11468"/>
            </a:avLst>
          </a:prstGeom>
          <a:solidFill>
            <a:srgbClr val="FFFFFF"/>
          </a:solidFill>
          <a:ln w="19050">
            <a:solidFill>
              <a:srgbClr val="1F3A5F"/>
            </a:solidFill>
            <a:prstDash val="solid"/>
          </a:ln>
        </p:spPr>
      </p:sp>
      <p:sp>
        <p:nvSpPr>
          <p:cNvPr id="38" name="Text 36"/>
          <p:cNvSpPr/>
          <p:nvPr/>
        </p:nvSpPr>
        <p:spPr>
          <a:xfrm>
            <a:off x="3802743" y="5310924"/>
            <a:ext cx="903514" cy="700314"/>
          </a:xfrm>
          <a:prstGeom prst="rect">
            <a:avLst/>
          </a:prstGeom>
          <a:noFill/>
          <a:ln/>
        </p:spPr>
        <p:txBody>
          <a:bodyPr wrap="square" lIns="0" tIns="0" rIns="0" bIns="0" rtlCol="0" anchor="t">
            <a:normAutofit/>
          </a:bodyPr>
          <a:lstStyle/>
          <a:p>
            <a:pPr marL="0" indent="0" algn="ctr">
              <a:lnSpc>
                <a:spcPts val="5200"/>
              </a:lnSpc>
              <a:buNone/>
            </a:pPr>
            <a:r>
              <a:rPr lang="en-US" sz="2600" b="1" dirty="0">
                <a:solidFill>
                  <a:srgbClr val="1F2A44"/>
                </a:solidFill>
                <a:latin typeface="Times New Roman" panose="02020603050405020304" pitchFamily="18" charset="0"/>
                <a:ea typeface="Tinos" pitchFamily="34" charset="-122"/>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
        <p:nvSpPr>
          <p:cNvPr id="39" name="Text 37"/>
          <p:cNvSpPr/>
          <p:nvPr/>
        </p:nvSpPr>
        <p:spPr>
          <a:xfrm>
            <a:off x="5308600" y="3016986"/>
            <a:ext cx="6252718" cy="492749"/>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78A48"/>
                </a:solidFill>
                <a:latin typeface="Times New Roman" panose="02020603050405020304" pitchFamily="18" charset="0"/>
                <a:ea typeface="Tinos" pitchFamily="34" charset="-122"/>
                <a:cs typeface="Times New Roman" panose="02020603050405020304" pitchFamily="18" charset="0"/>
              </a:rPr>
              <a:t>Phím 5 = 770 Hz + 1336 Hz</a:t>
            </a:r>
            <a:endParaRPr lang="en-US" sz="3200" dirty="0">
              <a:latin typeface="Times New Roman" panose="02020603050405020304" pitchFamily="18" charset="0"/>
              <a:cs typeface="Times New Roman" panose="02020603050405020304" pitchFamily="18" charset="0"/>
            </a:endParaRPr>
          </a:p>
        </p:txBody>
      </p:sp>
      <p:sp>
        <p:nvSpPr>
          <p:cNvPr id="40" name="Shape 38"/>
          <p:cNvSpPr/>
          <p:nvPr/>
        </p:nvSpPr>
        <p:spPr>
          <a:xfrm>
            <a:off x="5308600" y="3712935"/>
            <a:ext cx="406400" cy="406400"/>
          </a:xfrm>
          <a:prstGeom prst="roundRect">
            <a:avLst>
              <a:gd name="adj" fmla="val 50000"/>
            </a:avLst>
          </a:prstGeom>
          <a:solidFill>
            <a:srgbClr val="2E9E4F"/>
          </a:solidFill>
          <a:ln/>
        </p:spPr>
      </p:sp>
      <p:sp>
        <p:nvSpPr>
          <p:cNvPr id="41" name="Text 39"/>
          <p:cNvSpPr/>
          <p:nvPr/>
        </p:nvSpPr>
        <p:spPr>
          <a:xfrm>
            <a:off x="5283200" y="3712935"/>
            <a:ext cx="457200" cy="431800"/>
          </a:xfrm>
          <a:prstGeom prst="rect">
            <a:avLst/>
          </a:prstGeom>
          <a:noFill/>
          <a:ln/>
        </p:spPr>
        <p:txBody>
          <a:bodyPr wrap="square" lIns="0" tIns="0" rIns="0" bIns="0" rtlCol="0" anchor="t">
            <a:normAutofit/>
          </a:bodyPr>
          <a:lstStyle/>
          <a:p>
            <a:pPr marL="0" indent="0" algn="ctr">
              <a:lnSpc>
                <a:spcPts val="3200"/>
              </a:lnSpc>
              <a:buNone/>
            </a:pPr>
            <a:r>
              <a:rPr lang="en-US" sz="1600" b="1" dirty="0">
                <a:solidFill>
                  <a:srgbClr val="FDFDFB"/>
                </a:solidFill>
                <a:latin typeface="Times New Roman" panose="02020603050405020304" pitchFamily="18" charset="0"/>
                <a:ea typeface="Open Sans"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42" name="Text 40"/>
          <p:cNvSpPr/>
          <p:nvPr/>
        </p:nvSpPr>
        <p:spPr>
          <a:xfrm>
            <a:off x="5867400" y="3770426"/>
            <a:ext cx="5677154" cy="31682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Chỉ </a:t>
            </a:r>
            <a:r>
              <a:rPr lang="en-US" sz="1700" dirty="0">
                <a:solidFill>
                  <a:srgbClr val="C00000"/>
                </a:solidFill>
                <a:latin typeface="Times New Roman" panose="02020603050405020304" pitchFamily="18" charset="0"/>
                <a:ea typeface="Open Sans" pitchFamily="34" charset="-122"/>
                <a:cs typeface="Times New Roman" panose="02020603050405020304" pitchFamily="18" charset="0"/>
              </a:rPr>
              <a:t>7 tần số</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cho 12 phím</a:t>
            </a:r>
            <a:endParaRPr lang="en-US" sz="1700" dirty="0">
              <a:latin typeface="Times New Roman" panose="02020603050405020304" pitchFamily="18" charset="0"/>
              <a:cs typeface="Times New Roman" panose="02020603050405020304" pitchFamily="18" charset="0"/>
            </a:endParaRPr>
          </a:p>
        </p:txBody>
      </p:sp>
      <p:sp>
        <p:nvSpPr>
          <p:cNvPr id="43" name="Shape 41"/>
          <p:cNvSpPr/>
          <p:nvPr/>
        </p:nvSpPr>
        <p:spPr>
          <a:xfrm>
            <a:off x="5308600" y="4347935"/>
            <a:ext cx="406400" cy="406400"/>
          </a:xfrm>
          <a:prstGeom prst="roundRect">
            <a:avLst>
              <a:gd name="adj" fmla="val 50000"/>
            </a:avLst>
          </a:prstGeom>
          <a:solidFill>
            <a:srgbClr val="2E9E4F"/>
          </a:solidFill>
          <a:ln/>
        </p:spPr>
      </p:sp>
      <p:sp>
        <p:nvSpPr>
          <p:cNvPr id="44" name="Text 42"/>
          <p:cNvSpPr/>
          <p:nvPr/>
        </p:nvSpPr>
        <p:spPr>
          <a:xfrm>
            <a:off x="5283200" y="4347935"/>
            <a:ext cx="457200" cy="431800"/>
          </a:xfrm>
          <a:prstGeom prst="rect">
            <a:avLst/>
          </a:prstGeom>
          <a:noFill/>
          <a:ln/>
        </p:spPr>
        <p:txBody>
          <a:bodyPr wrap="square" lIns="0" tIns="0" rIns="0" bIns="0" rtlCol="0" anchor="t">
            <a:normAutofit/>
          </a:bodyPr>
          <a:lstStyle/>
          <a:p>
            <a:pPr marL="0" indent="0" algn="ctr">
              <a:lnSpc>
                <a:spcPts val="3200"/>
              </a:lnSpc>
              <a:buNone/>
            </a:pPr>
            <a:r>
              <a:rPr lang="en-US" sz="1600" b="1" dirty="0">
                <a:solidFill>
                  <a:srgbClr val="FDFDFB"/>
                </a:solidFill>
                <a:latin typeface="Times New Roman" panose="02020603050405020304" pitchFamily="18" charset="0"/>
                <a:ea typeface="Open Sans"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45" name="Text 43"/>
          <p:cNvSpPr/>
          <p:nvPr/>
        </p:nvSpPr>
        <p:spPr>
          <a:xfrm>
            <a:off x="5867400" y="4405426"/>
            <a:ext cx="5677154" cy="31682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Hai âm cùng lúc → khó </a:t>
            </a:r>
            <a:r>
              <a:rPr lang="en-US" sz="1700" dirty="0">
                <a:solidFill>
                  <a:srgbClr val="C00000"/>
                </a:solidFill>
                <a:latin typeface="Times New Roman" panose="02020603050405020304" pitchFamily="18" charset="0"/>
                <a:ea typeface="Open Sans" pitchFamily="34" charset="-122"/>
                <a:cs typeface="Times New Roman" panose="02020603050405020304" pitchFamily="18" charset="0"/>
              </a:rPr>
              <a:t>nhận nhầm</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tiếng nói</a:t>
            </a:r>
            <a:endParaRPr lang="en-US" sz="1700" dirty="0">
              <a:latin typeface="Times New Roman" panose="02020603050405020304" pitchFamily="18" charset="0"/>
              <a:cs typeface="Times New Roman" panose="02020603050405020304" pitchFamily="18" charset="0"/>
            </a:endParaRPr>
          </a:p>
        </p:txBody>
      </p:sp>
      <p:sp>
        <p:nvSpPr>
          <p:cNvPr id="46" name="Shape 44"/>
          <p:cNvSpPr/>
          <p:nvPr/>
        </p:nvSpPr>
        <p:spPr>
          <a:xfrm>
            <a:off x="5308600" y="4982935"/>
            <a:ext cx="3736011" cy="401297"/>
          </a:xfrm>
          <a:prstGeom prst="roundRect">
            <a:avLst>
              <a:gd name="adj" fmla="val 50000"/>
            </a:avLst>
          </a:prstGeom>
          <a:solidFill>
            <a:srgbClr val="FFF2CC"/>
          </a:solidFill>
          <a:ln/>
        </p:spPr>
      </p:sp>
      <p:sp>
        <p:nvSpPr>
          <p:cNvPr id="47" name="Text 45"/>
          <p:cNvSpPr/>
          <p:nvPr/>
        </p:nvSpPr>
        <p:spPr>
          <a:xfrm>
            <a:off x="5511800" y="5059135"/>
            <a:ext cx="3429500"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B5300"/>
                </a:solidFill>
                <a:latin typeface="Times New Roman" panose="02020603050405020304" pitchFamily="18" charset="0"/>
                <a:ea typeface="Open Sans" pitchFamily="34" charset="-122"/>
                <a:cs typeface="Times New Roman" panose="02020603050405020304" pitchFamily="18" charset="0"/>
              </a:rPr>
              <a:t>fs = 8000 Hz · âm 100 ms · nghỉ 50 ms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Sơ đồ hệ thống</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Mô phỏng trọn một tuyến: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phát → kênh nhiễu → giải mã → đánh giá</a:t>
            </a:r>
            <a:endParaRPr lang="en-US" sz="1700" dirty="0">
              <a:latin typeface="Times New Roman" panose="02020603050405020304" pitchFamily="18" charset="0"/>
              <a:cs typeface="Times New Roman" panose="02020603050405020304" pitchFamily="18" charset="0"/>
            </a:endParaRPr>
          </a:p>
        </p:txBody>
      </p:sp>
      <p:pic>
        <p:nvPicPr>
          <p:cNvPr id="8" name="Image 0" descr="Sơ đồ chức năng: chuỗi phím vào bộ phát DTMF tạo x[n], cộng nhiễu v[n] thành y[n], bộ giải mã FFT, Goertzel hoặc ngân hàng lọc cho chuỗi phím giải mã, khối đánh giá so với nhãn đúng"/>
          <p:cNvPicPr>
            <a:picLocks noChangeAspect="1"/>
          </p:cNvPicPr>
          <p:nvPr/>
        </p:nvPicPr>
        <p:blipFill>
          <a:blip r:embed="rId3"/>
          <a:srcRect t="-30" b="-30"/>
          <a:stretch/>
        </p:blipFill>
        <p:spPr>
          <a:xfrm>
            <a:off x="1143000" y="2489315"/>
            <a:ext cx="9906001" cy="2419350"/>
          </a:xfrm>
          <a:prstGeom prst="rect">
            <a:avLst/>
          </a:prstGeom>
        </p:spPr>
      </p:pic>
      <p:sp>
        <p:nvSpPr>
          <p:cNvPr id="9" name="Shape 6"/>
          <p:cNvSpPr/>
          <p:nvPr/>
        </p:nvSpPr>
        <p:spPr>
          <a:xfrm>
            <a:off x="812800" y="5549900"/>
            <a:ext cx="2527300" cy="749300"/>
          </a:xfrm>
          <a:prstGeom prst="roundRect">
            <a:avLst>
              <a:gd name="adj" fmla="val 11864"/>
            </a:avLst>
          </a:prstGeom>
          <a:solidFill>
            <a:srgbClr val="F3F6FA"/>
          </a:solidFill>
          <a:ln/>
        </p:spPr>
      </p:sp>
      <p:sp>
        <p:nvSpPr>
          <p:cNvPr id="10" name="Shape 7"/>
          <p:cNvSpPr/>
          <p:nvPr/>
        </p:nvSpPr>
        <p:spPr>
          <a:xfrm>
            <a:off x="952500" y="5734050"/>
            <a:ext cx="381000" cy="381000"/>
          </a:xfrm>
          <a:prstGeom prst="roundRect">
            <a:avLst>
              <a:gd name="adj" fmla="val 50000"/>
            </a:avLst>
          </a:prstGeom>
          <a:solidFill>
            <a:srgbClr val="2E9E4F"/>
          </a:solidFill>
          <a:ln/>
        </p:spPr>
      </p:sp>
      <p:sp>
        <p:nvSpPr>
          <p:cNvPr id="11" name="Text 8"/>
          <p:cNvSpPr/>
          <p:nvPr/>
        </p:nvSpPr>
        <p:spPr>
          <a:xfrm>
            <a:off x="927100" y="5734050"/>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1</a:t>
            </a:r>
            <a:endParaRPr lang="en-US" sz="1500" dirty="0">
              <a:latin typeface="Times New Roman" panose="02020603050405020304" pitchFamily="18" charset="0"/>
              <a:cs typeface="Times New Roman" panose="02020603050405020304" pitchFamily="18" charset="0"/>
            </a:endParaRPr>
          </a:p>
        </p:txBody>
      </p:sp>
      <p:sp>
        <p:nvSpPr>
          <p:cNvPr id="12" name="Text 9"/>
          <p:cNvSpPr/>
          <p:nvPr/>
        </p:nvSpPr>
        <p:spPr>
          <a:xfrm>
            <a:off x="1435100" y="5676900"/>
            <a:ext cx="1818259"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Phát</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x[n] theo ITU-T Q.23</a:t>
            </a:r>
            <a:endParaRPr lang="en-US" sz="1500" dirty="0">
              <a:latin typeface="Times New Roman" panose="02020603050405020304" pitchFamily="18" charset="0"/>
              <a:cs typeface="Times New Roman" panose="02020603050405020304" pitchFamily="18" charset="0"/>
            </a:endParaRPr>
          </a:p>
        </p:txBody>
      </p:sp>
      <p:sp>
        <p:nvSpPr>
          <p:cNvPr id="13" name="Shape 10"/>
          <p:cNvSpPr/>
          <p:nvPr/>
        </p:nvSpPr>
        <p:spPr>
          <a:xfrm>
            <a:off x="3492500" y="5549900"/>
            <a:ext cx="2527300" cy="749300"/>
          </a:xfrm>
          <a:prstGeom prst="roundRect">
            <a:avLst>
              <a:gd name="adj" fmla="val 11864"/>
            </a:avLst>
          </a:prstGeom>
          <a:solidFill>
            <a:srgbClr val="F3F6FA"/>
          </a:solidFill>
          <a:ln/>
        </p:spPr>
      </p:sp>
      <p:sp>
        <p:nvSpPr>
          <p:cNvPr id="14" name="Shape 11"/>
          <p:cNvSpPr/>
          <p:nvPr/>
        </p:nvSpPr>
        <p:spPr>
          <a:xfrm>
            <a:off x="3632200" y="5734050"/>
            <a:ext cx="381000" cy="381000"/>
          </a:xfrm>
          <a:prstGeom prst="roundRect">
            <a:avLst>
              <a:gd name="adj" fmla="val 50000"/>
            </a:avLst>
          </a:prstGeom>
          <a:solidFill>
            <a:srgbClr val="2E9E4F"/>
          </a:solidFill>
          <a:ln/>
        </p:spPr>
      </p:sp>
      <p:sp>
        <p:nvSpPr>
          <p:cNvPr id="15" name="Text 12"/>
          <p:cNvSpPr/>
          <p:nvPr/>
        </p:nvSpPr>
        <p:spPr>
          <a:xfrm>
            <a:off x="3606800" y="5734050"/>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2</a:t>
            </a:r>
            <a:endParaRPr lang="en-US" sz="1500" dirty="0">
              <a:latin typeface="Times New Roman" panose="02020603050405020304" pitchFamily="18" charset="0"/>
              <a:cs typeface="Times New Roman" panose="02020603050405020304" pitchFamily="18" charset="0"/>
            </a:endParaRPr>
          </a:p>
        </p:txBody>
      </p:sp>
      <p:sp>
        <p:nvSpPr>
          <p:cNvPr id="16" name="Text 13"/>
          <p:cNvSpPr/>
          <p:nvPr/>
        </p:nvSpPr>
        <p:spPr>
          <a:xfrm>
            <a:off x="4114800" y="5676900"/>
            <a:ext cx="1818259"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Cộng nhiễu</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AWGN / điện lưới 50 Hz</a:t>
            </a:r>
            <a:endParaRPr lang="en-US" sz="1500" dirty="0">
              <a:latin typeface="Times New Roman" panose="02020603050405020304" pitchFamily="18" charset="0"/>
              <a:cs typeface="Times New Roman" panose="02020603050405020304" pitchFamily="18" charset="0"/>
            </a:endParaRPr>
          </a:p>
        </p:txBody>
      </p:sp>
      <p:sp>
        <p:nvSpPr>
          <p:cNvPr id="17" name="Shape 14"/>
          <p:cNvSpPr/>
          <p:nvPr/>
        </p:nvSpPr>
        <p:spPr>
          <a:xfrm>
            <a:off x="6172200" y="5549900"/>
            <a:ext cx="2527300" cy="749300"/>
          </a:xfrm>
          <a:prstGeom prst="roundRect">
            <a:avLst>
              <a:gd name="adj" fmla="val 11864"/>
            </a:avLst>
          </a:prstGeom>
          <a:solidFill>
            <a:srgbClr val="F3F6FA"/>
          </a:solidFill>
          <a:ln/>
        </p:spPr>
      </p:sp>
      <p:sp>
        <p:nvSpPr>
          <p:cNvPr id="18" name="Shape 15"/>
          <p:cNvSpPr/>
          <p:nvPr/>
        </p:nvSpPr>
        <p:spPr>
          <a:xfrm>
            <a:off x="6311900" y="5734050"/>
            <a:ext cx="381000" cy="381000"/>
          </a:xfrm>
          <a:prstGeom prst="roundRect">
            <a:avLst>
              <a:gd name="adj" fmla="val 50000"/>
            </a:avLst>
          </a:prstGeom>
          <a:solidFill>
            <a:srgbClr val="2E9E4F"/>
          </a:solidFill>
          <a:ln/>
        </p:spPr>
      </p:sp>
      <p:sp>
        <p:nvSpPr>
          <p:cNvPr id="19" name="Text 16"/>
          <p:cNvSpPr/>
          <p:nvPr/>
        </p:nvSpPr>
        <p:spPr>
          <a:xfrm>
            <a:off x="6286500" y="5734050"/>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3</a:t>
            </a:r>
            <a:endParaRPr lang="en-US" sz="1500" dirty="0">
              <a:latin typeface="Times New Roman" panose="02020603050405020304" pitchFamily="18" charset="0"/>
              <a:cs typeface="Times New Roman" panose="02020603050405020304" pitchFamily="18" charset="0"/>
            </a:endParaRPr>
          </a:p>
        </p:txBody>
      </p:sp>
      <p:sp>
        <p:nvSpPr>
          <p:cNvPr id="20" name="Text 17"/>
          <p:cNvSpPr/>
          <p:nvPr/>
        </p:nvSpPr>
        <p:spPr>
          <a:xfrm>
            <a:off x="6794500" y="5676900"/>
            <a:ext cx="1818259"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Giải mã</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bằng 1 trong 3 cách</a:t>
            </a:r>
            <a:endParaRPr lang="en-US" sz="1500" dirty="0">
              <a:latin typeface="Times New Roman" panose="02020603050405020304" pitchFamily="18" charset="0"/>
              <a:cs typeface="Times New Roman" panose="02020603050405020304" pitchFamily="18" charset="0"/>
            </a:endParaRPr>
          </a:p>
        </p:txBody>
      </p:sp>
      <p:sp>
        <p:nvSpPr>
          <p:cNvPr id="21" name="Shape 18"/>
          <p:cNvSpPr/>
          <p:nvPr/>
        </p:nvSpPr>
        <p:spPr>
          <a:xfrm>
            <a:off x="8851901" y="5549900"/>
            <a:ext cx="2527300" cy="749300"/>
          </a:xfrm>
          <a:prstGeom prst="roundRect">
            <a:avLst>
              <a:gd name="adj" fmla="val 11864"/>
            </a:avLst>
          </a:prstGeom>
          <a:solidFill>
            <a:srgbClr val="F3F6FA"/>
          </a:solidFill>
          <a:ln/>
        </p:spPr>
      </p:sp>
      <p:sp>
        <p:nvSpPr>
          <p:cNvPr id="22" name="Shape 19"/>
          <p:cNvSpPr/>
          <p:nvPr/>
        </p:nvSpPr>
        <p:spPr>
          <a:xfrm>
            <a:off x="8991601" y="5734050"/>
            <a:ext cx="381000" cy="381000"/>
          </a:xfrm>
          <a:prstGeom prst="roundRect">
            <a:avLst>
              <a:gd name="adj" fmla="val 50000"/>
            </a:avLst>
          </a:prstGeom>
          <a:solidFill>
            <a:srgbClr val="2E9E4F"/>
          </a:solidFill>
          <a:ln/>
        </p:spPr>
      </p:sp>
      <p:sp>
        <p:nvSpPr>
          <p:cNvPr id="23" name="Text 20"/>
          <p:cNvSpPr/>
          <p:nvPr/>
        </p:nvSpPr>
        <p:spPr>
          <a:xfrm>
            <a:off x="8966201" y="5734050"/>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4</a:t>
            </a:r>
            <a:endParaRPr lang="en-US" sz="1500" dirty="0">
              <a:latin typeface="Times New Roman" panose="02020603050405020304" pitchFamily="18" charset="0"/>
              <a:cs typeface="Times New Roman" panose="02020603050405020304" pitchFamily="18" charset="0"/>
            </a:endParaRPr>
          </a:p>
        </p:txBody>
      </p:sp>
      <p:sp>
        <p:nvSpPr>
          <p:cNvPr id="24" name="Text 21"/>
          <p:cNvSpPr/>
          <p:nvPr/>
        </p:nvSpPr>
        <p:spPr>
          <a:xfrm>
            <a:off x="9474201" y="5800725"/>
            <a:ext cx="1818259"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So</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với chuỗi gốc</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6</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3"/>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Ba bộ giải mã</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3"/>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9"/>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Dùng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chung</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mọi bước, chỉ </a:t>
            </a:r>
            <a:r>
              <a:rPr lang="en-US" sz="1700" dirty="0">
                <a:solidFill>
                  <a:srgbClr val="C00000"/>
                </a:solidFill>
                <a:latin typeface="Times New Roman" panose="02020603050405020304" pitchFamily="18" charset="0"/>
                <a:ea typeface="Open Sans" pitchFamily="34" charset="-122"/>
                <a:cs typeface="Times New Roman" panose="02020603050405020304" pitchFamily="18" charset="0"/>
              </a:rPr>
              <a:t>khác ở bước đo công suất phổ</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822325" y="2516814"/>
            <a:ext cx="3333750" cy="2451894"/>
          </a:xfrm>
          <a:prstGeom prst="roundRect">
            <a:avLst>
              <a:gd name="adj" fmla="val 3755"/>
            </a:avLst>
          </a:prstGeom>
          <a:solidFill>
            <a:srgbClr val="FFFFFF"/>
          </a:solidFill>
          <a:ln w="19050">
            <a:solidFill>
              <a:srgbClr val="0B64A8"/>
            </a:solidFill>
            <a:prstDash val="solid"/>
          </a:ln>
        </p:spPr>
      </p:sp>
      <p:sp>
        <p:nvSpPr>
          <p:cNvPr id="9" name="Shape 7"/>
          <p:cNvSpPr/>
          <p:nvPr/>
        </p:nvSpPr>
        <p:spPr>
          <a:xfrm>
            <a:off x="830943" y="2525430"/>
            <a:ext cx="3316515" cy="604497"/>
          </a:xfrm>
          <a:custGeom>
            <a:avLst/>
            <a:gdLst/>
            <a:ahLst/>
            <a:cxnLst/>
            <a:rect l="l" t="t" r="r" b="b"/>
            <a:pathLst>
              <a:path w="3316515" h="604497">
                <a:moveTo>
                  <a:pt x="0" y="83457"/>
                </a:moveTo>
                <a:arcTo wR="83457" hR="83457" stAng="10800000" swAng="5400000"/>
                <a:lnTo>
                  <a:pt x="3233057" y="0"/>
                </a:lnTo>
                <a:arcTo wR="83457" hR="83457" stAng="16200000" swAng="5400000"/>
                <a:lnTo>
                  <a:pt x="3316515" y="604497"/>
                </a:lnTo>
                <a:lnTo>
                  <a:pt x="0" y="604497"/>
                </a:lnTo>
                <a:close/>
              </a:path>
            </a:pathLst>
          </a:custGeom>
          <a:solidFill>
            <a:srgbClr val="0B64A8"/>
          </a:solidFill>
          <a:ln/>
        </p:spPr>
      </p:sp>
      <p:sp>
        <p:nvSpPr>
          <p:cNvPr id="10" name="Text 8"/>
          <p:cNvSpPr/>
          <p:nvPr/>
        </p:nvSpPr>
        <p:spPr>
          <a:xfrm>
            <a:off x="938167" y="2614330"/>
            <a:ext cx="3102066" cy="452097"/>
          </a:xfrm>
          <a:prstGeom prst="rect">
            <a:avLst/>
          </a:prstGeom>
          <a:noFill/>
          <a:ln/>
        </p:spPr>
        <p:txBody>
          <a:bodyPr wrap="square" lIns="0" tIns="0" rIns="0" bIns="0" rtlCol="0" anchor="t">
            <a:normAutofit/>
          </a:bodyPr>
          <a:lstStyle/>
          <a:p>
            <a:pPr marL="0" indent="0" algn="ctr">
              <a:lnSpc>
                <a:spcPts val="3360"/>
              </a:lnSpc>
              <a:buNone/>
            </a:pPr>
            <a:r>
              <a:rPr lang="en-US" sz="2400" b="1" dirty="0">
                <a:solidFill>
                  <a:srgbClr val="FDFDFB"/>
                </a:solidFill>
                <a:latin typeface="Times New Roman" panose="02020603050405020304" pitchFamily="18" charset="0"/>
                <a:ea typeface="Tinos" pitchFamily="34" charset="-122"/>
                <a:cs typeface="Times New Roman" panose="02020603050405020304" pitchFamily="18" charset="0"/>
              </a:rPr>
              <a:t>DFT / FFT</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1034143" y="3282327"/>
            <a:ext cx="2997418"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B64A8"/>
                </a:solidFill>
                <a:latin typeface="Times New Roman" panose="02020603050405020304" pitchFamily="18" charset="0"/>
                <a:ea typeface="Open Sans" pitchFamily="34" charset="-122"/>
                <a:cs typeface="Times New Roman" panose="02020603050405020304" pitchFamily="18" charset="0"/>
              </a:rPr>
              <a:t>Tính cả phổ, cửa sổ Hamming</a:t>
            </a:r>
            <a:endParaRPr lang="en-US" sz="1500" dirty="0">
              <a:latin typeface="Times New Roman" panose="02020603050405020304" pitchFamily="18" charset="0"/>
              <a:cs typeface="Times New Roman" panose="02020603050405020304" pitchFamily="18" charset="0"/>
            </a:endParaRPr>
          </a:p>
        </p:txBody>
      </p:sp>
      <p:sp>
        <p:nvSpPr>
          <p:cNvPr id="12" name="Shape 10"/>
          <p:cNvSpPr/>
          <p:nvPr/>
        </p:nvSpPr>
        <p:spPr>
          <a:xfrm>
            <a:off x="1034143" y="3631577"/>
            <a:ext cx="2910114" cy="0"/>
          </a:xfrm>
          <a:prstGeom prst="line">
            <a:avLst/>
          </a:prstGeom>
          <a:noFill/>
          <a:ln w="6350">
            <a:solidFill>
              <a:srgbClr val="DDE1E7"/>
            </a:solidFill>
            <a:prstDash val="solid"/>
          </a:ln>
        </p:spPr>
      </p:sp>
      <p:sp>
        <p:nvSpPr>
          <p:cNvPr id="13" name="Text 11"/>
          <p:cNvSpPr/>
          <p:nvPr/>
        </p:nvSpPr>
        <p:spPr>
          <a:xfrm>
            <a:off x="1034143" y="3724560"/>
            <a:ext cx="545306"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Khung</a:t>
            </a:r>
            <a:endParaRPr lang="en-US" sz="1300" dirty="0">
              <a:latin typeface="Times New Roman" panose="02020603050405020304" pitchFamily="18" charset="0"/>
              <a:cs typeface="Times New Roman" panose="02020603050405020304" pitchFamily="18" charset="0"/>
            </a:endParaRPr>
          </a:p>
        </p:txBody>
      </p:sp>
      <p:sp>
        <p:nvSpPr>
          <p:cNvPr id="14" name="Text 12"/>
          <p:cNvSpPr/>
          <p:nvPr/>
        </p:nvSpPr>
        <p:spPr>
          <a:xfrm>
            <a:off x="3254715" y="3695533"/>
            <a:ext cx="74034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N = 256</a:t>
            </a:r>
            <a:endParaRPr lang="en-US" sz="1500" dirty="0">
              <a:latin typeface="Times New Roman" panose="02020603050405020304" pitchFamily="18" charset="0"/>
              <a:cs typeface="Times New Roman" panose="02020603050405020304" pitchFamily="18" charset="0"/>
            </a:endParaRPr>
          </a:p>
        </p:txBody>
      </p:sp>
      <p:sp>
        <p:nvSpPr>
          <p:cNvPr id="15" name="Shape 13"/>
          <p:cNvSpPr/>
          <p:nvPr/>
        </p:nvSpPr>
        <p:spPr>
          <a:xfrm>
            <a:off x="1034143" y="4054308"/>
            <a:ext cx="2910114" cy="0"/>
          </a:xfrm>
          <a:prstGeom prst="line">
            <a:avLst/>
          </a:prstGeom>
          <a:noFill/>
          <a:ln w="6350">
            <a:solidFill>
              <a:srgbClr val="DDE1E7"/>
            </a:solidFill>
            <a:prstDash val="solid"/>
          </a:ln>
        </p:spPr>
      </p:sp>
      <p:sp>
        <p:nvSpPr>
          <p:cNvPr id="16" name="Text 14"/>
          <p:cNvSpPr/>
          <p:nvPr/>
        </p:nvSpPr>
        <p:spPr>
          <a:xfrm>
            <a:off x="1034143" y="4147288"/>
            <a:ext cx="1015717"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Độ phân giải</a:t>
            </a:r>
            <a:endParaRPr lang="en-US" sz="1300" dirty="0">
              <a:latin typeface="Times New Roman" panose="02020603050405020304" pitchFamily="18" charset="0"/>
              <a:cs typeface="Times New Roman" panose="02020603050405020304" pitchFamily="18" charset="0"/>
            </a:endParaRPr>
          </a:p>
        </p:txBody>
      </p:sp>
      <p:sp>
        <p:nvSpPr>
          <p:cNvPr id="17" name="Text 15"/>
          <p:cNvSpPr/>
          <p:nvPr/>
        </p:nvSpPr>
        <p:spPr>
          <a:xfrm>
            <a:off x="3166042" y="4118260"/>
            <a:ext cx="82901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31,25 Hz</a:t>
            </a:r>
            <a:endParaRPr lang="en-US" sz="1500" dirty="0">
              <a:latin typeface="Times New Roman" panose="02020603050405020304" pitchFamily="18" charset="0"/>
              <a:cs typeface="Times New Roman" panose="02020603050405020304" pitchFamily="18" charset="0"/>
            </a:endParaRPr>
          </a:p>
        </p:txBody>
      </p:sp>
      <p:sp>
        <p:nvSpPr>
          <p:cNvPr id="18" name="Shape 16"/>
          <p:cNvSpPr/>
          <p:nvPr/>
        </p:nvSpPr>
        <p:spPr>
          <a:xfrm>
            <a:off x="1034143" y="4477035"/>
            <a:ext cx="2910114" cy="0"/>
          </a:xfrm>
          <a:prstGeom prst="line">
            <a:avLst/>
          </a:prstGeom>
          <a:noFill/>
          <a:ln w="6350">
            <a:solidFill>
              <a:srgbClr val="DDE1E7"/>
            </a:solidFill>
            <a:prstDash val="solid"/>
          </a:ln>
        </p:spPr>
      </p:sp>
      <p:sp>
        <p:nvSpPr>
          <p:cNvPr id="19" name="Text 17"/>
          <p:cNvSpPr/>
          <p:nvPr/>
        </p:nvSpPr>
        <p:spPr>
          <a:xfrm>
            <a:off x="1034143" y="4570019"/>
            <a:ext cx="1022747"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Phép nhân/s</a:t>
            </a:r>
            <a:endParaRPr lang="en-US" sz="1300" dirty="0">
              <a:latin typeface="Times New Roman" panose="02020603050405020304" pitchFamily="18" charset="0"/>
              <a:cs typeface="Times New Roman" panose="02020603050405020304" pitchFamily="18" charset="0"/>
            </a:endParaRPr>
          </a:p>
        </p:txBody>
      </p:sp>
      <p:sp>
        <p:nvSpPr>
          <p:cNvPr id="20" name="Text 18"/>
          <p:cNvSpPr/>
          <p:nvPr/>
        </p:nvSpPr>
        <p:spPr>
          <a:xfrm>
            <a:off x="3241222" y="4540988"/>
            <a:ext cx="75383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273 000</a:t>
            </a:r>
            <a:endParaRPr lang="en-US" sz="1500" dirty="0">
              <a:latin typeface="Times New Roman" panose="02020603050405020304" pitchFamily="18" charset="0"/>
              <a:cs typeface="Times New Roman" panose="02020603050405020304" pitchFamily="18" charset="0"/>
            </a:endParaRPr>
          </a:p>
        </p:txBody>
      </p:sp>
      <p:sp>
        <p:nvSpPr>
          <p:cNvPr id="21" name="Shape 19"/>
          <p:cNvSpPr/>
          <p:nvPr/>
        </p:nvSpPr>
        <p:spPr>
          <a:xfrm>
            <a:off x="4429125" y="2516814"/>
            <a:ext cx="3333750" cy="2451894"/>
          </a:xfrm>
          <a:prstGeom prst="roundRect">
            <a:avLst>
              <a:gd name="adj" fmla="val 3755"/>
            </a:avLst>
          </a:prstGeom>
          <a:solidFill>
            <a:srgbClr val="FFFFFF"/>
          </a:solidFill>
          <a:ln w="19050">
            <a:solidFill>
              <a:srgbClr val="B8480F"/>
            </a:solidFill>
            <a:prstDash val="solid"/>
          </a:ln>
        </p:spPr>
      </p:sp>
      <p:sp>
        <p:nvSpPr>
          <p:cNvPr id="22" name="Shape 20"/>
          <p:cNvSpPr/>
          <p:nvPr/>
        </p:nvSpPr>
        <p:spPr>
          <a:xfrm>
            <a:off x="4437743" y="2525430"/>
            <a:ext cx="3316515" cy="604497"/>
          </a:xfrm>
          <a:custGeom>
            <a:avLst/>
            <a:gdLst/>
            <a:ahLst/>
            <a:cxnLst/>
            <a:rect l="l" t="t" r="r" b="b"/>
            <a:pathLst>
              <a:path w="3316515" h="604497">
                <a:moveTo>
                  <a:pt x="0" y="83457"/>
                </a:moveTo>
                <a:arcTo wR="83457" hR="83457" stAng="10800000" swAng="5400000"/>
                <a:lnTo>
                  <a:pt x="3233057" y="0"/>
                </a:lnTo>
                <a:arcTo wR="83457" hR="83457" stAng="16200000" swAng="5400000"/>
                <a:lnTo>
                  <a:pt x="3316515" y="604497"/>
                </a:lnTo>
                <a:lnTo>
                  <a:pt x="0" y="604497"/>
                </a:lnTo>
                <a:close/>
              </a:path>
            </a:pathLst>
          </a:custGeom>
          <a:solidFill>
            <a:srgbClr val="B8480F"/>
          </a:solidFill>
          <a:ln/>
        </p:spPr>
      </p:sp>
      <p:sp>
        <p:nvSpPr>
          <p:cNvPr id="23" name="Text 21"/>
          <p:cNvSpPr/>
          <p:nvPr/>
        </p:nvSpPr>
        <p:spPr>
          <a:xfrm>
            <a:off x="4544967" y="2614330"/>
            <a:ext cx="3102066" cy="452097"/>
          </a:xfrm>
          <a:prstGeom prst="rect">
            <a:avLst/>
          </a:prstGeom>
          <a:noFill/>
          <a:ln/>
        </p:spPr>
        <p:txBody>
          <a:bodyPr wrap="square" lIns="0" tIns="0" rIns="0" bIns="0" rtlCol="0" anchor="t">
            <a:normAutofit/>
          </a:bodyPr>
          <a:lstStyle/>
          <a:p>
            <a:pPr marL="0" indent="0" algn="ctr">
              <a:lnSpc>
                <a:spcPts val="3360"/>
              </a:lnSpc>
              <a:buNone/>
            </a:pPr>
            <a:r>
              <a:rPr lang="en-US" sz="2400" b="1" dirty="0">
                <a:solidFill>
                  <a:srgbClr val="FDFDFB"/>
                </a:solidFill>
                <a:latin typeface="Times New Roman" panose="02020603050405020304" pitchFamily="18" charset="0"/>
                <a:ea typeface="Tinos" pitchFamily="34" charset="-122"/>
                <a:cs typeface="Times New Roman" panose="02020603050405020304" pitchFamily="18" charset="0"/>
              </a:rPr>
              <a:t>Goertzel</a:t>
            </a:r>
            <a:endParaRPr lang="en-US" sz="2400" dirty="0">
              <a:latin typeface="Times New Roman" panose="02020603050405020304" pitchFamily="18" charset="0"/>
              <a:cs typeface="Times New Roman" panose="02020603050405020304" pitchFamily="18" charset="0"/>
            </a:endParaRPr>
          </a:p>
        </p:txBody>
      </p:sp>
      <p:sp>
        <p:nvSpPr>
          <p:cNvPr id="24" name="Text 22"/>
          <p:cNvSpPr/>
          <p:nvPr/>
        </p:nvSpPr>
        <p:spPr>
          <a:xfrm>
            <a:off x="4640943" y="3282327"/>
            <a:ext cx="2997418"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B8480F"/>
                </a:solidFill>
                <a:latin typeface="Times New Roman" panose="02020603050405020304" pitchFamily="18" charset="0"/>
                <a:ea typeface="Open Sans" pitchFamily="34" charset="-122"/>
                <a:cs typeface="Times New Roman" panose="02020603050405020304" pitchFamily="18" charset="0"/>
              </a:rPr>
              <a:t>Chỉ tính 8 bin cần dùng</a:t>
            </a:r>
            <a:endParaRPr lang="en-US" sz="1500" dirty="0">
              <a:latin typeface="Times New Roman" panose="02020603050405020304" pitchFamily="18" charset="0"/>
              <a:cs typeface="Times New Roman" panose="02020603050405020304" pitchFamily="18" charset="0"/>
            </a:endParaRPr>
          </a:p>
        </p:txBody>
      </p:sp>
      <p:sp>
        <p:nvSpPr>
          <p:cNvPr id="25" name="Shape 23"/>
          <p:cNvSpPr/>
          <p:nvPr/>
        </p:nvSpPr>
        <p:spPr>
          <a:xfrm>
            <a:off x="4640943" y="3631577"/>
            <a:ext cx="2910114" cy="0"/>
          </a:xfrm>
          <a:prstGeom prst="line">
            <a:avLst/>
          </a:prstGeom>
          <a:noFill/>
          <a:ln w="6350">
            <a:solidFill>
              <a:srgbClr val="DDE1E7"/>
            </a:solidFill>
            <a:prstDash val="solid"/>
          </a:ln>
        </p:spPr>
      </p:sp>
      <p:sp>
        <p:nvSpPr>
          <p:cNvPr id="26" name="Text 24"/>
          <p:cNvSpPr/>
          <p:nvPr/>
        </p:nvSpPr>
        <p:spPr>
          <a:xfrm>
            <a:off x="4640943" y="3724560"/>
            <a:ext cx="545306"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Khung</a:t>
            </a:r>
            <a:endParaRPr lang="en-US" sz="1300" dirty="0">
              <a:latin typeface="Times New Roman" panose="02020603050405020304" pitchFamily="18" charset="0"/>
              <a:cs typeface="Times New Roman" panose="02020603050405020304" pitchFamily="18" charset="0"/>
            </a:endParaRPr>
          </a:p>
        </p:txBody>
      </p:sp>
      <p:sp>
        <p:nvSpPr>
          <p:cNvPr id="27" name="Text 25"/>
          <p:cNvSpPr/>
          <p:nvPr/>
        </p:nvSpPr>
        <p:spPr>
          <a:xfrm>
            <a:off x="6861515" y="3695533"/>
            <a:ext cx="74034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N = 205</a:t>
            </a:r>
            <a:endParaRPr lang="en-US" sz="1500" dirty="0">
              <a:latin typeface="Times New Roman" panose="02020603050405020304" pitchFamily="18" charset="0"/>
              <a:cs typeface="Times New Roman" panose="02020603050405020304" pitchFamily="18" charset="0"/>
            </a:endParaRPr>
          </a:p>
        </p:txBody>
      </p:sp>
      <p:sp>
        <p:nvSpPr>
          <p:cNvPr id="28" name="Shape 26"/>
          <p:cNvSpPr/>
          <p:nvPr/>
        </p:nvSpPr>
        <p:spPr>
          <a:xfrm>
            <a:off x="4640943" y="4054308"/>
            <a:ext cx="2910114" cy="0"/>
          </a:xfrm>
          <a:prstGeom prst="line">
            <a:avLst/>
          </a:prstGeom>
          <a:noFill/>
          <a:ln w="6350">
            <a:solidFill>
              <a:srgbClr val="DDE1E7"/>
            </a:solidFill>
            <a:prstDash val="solid"/>
          </a:ln>
        </p:spPr>
      </p:sp>
      <p:sp>
        <p:nvSpPr>
          <p:cNvPr id="29" name="Text 27"/>
          <p:cNvSpPr/>
          <p:nvPr/>
        </p:nvSpPr>
        <p:spPr>
          <a:xfrm>
            <a:off x="4640943" y="4147288"/>
            <a:ext cx="1015717"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Độ phân giải</a:t>
            </a:r>
            <a:endParaRPr lang="en-US" sz="1300" dirty="0">
              <a:latin typeface="Times New Roman" panose="02020603050405020304" pitchFamily="18" charset="0"/>
              <a:cs typeface="Times New Roman" panose="02020603050405020304" pitchFamily="18" charset="0"/>
            </a:endParaRPr>
          </a:p>
        </p:txBody>
      </p:sp>
      <p:sp>
        <p:nvSpPr>
          <p:cNvPr id="30" name="Text 28"/>
          <p:cNvSpPr/>
          <p:nvPr/>
        </p:nvSpPr>
        <p:spPr>
          <a:xfrm>
            <a:off x="6772842" y="4118260"/>
            <a:ext cx="82901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39,02 Hz</a:t>
            </a:r>
            <a:endParaRPr lang="en-US" sz="1500" dirty="0">
              <a:latin typeface="Times New Roman" panose="02020603050405020304" pitchFamily="18" charset="0"/>
              <a:cs typeface="Times New Roman" panose="02020603050405020304" pitchFamily="18" charset="0"/>
            </a:endParaRPr>
          </a:p>
        </p:txBody>
      </p:sp>
      <p:sp>
        <p:nvSpPr>
          <p:cNvPr id="31" name="Shape 29"/>
          <p:cNvSpPr/>
          <p:nvPr/>
        </p:nvSpPr>
        <p:spPr>
          <a:xfrm>
            <a:off x="4640943" y="4477035"/>
            <a:ext cx="2910114" cy="0"/>
          </a:xfrm>
          <a:prstGeom prst="line">
            <a:avLst/>
          </a:prstGeom>
          <a:noFill/>
          <a:ln w="6350">
            <a:solidFill>
              <a:srgbClr val="DDE1E7"/>
            </a:solidFill>
            <a:prstDash val="solid"/>
          </a:ln>
        </p:spPr>
      </p:sp>
      <p:sp>
        <p:nvSpPr>
          <p:cNvPr id="32" name="Text 30"/>
          <p:cNvSpPr/>
          <p:nvPr/>
        </p:nvSpPr>
        <p:spPr>
          <a:xfrm>
            <a:off x="4640943" y="4570019"/>
            <a:ext cx="1022747"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Phép nhân/s</a:t>
            </a:r>
            <a:endParaRPr lang="en-US" sz="1300" dirty="0">
              <a:latin typeface="Times New Roman" panose="02020603050405020304" pitchFamily="18" charset="0"/>
              <a:cs typeface="Times New Roman" panose="02020603050405020304" pitchFamily="18" charset="0"/>
            </a:endParaRPr>
          </a:p>
        </p:txBody>
      </p:sp>
      <p:sp>
        <p:nvSpPr>
          <p:cNvPr id="33" name="Text 31"/>
          <p:cNvSpPr/>
          <p:nvPr/>
        </p:nvSpPr>
        <p:spPr>
          <a:xfrm>
            <a:off x="6106943" y="4540988"/>
            <a:ext cx="149491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8A48"/>
                </a:solidFill>
                <a:latin typeface="Times New Roman" panose="02020603050405020304" pitchFamily="18" charset="0"/>
                <a:ea typeface="Open Sans" pitchFamily="34" charset="-122"/>
                <a:cs typeface="Times New Roman" panose="02020603050405020304" pitchFamily="18" charset="0"/>
              </a:rPr>
              <a:t>65 000 · ít nhất</a:t>
            </a:r>
            <a:endParaRPr lang="en-US" sz="1500" dirty="0">
              <a:latin typeface="Times New Roman" panose="02020603050405020304" pitchFamily="18" charset="0"/>
              <a:cs typeface="Times New Roman" panose="02020603050405020304" pitchFamily="18" charset="0"/>
            </a:endParaRPr>
          </a:p>
        </p:txBody>
      </p:sp>
      <p:sp>
        <p:nvSpPr>
          <p:cNvPr id="34" name="Shape 32"/>
          <p:cNvSpPr/>
          <p:nvPr/>
        </p:nvSpPr>
        <p:spPr>
          <a:xfrm>
            <a:off x="8035925" y="2516814"/>
            <a:ext cx="3333750" cy="2451894"/>
          </a:xfrm>
          <a:prstGeom prst="roundRect">
            <a:avLst>
              <a:gd name="adj" fmla="val 3755"/>
            </a:avLst>
          </a:prstGeom>
          <a:solidFill>
            <a:srgbClr val="FFFFFF"/>
          </a:solidFill>
          <a:ln w="19050">
            <a:solidFill>
              <a:srgbClr val="0B7F58"/>
            </a:solidFill>
            <a:prstDash val="solid"/>
          </a:ln>
        </p:spPr>
      </p:sp>
      <p:sp>
        <p:nvSpPr>
          <p:cNvPr id="35" name="Shape 33"/>
          <p:cNvSpPr/>
          <p:nvPr/>
        </p:nvSpPr>
        <p:spPr>
          <a:xfrm>
            <a:off x="8044543" y="2525430"/>
            <a:ext cx="3316515" cy="604497"/>
          </a:xfrm>
          <a:custGeom>
            <a:avLst/>
            <a:gdLst/>
            <a:ahLst/>
            <a:cxnLst/>
            <a:rect l="l" t="t" r="r" b="b"/>
            <a:pathLst>
              <a:path w="3316515" h="604497">
                <a:moveTo>
                  <a:pt x="0" y="83457"/>
                </a:moveTo>
                <a:arcTo wR="83457" hR="83457" stAng="10800000" swAng="5400000"/>
                <a:lnTo>
                  <a:pt x="3233057" y="0"/>
                </a:lnTo>
                <a:arcTo wR="83457" hR="83457" stAng="16200000" swAng="5400000"/>
                <a:lnTo>
                  <a:pt x="3316515" y="604497"/>
                </a:lnTo>
                <a:lnTo>
                  <a:pt x="0" y="604497"/>
                </a:lnTo>
                <a:close/>
              </a:path>
            </a:pathLst>
          </a:custGeom>
          <a:solidFill>
            <a:srgbClr val="0B7F58"/>
          </a:solidFill>
          <a:ln/>
        </p:spPr>
      </p:sp>
      <p:sp>
        <p:nvSpPr>
          <p:cNvPr id="36" name="Text 34"/>
          <p:cNvSpPr/>
          <p:nvPr/>
        </p:nvSpPr>
        <p:spPr>
          <a:xfrm>
            <a:off x="8151767" y="2614330"/>
            <a:ext cx="3102066" cy="452097"/>
          </a:xfrm>
          <a:prstGeom prst="rect">
            <a:avLst/>
          </a:prstGeom>
          <a:noFill/>
          <a:ln/>
        </p:spPr>
        <p:txBody>
          <a:bodyPr wrap="square" lIns="0" tIns="0" rIns="0" bIns="0" rtlCol="0" anchor="t">
            <a:normAutofit/>
          </a:bodyPr>
          <a:lstStyle/>
          <a:p>
            <a:pPr marL="0" indent="0" algn="ctr">
              <a:lnSpc>
                <a:spcPts val="3360"/>
              </a:lnSpc>
              <a:buNone/>
            </a:pPr>
            <a:r>
              <a:rPr lang="en-US" sz="2400" b="1" dirty="0">
                <a:solidFill>
                  <a:srgbClr val="FDFDFB"/>
                </a:solidFill>
                <a:latin typeface="Times New Roman" panose="02020603050405020304" pitchFamily="18" charset="0"/>
                <a:ea typeface="Tinos" pitchFamily="34" charset="-122"/>
                <a:cs typeface="Times New Roman" panose="02020603050405020304" pitchFamily="18" charset="0"/>
              </a:rPr>
              <a:t>Ngân hàng bộ lọc</a:t>
            </a:r>
            <a:endParaRPr lang="en-US" sz="2400" dirty="0">
              <a:latin typeface="Times New Roman" panose="02020603050405020304" pitchFamily="18" charset="0"/>
              <a:cs typeface="Times New Roman" panose="02020603050405020304" pitchFamily="18" charset="0"/>
            </a:endParaRPr>
          </a:p>
        </p:txBody>
      </p:sp>
      <p:sp>
        <p:nvSpPr>
          <p:cNvPr id="37" name="Text 35"/>
          <p:cNvSpPr/>
          <p:nvPr/>
        </p:nvSpPr>
        <p:spPr>
          <a:xfrm>
            <a:off x="8247743" y="3282327"/>
            <a:ext cx="2997418"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B7F58"/>
                </a:solidFill>
                <a:latin typeface="Times New Roman" panose="02020603050405020304" pitchFamily="18" charset="0"/>
                <a:ea typeface="Open Sans" pitchFamily="34" charset="-122"/>
                <a:cs typeface="Times New Roman" panose="02020603050405020304" pitchFamily="18" charset="0"/>
              </a:rPr>
              <a:t>14 bộ cộng hưởng song song</a:t>
            </a:r>
            <a:endParaRPr lang="en-US" sz="1500" dirty="0">
              <a:latin typeface="Times New Roman" panose="02020603050405020304" pitchFamily="18" charset="0"/>
              <a:cs typeface="Times New Roman" panose="02020603050405020304" pitchFamily="18" charset="0"/>
            </a:endParaRPr>
          </a:p>
        </p:txBody>
      </p:sp>
      <p:sp>
        <p:nvSpPr>
          <p:cNvPr id="38" name="Shape 36"/>
          <p:cNvSpPr/>
          <p:nvPr/>
        </p:nvSpPr>
        <p:spPr>
          <a:xfrm>
            <a:off x="8247743" y="3631577"/>
            <a:ext cx="2910114" cy="0"/>
          </a:xfrm>
          <a:prstGeom prst="line">
            <a:avLst/>
          </a:prstGeom>
          <a:noFill/>
          <a:ln w="6350">
            <a:solidFill>
              <a:srgbClr val="DDE1E7"/>
            </a:solidFill>
            <a:prstDash val="solid"/>
          </a:ln>
        </p:spPr>
      </p:sp>
      <p:sp>
        <p:nvSpPr>
          <p:cNvPr id="39" name="Text 37"/>
          <p:cNvSpPr/>
          <p:nvPr/>
        </p:nvSpPr>
        <p:spPr>
          <a:xfrm>
            <a:off x="8247743" y="3724560"/>
            <a:ext cx="545306"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Khung</a:t>
            </a:r>
            <a:endParaRPr lang="en-US" sz="1300" dirty="0">
              <a:latin typeface="Times New Roman" panose="02020603050405020304" pitchFamily="18" charset="0"/>
              <a:cs typeface="Times New Roman" panose="02020603050405020304" pitchFamily="18" charset="0"/>
            </a:endParaRPr>
          </a:p>
        </p:txBody>
      </p:sp>
      <p:sp>
        <p:nvSpPr>
          <p:cNvPr id="40" name="Text 38"/>
          <p:cNvSpPr/>
          <p:nvPr/>
        </p:nvSpPr>
        <p:spPr>
          <a:xfrm>
            <a:off x="10468315" y="3695533"/>
            <a:ext cx="74034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N = 205</a:t>
            </a:r>
            <a:endParaRPr lang="en-US" sz="1500" dirty="0">
              <a:latin typeface="Times New Roman" panose="02020603050405020304" pitchFamily="18" charset="0"/>
              <a:cs typeface="Times New Roman" panose="02020603050405020304" pitchFamily="18" charset="0"/>
            </a:endParaRPr>
          </a:p>
        </p:txBody>
      </p:sp>
      <p:sp>
        <p:nvSpPr>
          <p:cNvPr id="41" name="Shape 39"/>
          <p:cNvSpPr/>
          <p:nvPr/>
        </p:nvSpPr>
        <p:spPr>
          <a:xfrm>
            <a:off x="8247743" y="4054308"/>
            <a:ext cx="2910114" cy="0"/>
          </a:xfrm>
          <a:prstGeom prst="line">
            <a:avLst/>
          </a:prstGeom>
          <a:noFill/>
          <a:ln w="6350">
            <a:solidFill>
              <a:srgbClr val="DDE1E7"/>
            </a:solidFill>
            <a:prstDash val="solid"/>
          </a:ln>
        </p:spPr>
      </p:sp>
      <p:sp>
        <p:nvSpPr>
          <p:cNvPr id="42" name="Text 40"/>
          <p:cNvSpPr/>
          <p:nvPr/>
        </p:nvSpPr>
        <p:spPr>
          <a:xfrm>
            <a:off x="8247743" y="4147288"/>
            <a:ext cx="933337"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Băng thông</a:t>
            </a:r>
            <a:endParaRPr lang="en-US" sz="1300" dirty="0">
              <a:latin typeface="Times New Roman" panose="02020603050405020304" pitchFamily="18" charset="0"/>
              <a:cs typeface="Times New Roman" panose="02020603050405020304" pitchFamily="18" charset="0"/>
            </a:endParaRPr>
          </a:p>
        </p:txBody>
      </p:sp>
      <p:sp>
        <p:nvSpPr>
          <p:cNvPr id="43" name="Text 41"/>
          <p:cNvSpPr/>
          <p:nvPr/>
        </p:nvSpPr>
        <p:spPr>
          <a:xfrm>
            <a:off x="10330146" y="4118260"/>
            <a:ext cx="87851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 25,5 Hz</a:t>
            </a:r>
            <a:endParaRPr lang="en-US" sz="1500" dirty="0">
              <a:latin typeface="Times New Roman" panose="02020603050405020304" pitchFamily="18" charset="0"/>
              <a:cs typeface="Times New Roman" panose="02020603050405020304" pitchFamily="18" charset="0"/>
            </a:endParaRPr>
          </a:p>
        </p:txBody>
      </p:sp>
      <p:sp>
        <p:nvSpPr>
          <p:cNvPr id="44" name="Shape 42"/>
          <p:cNvSpPr/>
          <p:nvPr/>
        </p:nvSpPr>
        <p:spPr>
          <a:xfrm>
            <a:off x="8247743" y="4477035"/>
            <a:ext cx="2910114" cy="0"/>
          </a:xfrm>
          <a:prstGeom prst="line">
            <a:avLst/>
          </a:prstGeom>
          <a:noFill/>
          <a:ln w="6350">
            <a:solidFill>
              <a:srgbClr val="DDE1E7"/>
            </a:solidFill>
            <a:prstDash val="solid"/>
          </a:ln>
        </p:spPr>
      </p:sp>
      <p:sp>
        <p:nvSpPr>
          <p:cNvPr id="45" name="Text 43"/>
          <p:cNvSpPr/>
          <p:nvPr/>
        </p:nvSpPr>
        <p:spPr>
          <a:xfrm>
            <a:off x="8247743" y="4570019"/>
            <a:ext cx="1022747"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Phép nhân/s</a:t>
            </a:r>
            <a:endParaRPr lang="en-US" sz="1300" dirty="0">
              <a:latin typeface="Times New Roman" panose="02020603050405020304" pitchFamily="18" charset="0"/>
              <a:cs typeface="Times New Roman" panose="02020603050405020304" pitchFamily="18" charset="0"/>
            </a:endParaRPr>
          </a:p>
        </p:txBody>
      </p:sp>
      <p:sp>
        <p:nvSpPr>
          <p:cNvPr id="46" name="Text 44"/>
          <p:cNvSpPr/>
          <p:nvPr/>
        </p:nvSpPr>
        <p:spPr>
          <a:xfrm>
            <a:off x="10454822" y="4540988"/>
            <a:ext cx="75383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Times New Roman" panose="02020603050405020304" pitchFamily="18" charset="0"/>
                <a:ea typeface="Open Sans" pitchFamily="34" charset="-122"/>
                <a:cs typeface="Times New Roman" panose="02020603050405020304" pitchFamily="18" charset="0"/>
              </a:rPr>
              <a:t>672 000</a:t>
            </a:r>
            <a:endParaRPr lang="en-US" sz="1500" dirty="0">
              <a:latin typeface="Times New Roman" panose="02020603050405020304" pitchFamily="18" charset="0"/>
              <a:cs typeface="Times New Roman" panose="02020603050405020304" pitchFamily="18" charset="0"/>
            </a:endParaRPr>
          </a:p>
        </p:txBody>
      </p:sp>
      <p:sp>
        <p:nvSpPr>
          <p:cNvPr id="47" name="Shape 45"/>
          <p:cNvSpPr/>
          <p:nvPr/>
        </p:nvSpPr>
        <p:spPr>
          <a:xfrm>
            <a:off x="819150" y="5759338"/>
            <a:ext cx="1327774" cy="417966"/>
          </a:xfrm>
          <a:prstGeom prst="roundRect">
            <a:avLst>
              <a:gd name="adj" fmla="val 16712"/>
            </a:avLst>
          </a:prstGeom>
          <a:solidFill>
            <a:srgbClr val="E2EFDA"/>
          </a:solidFill>
          <a:ln w="12700">
            <a:solidFill>
              <a:srgbClr val="2E9E4F"/>
            </a:solidFill>
            <a:prstDash val="solid"/>
          </a:ln>
        </p:spPr>
      </p:sp>
      <p:sp>
        <p:nvSpPr>
          <p:cNvPr id="48" name="Text 46"/>
          <p:cNvSpPr/>
          <p:nvPr/>
        </p:nvSpPr>
        <p:spPr>
          <a:xfrm>
            <a:off x="874486" y="5852774"/>
            <a:ext cx="1217102" cy="256495"/>
          </a:xfrm>
          <a:prstGeom prst="rect">
            <a:avLst/>
          </a:prstGeom>
          <a:noFill/>
          <a:ln/>
        </p:spPr>
        <p:txBody>
          <a:bodyPr wrap="square" lIns="0" tIns="0" rIns="0" bIns="0" rtlCol="0" anchor="t">
            <a:normAutofit/>
          </a:bodyPr>
          <a:lstStyle/>
          <a:p>
            <a:pPr marL="0" indent="0" algn="ctr">
              <a:lnSpc>
                <a:spcPts val="182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Chia khung</a:t>
            </a:r>
            <a:endParaRPr lang="en-US" sz="1400" dirty="0">
              <a:latin typeface="Times New Roman" panose="02020603050405020304" pitchFamily="18" charset="0"/>
              <a:cs typeface="Times New Roman" panose="02020603050405020304" pitchFamily="18" charset="0"/>
            </a:endParaRPr>
          </a:p>
        </p:txBody>
      </p:sp>
      <p:pic>
        <p:nvPicPr>
          <p:cNvPr id="49" name="Image 0" descr="arrow-right"/>
          <p:cNvPicPr>
            <a:picLocks noChangeAspect="1"/>
          </p:cNvPicPr>
          <p:nvPr/>
        </p:nvPicPr>
        <p:blipFill>
          <a:blip r:embed="rId3"/>
          <a:srcRect/>
          <a:stretch/>
        </p:blipFill>
        <p:spPr>
          <a:xfrm>
            <a:off x="2229474" y="5885771"/>
            <a:ext cx="279400" cy="165100"/>
          </a:xfrm>
          <a:prstGeom prst="rect">
            <a:avLst/>
          </a:prstGeom>
        </p:spPr>
      </p:pic>
      <p:sp>
        <p:nvSpPr>
          <p:cNvPr id="50" name="Shape 47"/>
          <p:cNvSpPr/>
          <p:nvPr/>
        </p:nvSpPr>
        <p:spPr>
          <a:xfrm>
            <a:off x="2594599" y="5755255"/>
            <a:ext cx="1685868" cy="426130"/>
          </a:xfrm>
          <a:prstGeom prst="roundRect">
            <a:avLst>
              <a:gd name="adj" fmla="val 15647"/>
            </a:avLst>
          </a:prstGeom>
          <a:solidFill>
            <a:srgbClr val="FCE4D6"/>
          </a:solidFill>
          <a:ln w="19050">
            <a:solidFill>
              <a:srgbClr val="C55A11"/>
            </a:solidFill>
            <a:prstDash val="solid"/>
          </a:ln>
        </p:spPr>
      </p:sp>
      <p:sp>
        <p:nvSpPr>
          <p:cNvPr id="51" name="Text 48"/>
          <p:cNvSpPr/>
          <p:nvPr/>
        </p:nvSpPr>
        <p:spPr>
          <a:xfrm>
            <a:off x="2654017" y="5852773"/>
            <a:ext cx="1567033" cy="256495"/>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9C3F0A"/>
                </a:solidFill>
                <a:latin typeface="Times New Roman" panose="02020603050405020304" pitchFamily="18" charset="0"/>
                <a:ea typeface="Open Sans" pitchFamily="34" charset="-122"/>
                <a:cs typeface="Times New Roman" panose="02020603050405020304" pitchFamily="18" charset="0"/>
              </a:rPr>
              <a:t>Đo công suất</a:t>
            </a:r>
            <a:endParaRPr lang="en-US" sz="1400" dirty="0">
              <a:latin typeface="Times New Roman" panose="02020603050405020304" pitchFamily="18" charset="0"/>
              <a:cs typeface="Times New Roman" panose="02020603050405020304" pitchFamily="18" charset="0"/>
            </a:endParaRPr>
          </a:p>
        </p:txBody>
      </p:sp>
      <p:pic>
        <p:nvPicPr>
          <p:cNvPr id="52" name="Image 1" descr="arrow-right"/>
          <p:cNvPicPr>
            <a:picLocks noChangeAspect="1"/>
          </p:cNvPicPr>
          <p:nvPr/>
        </p:nvPicPr>
        <p:blipFill>
          <a:blip r:embed="rId3"/>
          <a:srcRect/>
          <a:stretch/>
        </p:blipFill>
        <p:spPr>
          <a:xfrm>
            <a:off x="4366192" y="5885771"/>
            <a:ext cx="279400" cy="165100"/>
          </a:xfrm>
          <a:prstGeom prst="rect">
            <a:avLst/>
          </a:prstGeom>
        </p:spPr>
      </p:pic>
      <p:sp>
        <p:nvSpPr>
          <p:cNvPr id="53" name="Shape 49"/>
          <p:cNvSpPr/>
          <p:nvPr/>
        </p:nvSpPr>
        <p:spPr>
          <a:xfrm>
            <a:off x="4728142" y="5759338"/>
            <a:ext cx="1327830" cy="417966"/>
          </a:xfrm>
          <a:prstGeom prst="roundRect">
            <a:avLst>
              <a:gd name="adj" fmla="val 16712"/>
            </a:avLst>
          </a:prstGeom>
          <a:solidFill>
            <a:srgbClr val="E2EFDA"/>
          </a:solidFill>
          <a:ln w="12700">
            <a:solidFill>
              <a:srgbClr val="2E9E4F"/>
            </a:solidFill>
            <a:prstDash val="solid"/>
          </a:ln>
        </p:spPr>
      </p:sp>
      <p:sp>
        <p:nvSpPr>
          <p:cNvPr id="54" name="Text 50"/>
          <p:cNvSpPr/>
          <p:nvPr/>
        </p:nvSpPr>
        <p:spPr>
          <a:xfrm>
            <a:off x="4783478" y="5852774"/>
            <a:ext cx="1217159" cy="256495"/>
          </a:xfrm>
          <a:prstGeom prst="rect">
            <a:avLst/>
          </a:prstGeom>
          <a:noFill/>
          <a:ln/>
        </p:spPr>
        <p:txBody>
          <a:bodyPr wrap="square" lIns="0" tIns="0" rIns="0" bIns="0" rtlCol="0" anchor="t">
            <a:normAutofit/>
          </a:bodyPr>
          <a:lstStyle/>
          <a:p>
            <a:pPr marL="0" indent="0" algn="ctr">
              <a:lnSpc>
                <a:spcPts val="182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Chuẩn hoá</a:t>
            </a:r>
            <a:endParaRPr lang="en-US" sz="1400" dirty="0">
              <a:latin typeface="Times New Roman" panose="02020603050405020304" pitchFamily="18" charset="0"/>
              <a:cs typeface="Times New Roman" panose="02020603050405020304" pitchFamily="18" charset="0"/>
            </a:endParaRPr>
          </a:p>
        </p:txBody>
      </p:sp>
      <p:pic>
        <p:nvPicPr>
          <p:cNvPr id="55" name="Image 2" descr="arrow-right"/>
          <p:cNvPicPr>
            <a:picLocks noChangeAspect="1"/>
          </p:cNvPicPr>
          <p:nvPr/>
        </p:nvPicPr>
        <p:blipFill>
          <a:blip r:embed="rId3"/>
          <a:srcRect/>
          <a:stretch/>
        </p:blipFill>
        <p:spPr>
          <a:xfrm>
            <a:off x="6138523" y="5885771"/>
            <a:ext cx="279400" cy="165100"/>
          </a:xfrm>
          <a:prstGeom prst="rect">
            <a:avLst/>
          </a:prstGeom>
        </p:spPr>
      </p:pic>
      <p:sp>
        <p:nvSpPr>
          <p:cNvPr id="56" name="Shape 51"/>
          <p:cNvSpPr/>
          <p:nvPr/>
        </p:nvSpPr>
        <p:spPr>
          <a:xfrm>
            <a:off x="6500473" y="5643792"/>
            <a:ext cx="1327774" cy="649061"/>
          </a:xfrm>
          <a:prstGeom prst="roundRect">
            <a:avLst>
              <a:gd name="adj" fmla="val 10762"/>
            </a:avLst>
          </a:prstGeom>
          <a:solidFill>
            <a:srgbClr val="E2EFDA"/>
          </a:solidFill>
          <a:ln w="12700">
            <a:solidFill>
              <a:srgbClr val="2E9E4F"/>
            </a:solidFill>
            <a:prstDash val="solid"/>
          </a:ln>
        </p:spPr>
      </p:sp>
      <p:sp>
        <p:nvSpPr>
          <p:cNvPr id="57" name="Text 52"/>
          <p:cNvSpPr/>
          <p:nvPr/>
        </p:nvSpPr>
        <p:spPr>
          <a:xfrm>
            <a:off x="6555808" y="5737228"/>
            <a:ext cx="1217102" cy="487589"/>
          </a:xfrm>
          <a:prstGeom prst="rect">
            <a:avLst/>
          </a:prstGeom>
          <a:noFill/>
          <a:ln/>
        </p:spPr>
        <p:txBody>
          <a:bodyPr wrap="square" lIns="0" tIns="0" rIns="0" bIns="0" rtlCol="0" anchor="t">
            <a:normAutofit/>
          </a:bodyPr>
          <a:lstStyle/>
          <a:p>
            <a:pPr marL="0" indent="0" algn="ctr">
              <a:lnSpc>
                <a:spcPts val="182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Chấp nhận khung</a:t>
            </a:r>
            <a:endParaRPr lang="en-US" sz="1400" dirty="0">
              <a:latin typeface="Times New Roman" panose="02020603050405020304" pitchFamily="18" charset="0"/>
              <a:cs typeface="Times New Roman" panose="02020603050405020304" pitchFamily="18" charset="0"/>
            </a:endParaRPr>
          </a:p>
        </p:txBody>
      </p:sp>
      <p:pic>
        <p:nvPicPr>
          <p:cNvPr id="58" name="Image 3" descr="arrow-right"/>
          <p:cNvPicPr>
            <a:picLocks noChangeAspect="1"/>
          </p:cNvPicPr>
          <p:nvPr/>
        </p:nvPicPr>
        <p:blipFill>
          <a:blip r:embed="rId3"/>
          <a:srcRect/>
          <a:stretch/>
        </p:blipFill>
        <p:spPr>
          <a:xfrm>
            <a:off x="7910796" y="5885771"/>
            <a:ext cx="279400" cy="165100"/>
          </a:xfrm>
          <a:prstGeom prst="rect">
            <a:avLst/>
          </a:prstGeom>
        </p:spPr>
      </p:pic>
      <p:sp>
        <p:nvSpPr>
          <p:cNvPr id="59" name="Shape 53"/>
          <p:cNvSpPr/>
          <p:nvPr/>
        </p:nvSpPr>
        <p:spPr>
          <a:xfrm>
            <a:off x="8272746" y="5759338"/>
            <a:ext cx="1327830" cy="417966"/>
          </a:xfrm>
          <a:prstGeom prst="roundRect">
            <a:avLst>
              <a:gd name="adj" fmla="val 16712"/>
            </a:avLst>
          </a:prstGeom>
          <a:solidFill>
            <a:srgbClr val="E2EFDA"/>
          </a:solidFill>
          <a:ln w="12700">
            <a:solidFill>
              <a:srgbClr val="2E9E4F"/>
            </a:solidFill>
            <a:prstDash val="solid"/>
          </a:ln>
        </p:spPr>
      </p:sp>
      <p:sp>
        <p:nvSpPr>
          <p:cNvPr id="60" name="Text 54"/>
          <p:cNvSpPr/>
          <p:nvPr/>
        </p:nvSpPr>
        <p:spPr>
          <a:xfrm>
            <a:off x="8328082" y="5852774"/>
            <a:ext cx="1217159" cy="256495"/>
          </a:xfrm>
          <a:prstGeom prst="rect">
            <a:avLst/>
          </a:prstGeom>
          <a:noFill/>
          <a:ln/>
        </p:spPr>
        <p:txBody>
          <a:bodyPr wrap="square" lIns="0" tIns="0" rIns="0" bIns="0" rtlCol="0" anchor="t">
            <a:normAutofit/>
          </a:bodyPr>
          <a:lstStyle/>
          <a:p>
            <a:pPr marL="0" indent="0" algn="ctr">
              <a:lnSpc>
                <a:spcPts val="182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Gộp khung</a:t>
            </a:r>
            <a:endParaRPr lang="en-US" sz="1400" dirty="0">
              <a:latin typeface="Times New Roman" panose="02020603050405020304" pitchFamily="18" charset="0"/>
              <a:cs typeface="Times New Roman" panose="02020603050405020304" pitchFamily="18" charset="0"/>
            </a:endParaRPr>
          </a:p>
        </p:txBody>
      </p:sp>
      <p:pic>
        <p:nvPicPr>
          <p:cNvPr id="61" name="Image 4" descr="arrow-right"/>
          <p:cNvPicPr>
            <a:picLocks noChangeAspect="1"/>
          </p:cNvPicPr>
          <p:nvPr/>
        </p:nvPicPr>
        <p:blipFill>
          <a:blip r:embed="rId3"/>
          <a:srcRect/>
          <a:stretch/>
        </p:blipFill>
        <p:spPr>
          <a:xfrm>
            <a:off x="9683127" y="5885771"/>
            <a:ext cx="279400" cy="165100"/>
          </a:xfrm>
          <a:prstGeom prst="rect">
            <a:avLst/>
          </a:prstGeom>
        </p:spPr>
      </p:pic>
      <p:sp>
        <p:nvSpPr>
          <p:cNvPr id="62" name="Shape 55"/>
          <p:cNvSpPr/>
          <p:nvPr/>
        </p:nvSpPr>
        <p:spPr>
          <a:xfrm>
            <a:off x="10045077" y="5759338"/>
            <a:ext cx="1327774" cy="417966"/>
          </a:xfrm>
          <a:prstGeom prst="roundRect">
            <a:avLst>
              <a:gd name="adj" fmla="val 16712"/>
            </a:avLst>
          </a:prstGeom>
          <a:solidFill>
            <a:srgbClr val="E2EFDA"/>
          </a:solidFill>
          <a:ln w="12700">
            <a:solidFill>
              <a:srgbClr val="2E9E4F"/>
            </a:solidFill>
            <a:prstDash val="solid"/>
          </a:ln>
        </p:spPr>
      </p:sp>
      <p:sp>
        <p:nvSpPr>
          <p:cNvPr id="63" name="Text 56"/>
          <p:cNvSpPr/>
          <p:nvPr/>
        </p:nvSpPr>
        <p:spPr>
          <a:xfrm>
            <a:off x="10100413" y="5852774"/>
            <a:ext cx="1217102" cy="256495"/>
          </a:xfrm>
          <a:prstGeom prst="rect">
            <a:avLst/>
          </a:prstGeom>
          <a:noFill/>
          <a:ln/>
        </p:spPr>
        <p:txBody>
          <a:bodyPr wrap="square" lIns="0" tIns="0" rIns="0" bIns="0" rtlCol="0" anchor="t">
            <a:normAutofit/>
          </a:bodyPr>
          <a:lstStyle/>
          <a:p>
            <a:pPr marL="0" indent="0" algn="ctr">
              <a:lnSpc>
                <a:spcPts val="182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Chuỗi phím</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7</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Một phím qua ba phương pháp</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2800" y="1473200"/>
            <a:ext cx="7874000" cy="4699000"/>
          </a:xfrm>
          <a:prstGeom prst="roundRect">
            <a:avLst>
              <a:gd name="adj" fmla="val 1081"/>
            </a:avLst>
          </a:prstGeom>
          <a:solidFill>
            <a:srgbClr val="FFFFFF"/>
          </a:solidFill>
          <a:ln/>
        </p:spPr>
      </p:sp>
      <p:pic>
        <p:nvPicPr>
          <p:cNvPr id="7" name="Image 0" descr="(a) Phổ đồ STFT chuỗi 0912345 ở SNR 20 dB; (b) phím 5 trên bàn phím; (c) phổ FFT, (d) 8 giá trị Goertzel, (e) đáp ứng ngân hàng bộ lọc cho phím 5"/>
          <p:cNvPicPr>
            <a:picLocks noChangeAspect="1"/>
          </p:cNvPicPr>
          <p:nvPr/>
        </p:nvPicPr>
        <p:blipFill>
          <a:blip r:embed="rId3"/>
          <a:srcRect l="-132" r="-132"/>
          <a:stretch/>
        </p:blipFill>
        <p:spPr>
          <a:xfrm>
            <a:off x="825500" y="1485900"/>
            <a:ext cx="7848600" cy="4673600"/>
          </a:xfrm>
          <a:prstGeom prst="roundRect">
            <a:avLst>
              <a:gd name="adj" fmla="val 815"/>
            </a:avLst>
          </a:prstGeom>
        </p:spPr>
      </p:pic>
      <p:sp>
        <p:nvSpPr>
          <p:cNvPr id="8" name="Shape 5"/>
          <p:cNvSpPr/>
          <p:nvPr/>
        </p:nvSpPr>
        <p:spPr>
          <a:xfrm>
            <a:off x="819150" y="1479550"/>
            <a:ext cx="7861300" cy="4686300"/>
          </a:xfrm>
          <a:prstGeom prst="roundRect">
            <a:avLst>
              <a:gd name="adj" fmla="val 949"/>
            </a:avLst>
          </a:prstGeom>
          <a:noFill/>
          <a:ln w="12700">
            <a:solidFill>
              <a:srgbClr val="DDE1E7"/>
            </a:solidFill>
            <a:prstDash val="solid"/>
          </a:ln>
        </p:spPr>
      </p:sp>
      <p:sp>
        <p:nvSpPr>
          <p:cNvPr id="9" name="Shape 6"/>
          <p:cNvSpPr/>
          <p:nvPr/>
        </p:nvSpPr>
        <p:spPr>
          <a:xfrm>
            <a:off x="9010651" y="2390208"/>
            <a:ext cx="0" cy="544796"/>
          </a:xfrm>
          <a:prstGeom prst="line">
            <a:avLst/>
          </a:prstGeom>
          <a:noFill/>
          <a:ln w="38100">
            <a:solidFill>
              <a:srgbClr val="1F3A5F"/>
            </a:solidFill>
            <a:prstDash val="solid"/>
          </a:ln>
        </p:spPr>
      </p:sp>
      <p:sp>
        <p:nvSpPr>
          <p:cNvPr id="10" name="Text 7"/>
          <p:cNvSpPr/>
          <p:nvPr/>
        </p:nvSpPr>
        <p:spPr>
          <a:xfrm>
            <a:off x="9154886" y="2390208"/>
            <a:ext cx="229104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A5F"/>
                </a:solidFill>
                <a:latin typeface="Times New Roman" panose="02020603050405020304" pitchFamily="18" charset="0"/>
                <a:ea typeface="Open Sans" pitchFamily="34" charset="-122"/>
                <a:cs typeface="Times New Roman" panose="02020603050405020304" pitchFamily="18" charset="0"/>
              </a:rPr>
              <a:t>(a) Phổ đồ</a:t>
            </a:r>
            <a:endParaRPr lang="en-US" sz="1500" dirty="0">
              <a:latin typeface="Times New Roman" panose="02020603050405020304" pitchFamily="18" charset="0"/>
              <a:cs typeface="Times New Roman" panose="02020603050405020304" pitchFamily="18" charset="0"/>
            </a:endParaRPr>
          </a:p>
        </p:txBody>
      </p:sp>
      <p:sp>
        <p:nvSpPr>
          <p:cNvPr id="11" name="Text 8"/>
          <p:cNvSpPr/>
          <p:nvPr/>
        </p:nvSpPr>
        <p:spPr>
          <a:xfrm>
            <a:off x="9154886" y="2695008"/>
            <a:ext cx="2291044"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Mỗi phím = 2 vạch ngang</a:t>
            </a:r>
            <a:endParaRPr lang="en-US" sz="1400" dirty="0">
              <a:latin typeface="Times New Roman" panose="02020603050405020304" pitchFamily="18" charset="0"/>
              <a:cs typeface="Times New Roman" panose="02020603050405020304" pitchFamily="18" charset="0"/>
            </a:endParaRPr>
          </a:p>
        </p:txBody>
      </p:sp>
      <p:sp>
        <p:nvSpPr>
          <p:cNvPr id="12" name="Shape 9"/>
          <p:cNvSpPr/>
          <p:nvPr/>
        </p:nvSpPr>
        <p:spPr>
          <a:xfrm>
            <a:off x="9010651" y="3163602"/>
            <a:ext cx="0" cy="544796"/>
          </a:xfrm>
          <a:prstGeom prst="line">
            <a:avLst/>
          </a:prstGeom>
          <a:noFill/>
          <a:ln w="38100">
            <a:solidFill>
              <a:srgbClr val="0B64A8"/>
            </a:solidFill>
            <a:prstDash val="solid"/>
          </a:ln>
        </p:spPr>
      </p:sp>
      <p:sp>
        <p:nvSpPr>
          <p:cNvPr id="13" name="Text 10"/>
          <p:cNvSpPr/>
          <p:nvPr/>
        </p:nvSpPr>
        <p:spPr>
          <a:xfrm>
            <a:off x="9154886" y="3163602"/>
            <a:ext cx="229104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64A8"/>
                </a:solidFill>
                <a:latin typeface="Times New Roman" panose="02020603050405020304" pitchFamily="18" charset="0"/>
                <a:ea typeface="Open Sans" pitchFamily="34" charset="-122"/>
                <a:cs typeface="Times New Roman" panose="02020603050405020304" pitchFamily="18" charset="0"/>
              </a:rPr>
              <a:t>(c) FFT</a:t>
            </a:r>
            <a:endParaRPr lang="en-US" sz="1500" dirty="0">
              <a:latin typeface="Times New Roman" panose="02020603050405020304" pitchFamily="18" charset="0"/>
              <a:cs typeface="Times New Roman" panose="02020603050405020304" pitchFamily="18" charset="0"/>
            </a:endParaRPr>
          </a:p>
        </p:txBody>
      </p:sp>
      <p:sp>
        <p:nvSpPr>
          <p:cNvPr id="14" name="Text 11"/>
          <p:cNvSpPr/>
          <p:nvPr/>
        </p:nvSpPr>
        <p:spPr>
          <a:xfrm>
            <a:off x="9154886" y="3468402"/>
            <a:ext cx="2291044"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Tính 256 bin, đọc 7 điểm</a:t>
            </a:r>
            <a:endParaRPr lang="en-US" sz="1400" dirty="0">
              <a:latin typeface="Times New Roman" panose="02020603050405020304" pitchFamily="18" charset="0"/>
              <a:cs typeface="Times New Roman" panose="02020603050405020304" pitchFamily="18" charset="0"/>
            </a:endParaRPr>
          </a:p>
        </p:txBody>
      </p:sp>
      <p:sp>
        <p:nvSpPr>
          <p:cNvPr id="15" name="Shape 12"/>
          <p:cNvSpPr/>
          <p:nvPr/>
        </p:nvSpPr>
        <p:spPr>
          <a:xfrm>
            <a:off x="9010651" y="3937000"/>
            <a:ext cx="0" cy="544796"/>
          </a:xfrm>
          <a:prstGeom prst="line">
            <a:avLst/>
          </a:prstGeom>
          <a:noFill/>
          <a:ln w="38100">
            <a:solidFill>
              <a:srgbClr val="B8480F"/>
            </a:solidFill>
            <a:prstDash val="solid"/>
          </a:ln>
        </p:spPr>
      </p:sp>
      <p:sp>
        <p:nvSpPr>
          <p:cNvPr id="16" name="Text 13"/>
          <p:cNvSpPr/>
          <p:nvPr/>
        </p:nvSpPr>
        <p:spPr>
          <a:xfrm>
            <a:off x="9154886" y="3937000"/>
            <a:ext cx="229104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8480F"/>
                </a:solidFill>
                <a:latin typeface="Times New Roman" panose="02020603050405020304" pitchFamily="18" charset="0"/>
                <a:ea typeface="Open Sans" pitchFamily="34" charset="-122"/>
                <a:cs typeface="Times New Roman" panose="02020603050405020304" pitchFamily="18" charset="0"/>
              </a:rPr>
              <a:t>(d) Goertzel</a:t>
            </a:r>
            <a:endParaRPr lang="en-US" sz="1500" dirty="0">
              <a:latin typeface="Times New Roman" panose="02020603050405020304" pitchFamily="18" charset="0"/>
              <a:cs typeface="Times New Roman" panose="02020603050405020304" pitchFamily="18" charset="0"/>
            </a:endParaRPr>
          </a:p>
        </p:txBody>
      </p:sp>
      <p:sp>
        <p:nvSpPr>
          <p:cNvPr id="17" name="Text 14"/>
          <p:cNvSpPr/>
          <p:nvPr/>
        </p:nvSpPr>
        <p:spPr>
          <a:xfrm>
            <a:off x="9154886" y="4241800"/>
            <a:ext cx="2291044"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Chỉ tính 8 điểm</a:t>
            </a:r>
            <a:endParaRPr lang="en-US" sz="1400" dirty="0">
              <a:latin typeface="Times New Roman" panose="02020603050405020304" pitchFamily="18" charset="0"/>
              <a:cs typeface="Times New Roman" panose="02020603050405020304" pitchFamily="18" charset="0"/>
            </a:endParaRPr>
          </a:p>
        </p:txBody>
      </p:sp>
      <p:sp>
        <p:nvSpPr>
          <p:cNvPr id="18" name="Shape 15"/>
          <p:cNvSpPr/>
          <p:nvPr/>
        </p:nvSpPr>
        <p:spPr>
          <a:xfrm>
            <a:off x="9010651" y="4710395"/>
            <a:ext cx="0" cy="544796"/>
          </a:xfrm>
          <a:prstGeom prst="line">
            <a:avLst/>
          </a:prstGeom>
          <a:noFill/>
          <a:ln w="38100">
            <a:solidFill>
              <a:srgbClr val="0B7F58"/>
            </a:solidFill>
            <a:prstDash val="solid"/>
          </a:ln>
        </p:spPr>
      </p:sp>
      <p:sp>
        <p:nvSpPr>
          <p:cNvPr id="19" name="Text 16"/>
          <p:cNvSpPr/>
          <p:nvPr/>
        </p:nvSpPr>
        <p:spPr>
          <a:xfrm>
            <a:off x="9154886" y="4710395"/>
            <a:ext cx="229104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7F58"/>
                </a:solidFill>
                <a:latin typeface="Times New Roman" panose="02020603050405020304" pitchFamily="18" charset="0"/>
                <a:ea typeface="Open Sans" pitchFamily="34" charset="-122"/>
                <a:cs typeface="Times New Roman" panose="02020603050405020304" pitchFamily="18" charset="0"/>
              </a:rPr>
              <a:t>(e) Ngân hàng lọc</a:t>
            </a:r>
            <a:endParaRPr lang="en-US" sz="1500" dirty="0">
              <a:latin typeface="Times New Roman" panose="02020603050405020304" pitchFamily="18" charset="0"/>
              <a:cs typeface="Times New Roman" panose="02020603050405020304" pitchFamily="18" charset="0"/>
            </a:endParaRPr>
          </a:p>
        </p:txBody>
      </p:sp>
      <p:sp>
        <p:nvSpPr>
          <p:cNvPr id="20" name="Text 17"/>
          <p:cNvSpPr/>
          <p:nvPr/>
        </p:nvSpPr>
        <p:spPr>
          <a:xfrm>
            <a:off x="9154886" y="5015195"/>
            <a:ext cx="2291044"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Mỗi bộ lọc bắt 1 tần số</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8</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Thuật toán Goertzel</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Cần 8 bin thì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chỉ tính 8 bin</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mỗi bin là một bộ lọc IIR bậc 2</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819150" y="2529908"/>
            <a:ext cx="5448300" cy="2122204"/>
          </a:xfrm>
          <a:prstGeom prst="roundRect">
            <a:avLst>
              <a:gd name="adj" fmla="val 3291"/>
            </a:avLst>
          </a:prstGeom>
          <a:solidFill>
            <a:srgbClr val="FFFFFF"/>
          </a:solidFill>
          <a:ln w="12700">
            <a:solidFill>
              <a:srgbClr val="33415C"/>
            </a:solidFill>
            <a:prstDash val="solid"/>
          </a:ln>
        </p:spPr>
      </p:sp>
      <p:sp>
        <p:nvSpPr>
          <p:cNvPr id="9" name="Text 7"/>
          <p:cNvSpPr/>
          <p:nvPr/>
        </p:nvSpPr>
        <p:spPr>
          <a:xfrm>
            <a:off x="1052286" y="2712244"/>
            <a:ext cx="5131490"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① Mỗi mẫu: 1 phép nhân</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1052286" y="3019537"/>
            <a:ext cx="5131490" cy="398746"/>
          </a:xfrm>
          <a:prstGeom prst="rect">
            <a:avLst/>
          </a:prstGeom>
          <a:noFill/>
          <a:ln/>
        </p:spPr>
        <p:txBody>
          <a:bodyPr wrap="square" lIns="0" tIns="0" rIns="0" bIns="0" rtlCol="0" anchor="t">
            <a:normAutofit/>
          </a:bodyPr>
          <a:lstStyle/>
          <a:p>
            <a:pPr marL="0" indent="0" algn="l">
              <a:lnSpc>
                <a:spcPts val="2940"/>
              </a:lnSpc>
              <a:buNone/>
            </a:pPr>
            <a:r>
              <a:rPr lang="en-US" sz="2100" i="1" dirty="0">
                <a:solidFill>
                  <a:srgbClr val="B8480F"/>
                </a:solidFill>
                <a:latin typeface="Times New Roman" panose="02020603050405020304" pitchFamily="18" charset="0"/>
                <a:ea typeface="Tinos" pitchFamily="34" charset="-122"/>
                <a:cs typeface="Times New Roman" panose="02020603050405020304" pitchFamily="18" charset="0"/>
              </a:rPr>
              <a:t>s[n] = x[n] + 2cos(2πk/N)·s[n−1] − s[n−2]</a:t>
            </a:r>
            <a:endParaRPr lang="en-US" sz="2100" dirty="0">
              <a:latin typeface="Times New Roman" panose="02020603050405020304" pitchFamily="18" charset="0"/>
              <a:cs typeface="Times New Roman" panose="02020603050405020304" pitchFamily="18" charset="0"/>
            </a:endParaRPr>
          </a:p>
        </p:txBody>
      </p:sp>
      <p:sp>
        <p:nvSpPr>
          <p:cNvPr id="11" name="Text 9"/>
          <p:cNvSpPr/>
          <p:nvPr/>
        </p:nvSpPr>
        <p:spPr>
          <a:xfrm>
            <a:off x="1052286" y="3469084"/>
            <a:ext cx="5131490"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② Cuối khung: công suất tại bin k</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1052286" y="3776377"/>
            <a:ext cx="5131490" cy="718797"/>
          </a:xfrm>
          <a:prstGeom prst="rect">
            <a:avLst/>
          </a:prstGeom>
          <a:noFill/>
          <a:ln/>
        </p:spPr>
        <p:txBody>
          <a:bodyPr wrap="square" lIns="0" tIns="0" rIns="0" bIns="0" rtlCol="0" anchor="t">
            <a:normAutofit/>
          </a:bodyPr>
          <a:lstStyle/>
          <a:p>
            <a:pPr marL="0" indent="0" algn="l">
              <a:lnSpc>
                <a:spcPts val="2730"/>
              </a:lnSpc>
              <a:buNone/>
            </a:pPr>
            <a:r>
              <a:rPr lang="en-US" sz="2100" i="1" dirty="0">
                <a:solidFill>
                  <a:srgbClr val="B8480F"/>
                </a:solidFill>
                <a:latin typeface="Times New Roman" panose="02020603050405020304" pitchFamily="18" charset="0"/>
                <a:ea typeface="Tinos" pitchFamily="34" charset="-122"/>
                <a:cs typeface="Times New Roman" panose="02020603050405020304" pitchFamily="18" charset="0"/>
              </a:rPr>
              <a:t>P = s²[N−1] + s²[N−2]</a:t>
            </a:r>
            <a:endParaRPr lang="en-US" sz="2100" dirty="0">
              <a:latin typeface="Times New Roman" panose="02020603050405020304" pitchFamily="18" charset="0"/>
              <a:cs typeface="Times New Roman" panose="02020603050405020304" pitchFamily="18" charset="0"/>
            </a:endParaRPr>
          </a:p>
          <a:p>
            <a:pPr marL="0" indent="0" algn="l">
              <a:lnSpc>
                <a:spcPts val="2730"/>
              </a:lnSpc>
              <a:buNone/>
            </a:pPr>
            <a:r>
              <a:rPr lang="en-US" sz="2100" i="1" dirty="0">
                <a:solidFill>
                  <a:srgbClr val="B8480F"/>
                </a:solidFill>
                <a:latin typeface="Times New Roman" panose="02020603050405020304" pitchFamily="18" charset="0"/>
                <a:ea typeface="Tinos" pitchFamily="34" charset="-122"/>
                <a:cs typeface="Times New Roman" panose="02020603050405020304" pitchFamily="18" charset="0"/>
              </a:rPr>
              <a:t>− 2cos(2πk/N)·s[N−1]·s[N−2]</a:t>
            </a:r>
            <a:endParaRPr lang="en-US" sz="2100" dirty="0">
              <a:latin typeface="Times New Roman" panose="02020603050405020304" pitchFamily="18" charset="0"/>
              <a:cs typeface="Times New Roman" panose="02020603050405020304" pitchFamily="18" charset="0"/>
            </a:endParaRPr>
          </a:p>
        </p:txBody>
      </p:sp>
      <p:sp>
        <p:nvSpPr>
          <p:cNvPr id="13" name="Shape 11"/>
          <p:cNvSpPr/>
          <p:nvPr/>
        </p:nvSpPr>
        <p:spPr>
          <a:xfrm>
            <a:off x="812800" y="4836260"/>
            <a:ext cx="2654300" cy="1041343"/>
          </a:xfrm>
          <a:prstGeom prst="roundRect">
            <a:avLst>
              <a:gd name="adj" fmla="val 8537"/>
            </a:avLst>
          </a:prstGeom>
          <a:solidFill>
            <a:srgbClr val="FBE5D6"/>
          </a:solidFill>
          <a:ln/>
        </p:spPr>
      </p:sp>
      <p:sp>
        <p:nvSpPr>
          <p:cNvPr id="14" name="Text 12"/>
          <p:cNvSpPr/>
          <p:nvPr/>
        </p:nvSpPr>
        <p:spPr>
          <a:xfrm>
            <a:off x="1472972" y="4966052"/>
            <a:ext cx="1333900" cy="556249"/>
          </a:xfrm>
          <a:prstGeom prst="rect">
            <a:avLst/>
          </a:prstGeom>
          <a:noFill/>
          <a:ln/>
        </p:spPr>
        <p:txBody>
          <a:bodyPr wrap="square" lIns="0" tIns="0" rIns="0" bIns="0" rtlCol="0" anchor="t">
            <a:normAutofit/>
          </a:bodyPr>
          <a:lstStyle/>
          <a:p>
            <a:pPr marL="0" indent="0" algn="ctr">
              <a:lnSpc>
                <a:spcPts val="4180"/>
              </a:lnSpc>
              <a:buNone/>
            </a:pPr>
            <a:r>
              <a:rPr lang="en-US" sz="3800" b="1" dirty="0">
                <a:solidFill>
                  <a:srgbClr val="B8480F"/>
                </a:solidFill>
                <a:latin typeface="Times New Roman" panose="02020603050405020304" pitchFamily="18" charset="0"/>
                <a:ea typeface="Tinos" pitchFamily="34" charset="-122"/>
                <a:cs typeface="Times New Roman" panose="02020603050405020304" pitchFamily="18" charset="0"/>
              </a:rPr>
              <a:t>1.672</a:t>
            </a:r>
            <a:endParaRPr lang="en-US" sz="3800" dirty="0">
              <a:latin typeface="Times New Roman" panose="02020603050405020304" pitchFamily="18" charset="0"/>
              <a:cs typeface="Times New Roman" panose="02020603050405020304" pitchFamily="18" charset="0"/>
            </a:endParaRPr>
          </a:p>
        </p:txBody>
      </p:sp>
      <p:sp>
        <p:nvSpPr>
          <p:cNvPr id="15" name="Text 13"/>
          <p:cNvSpPr/>
          <p:nvPr/>
        </p:nvSpPr>
        <p:spPr>
          <a:xfrm>
            <a:off x="1030402" y="5519511"/>
            <a:ext cx="2219040" cy="256495"/>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F2A44"/>
                </a:solidFill>
                <a:latin typeface="Times New Roman" panose="02020603050405020304" pitchFamily="18" charset="0"/>
                <a:ea typeface="Open Sans" pitchFamily="34" charset="-122"/>
                <a:cs typeface="Times New Roman" panose="02020603050405020304" pitchFamily="18" charset="0"/>
              </a:rPr>
              <a:t>phép nhân/khung · Goertzel</a:t>
            </a:r>
            <a:endParaRPr lang="en-US" sz="1300" dirty="0">
              <a:latin typeface="Times New Roman" panose="02020603050405020304" pitchFamily="18" charset="0"/>
              <a:cs typeface="Times New Roman" panose="02020603050405020304" pitchFamily="18" charset="0"/>
            </a:endParaRPr>
          </a:p>
        </p:txBody>
      </p:sp>
      <p:sp>
        <p:nvSpPr>
          <p:cNvPr id="16" name="Shape 14"/>
          <p:cNvSpPr/>
          <p:nvPr/>
        </p:nvSpPr>
        <p:spPr>
          <a:xfrm>
            <a:off x="3636735" y="4834448"/>
            <a:ext cx="2654300" cy="1041343"/>
          </a:xfrm>
          <a:prstGeom prst="roundRect">
            <a:avLst>
              <a:gd name="adj" fmla="val 8537"/>
            </a:avLst>
          </a:prstGeom>
          <a:solidFill>
            <a:srgbClr val="DEEBF7"/>
          </a:solidFill>
          <a:ln/>
        </p:spPr>
      </p:sp>
      <p:sp>
        <p:nvSpPr>
          <p:cNvPr id="17" name="Text 15"/>
          <p:cNvSpPr/>
          <p:nvPr/>
        </p:nvSpPr>
        <p:spPr>
          <a:xfrm>
            <a:off x="4237799" y="4944183"/>
            <a:ext cx="1452172" cy="556249"/>
          </a:xfrm>
          <a:prstGeom prst="rect">
            <a:avLst/>
          </a:prstGeom>
          <a:noFill/>
          <a:ln/>
        </p:spPr>
        <p:txBody>
          <a:bodyPr wrap="square" lIns="0" tIns="0" rIns="0" bIns="0" rtlCol="0" anchor="t">
            <a:normAutofit/>
          </a:bodyPr>
          <a:lstStyle/>
          <a:p>
            <a:pPr marL="0" indent="0" algn="ctr">
              <a:lnSpc>
                <a:spcPts val="4180"/>
              </a:lnSpc>
              <a:buNone/>
            </a:pPr>
            <a:r>
              <a:rPr lang="en-US" sz="3800" b="1" dirty="0">
                <a:solidFill>
                  <a:srgbClr val="0B64A8"/>
                </a:solidFill>
                <a:latin typeface="Times New Roman" panose="02020603050405020304" pitchFamily="18" charset="0"/>
                <a:ea typeface="Tinos" pitchFamily="34" charset="-122"/>
                <a:cs typeface="Times New Roman" panose="02020603050405020304" pitchFamily="18" charset="0"/>
              </a:rPr>
              <a:t>4.368</a:t>
            </a:r>
            <a:endParaRPr lang="en-US" sz="3800" dirty="0">
              <a:latin typeface="Times New Roman" panose="02020603050405020304" pitchFamily="18" charset="0"/>
              <a:cs typeface="Times New Roman" panose="02020603050405020304" pitchFamily="18" charset="0"/>
            </a:endParaRPr>
          </a:p>
        </p:txBody>
      </p:sp>
      <p:sp>
        <p:nvSpPr>
          <p:cNvPr id="18" name="Text 16"/>
          <p:cNvSpPr/>
          <p:nvPr/>
        </p:nvSpPr>
        <p:spPr>
          <a:xfrm>
            <a:off x="4037346" y="5519511"/>
            <a:ext cx="1818551" cy="256495"/>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F2A44"/>
                </a:solidFill>
                <a:latin typeface="Times New Roman" panose="02020603050405020304" pitchFamily="18" charset="0"/>
                <a:ea typeface="Open Sans" pitchFamily="34" charset="-122"/>
                <a:cs typeface="Times New Roman" panose="02020603050405020304" pitchFamily="18" charset="0"/>
              </a:rPr>
              <a:t>phép nhân/khung · FFT</a:t>
            </a:r>
            <a:endParaRPr lang="en-US" sz="1300" dirty="0">
              <a:latin typeface="Times New Roman" panose="02020603050405020304" pitchFamily="18" charset="0"/>
              <a:cs typeface="Times New Roman" panose="02020603050405020304" pitchFamily="18" charset="0"/>
            </a:endParaRPr>
          </a:p>
        </p:txBody>
      </p:sp>
      <p:sp>
        <p:nvSpPr>
          <p:cNvPr id="19" name="Shape 17"/>
          <p:cNvSpPr/>
          <p:nvPr/>
        </p:nvSpPr>
        <p:spPr>
          <a:xfrm>
            <a:off x="6648450" y="2896335"/>
            <a:ext cx="0" cy="905499"/>
          </a:xfrm>
          <a:prstGeom prst="line">
            <a:avLst/>
          </a:prstGeom>
          <a:noFill/>
          <a:ln w="38100">
            <a:solidFill>
              <a:srgbClr val="B8480F"/>
            </a:solidFill>
            <a:prstDash val="solid"/>
          </a:ln>
        </p:spPr>
      </p:sp>
      <p:sp>
        <p:nvSpPr>
          <p:cNvPr id="20" name="Text 18"/>
          <p:cNvSpPr/>
          <p:nvPr/>
        </p:nvSpPr>
        <p:spPr>
          <a:xfrm>
            <a:off x="6818086" y="2921735"/>
            <a:ext cx="4697948" cy="327649"/>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8480F"/>
                </a:solidFill>
                <a:latin typeface="Times New Roman" panose="02020603050405020304" pitchFamily="18" charset="0"/>
                <a:ea typeface="Open Sans" pitchFamily="34" charset="-122"/>
                <a:cs typeface="Times New Roman" panose="02020603050405020304" pitchFamily="18" charset="0"/>
              </a:rPr>
              <a:t>N = 205</a:t>
            </a:r>
            <a:endParaRPr lang="en-US" sz="1700" dirty="0">
              <a:latin typeface="Times New Roman" panose="02020603050405020304" pitchFamily="18" charset="0"/>
              <a:cs typeface="Times New Roman" panose="02020603050405020304" pitchFamily="18" charset="0"/>
            </a:endParaRPr>
          </a:p>
        </p:txBody>
      </p:sp>
      <p:sp>
        <p:nvSpPr>
          <p:cNvPr id="21" name="Text 19"/>
          <p:cNvSpPr/>
          <p:nvPr/>
        </p:nvSpPr>
        <p:spPr>
          <a:xfrm>
            <a:off x="6818086" y="3262086"/>
            <a:ext cx="469794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Bin lệch ≤ 1,36% so với tần số chuẩn (ITU-T cho ±1,5%)</a:t>
            </a:r>
            <a:endParaRPr lang="en-US" sz="1500" dirty="0">
              <a:latin typeface="Times New Roman" panose="02020603050405020304" pitchFamily="18" charset="0"/>
              <a:cs typeface="Times New Roman" panose="02020603050405020304" pitchFamily="18" charset="0"/>
            </a:endParaRPr>
          </a:p>
        </p:txBody>
      </p:sp>
      <p:sp>
        <p:nvSpPr>
          <p:cNvPr id="22" name="Shape 20"/>
          <p:cNvSpPr/>
          <p:nvPr/>
        </p:nvSpPr>
        <p:spPr>
          <a:xfrm>
            <a:off x="6648450" y="4005036"/>
            <a:ext cx="0" cy="648324"/>
          </a:xfrm>
          <a:prstGeom prst="line">
            <a:avLst/>
          </a:prstGeom>
          <a:noFill/>
          <a:ln w="38100">
            <a:solidFill>
              <a:srgbClr val="B8480F"/>
            </a:solidFill>
            <a:prstDash val="solid"/>
          </a:ln>
        </p:spPr>
      </p:sp>
      <p:sp>
        <p:nvSpPr>
          <p:cNvPr id="23" name="Text 21"/>
          <p:cNvSpPr/>
          <p:nvPr/>
        </p:nvSpPr>
        <p:spPr>
          <a:xfrm>
            <a:off x="6818086" y="4030436"/>
            <a:ext cx="4697948" cy="327649"/>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8480F"/>
                </a:solidFill>
                <a:latin typeface="Times New Roman" panose="02020603050405020304" pitchFamily="18" charset="0"/>
                <a:ea typeface="Open Sans" pitchFamily="34" charset="-122"/>
                <a:cs typeface="Times New Roman" panose="02020603050405020304" pitchFamily="18" charset="0"/>
              </a:rPr>
              <a:t>K &lt; 15,8 bin</a:t>
            </a:r>
            <a:endParaRPr lang="en-US" sz="1700" dirty="0">
              <a:latin typeface="Times New Roman" panose="02020603050405020304" pitchFamily="18" charset="0"/>
              <a:cs typeface="Times New Roman" panose="02020603050405020304" pitchFamily="18" charset="0"/>
            </a:endParaRPr>
          </a:p>
        </p:txBody>
      </p:sp>
      <p:sp>
        <p:nvSpPr>
          <p:cNvPr id="24" name="Text 22"/>
          <p:cNvSpPr/>
          <p:nvPr/>
        </p:nvSpPr>
        <p:spPr>
          <a:xfrm>
            <a:off x="6818086" y="4370781"/>
            <a:ext cx="469794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Ít phép nhân hơn FFT, DTMF chỉ cần 8</a:t>
            </a:r>
            <a:endParaRPr lang="en-US" sz="1500" dirty="0">
              <a:latin typeface="Times New Roman" panose="02020603050405020304" pitchFamily="18" charset="0"/>
              <a:cs typeface="Times New Roman" panose="02020603050405020304" pitchFamily="18" charset="0"/>
            </a:endParaRPr>
          </a:p>
        </p:txBody>
      </p:sp>
      <p:sp>
        <p:nvSpPr>
          <p:cNvPr id="25" name="Shape 23"/>
          <p:cNvSpPr/>
          <p:nvPr/>
        </p:nvSpPr>
        <p:spPr>
          <a:xfrm>
            <a:off x="6648450" y="4856556"/>
            <a:ext cx="0" cy="648324"/>
          </a:xfrm>
          <a:prstGeom prst="line">
            <a:avLst/>
          </a:prstGeom>
          <a:noFill/>
          <a:ln w="38100">
            <a:solidFill>
              <a:srgbClr val="B8480F"/>
            </a:solidFill>
            <a:prstDash val="solid"/>
          </a:ln>
        </p:spPr>
      </p:sp>
      <p:sp>
        <p:nvSpPr>
          <p:cNvPr id="26" name="Text 24"/>
          <p:cNvSpPr/>
          <p:nvPr/>
        </p:nvSpPr>
        <p:spPr>
          <a:xfrm>
            <a:off x="6818086" y="4881956"/>
            <a:ext cx="4697948" cy="327649"/>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8480F"/>
                </a:solidFill>
                <a:latin typeface="Times New Roman" panose="02020603050405020304" pitchFamily="18" charset="0"/>
                <a:ea typeface="Open Sans" pitchFamily="34" charset="-122"/>
                <a:cs typeface="Times New Roman" panose="02020603050405020304" pitchFamily="18" charset="0"/>
              </a:rPr>
              <a:t>Tự cài đặt</a:t>
            </a:r>
            <a:endParaRPr lang="en-US" sz="1700" dirty="0">
              <a:latin typeface="Times New Roman" panose="02020603050405020304" pitchFamily="18" charset="0"/>
              <a:cs typeface="Times New Roman" panose="02020603050405020304" pitchFamily="18" charset="0"/>
            </a:endParaRPr>
          </a:p>
        </p:txBody>
      </p:sp>
      <p:sp>
        <p:nvSpPr>
          <p:cNvPr id="27" name="Text 25"/>
          <p:cNvSpPr/>
          <p:nvPr/>
        </p:nvSpPr>
        <p:spPr>
          <a:xfrm>
            <a:off x="6818086" y="5222308"/>
            <a:ext cx="469794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Hàm goertzel của toolbox chỉ để đối chứng</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9</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Ngân hàng bộ lọc cộng hưởng</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Tín hiệu đi song song qua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14 bộ lọc thông dải hẹp</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đo năng lượng đầu ra mỗi khung</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2608546" y="2497534"/>
            <a:ext cx="6974908" cy="776117"/>
          </a:xfrm>
          <a:prstGeom prst="roundRect">
            <a:avLst>
              <a:gd name="adj" fmla="val 9000"/>
            </a:avLst>
          </a:prstGeom>
          <a:solidFill>
            <a:srgbClr val="FFFFFF"/>
          </a:solidFill>
          <a:ln w="12700">
            <a:solidFill>
              <a:srgbClr val="33415C"/>
            </a:solidFill>
            <a:prstDash val="solid"/>
          </a:ln>
        </p:spPr>
      </p:sp>
      <p:sp>
        <p:nvSpPr>
          <p:cNvPr id="9" name="Text 7"/>
          <p:cNvSpPr/>
          <p:nvPr/>
        </p:nvSpPr>
        <p:spPr>
          <a:xfrm>
            <a:off x="2874862" y="2654470"/>
            <a:ext cx="6442276" cy="487646"/>
          </a:xfrm>
          <a:prstGeom prst="rect">
            <a:avLst/>
          </a:prstGeom>
          <a:noFill/>
          <a:ln/>
        </p:spPr>
        <p:txBody>
          <a:bodyPr wrap="square" lIns="0" tIns="0" rIns="0" bIns="0" rtlCol="0" anchor="t">
            <a:normAutofit/>
          </a:bodyPr>
          <a:lstStyle/>
          <a:p>
            <a:pPr marL="0" indent="0" algn="ctr">
              <a:lnSpc>
                <a:spcPts val="3640"/>
              </a:lnSpc>
              <a:buNone/>
            </a:pPr>
            <a:r>
              <a:rPr lang="en-US" sz="2600" i="1" dirty="0">
                <a:solidFill>
                  <a:srgbClr val="0B7F58"/>
                </a:solidFill>
                <a:latin typeface="Times New Roman" panose="02020603050405020304" pitchFamily="18" charset="0"/>
                <a:ea typeface="Tinos" pitchFamily="34" charset="-122"/>
                <a:cs typeface="Times New Roman" panose="02020603050405020304" pitchFamily="18" charset="0"/>
              </a:rPr>
              <a:t>H(z) = G · (1 − z⁻²) / (1 − 2r·cos ω₀·z⁻¹ + r²·z⁻²)</a:t>
            </a:r>
            <a:endParaRPr lang="en-US" sz="2600" dirty="0">
              <a:latin typeface="Times New Roman" panose="02020603050405020304" pitchFamily="18" charset="0"/>
              <a:cs typeface="Times New Roman" panose="02020603050405020304" pitchFamily="18" charset="0"/>
            </a:endParaRPr>
          </a:p>
        </p:txBody>
      </p:sp>
      <p:sp>
        <p:nvSpPr>
          <p:cNvPr id="10" name="Shape 8"/>
          <p:cNvSpPr/>
          <p:nvPr/>
        </p:nvSpPr>
        <p:spPr>
          <a:xfrm>
            <a:off x="812800" y="3923171"/>
            <a:ext cx="3386648" cy="1194424"/>
          </a:xfrm>
          <a:prstGeom prst="roundRect">
            <a:avLst>
              <a:gd name="adj" fmla="val 8506"/>
            </a:avLst>
          </a:prstGeom>
          <a:solidFill>
            <a:srgbClr val="E8F5EE"/>
          </a:solidFill>
          <a:ln/>
        </p:spPr>
      </p:sp>
      <p:sp>
        <p:nvSpPr>
          <p:cNvPr id="11" name="Text 9"/>
          <p:cNvSpPr/>
          <p:nvPr/>
        </p:nvSpPr>
        <p:spPr>
          <a:xfrm>
            <a:off x="2264796" y="4100971"/>
            <a:ext cx="533400" cy="556249"/>
          </a:xfrm>
          <a:prstGeom prst="rect">
            <a:avLst/>
          </a:prstGeom>
          <a:noFill/>
          <a:ln/>
        </p:spPr>
        <p:txBody>
          <a:bodyPr wrap="square" lIns="0" tIns="0" rIns="0" bIns="0" rtlCol="0" anchor="t">
            <a:normAutofit/>
          </a:bodyPr>
          <a:lstStyle/>
          <a:p>
            <a:pPr marL="0" indent="0" algn="l">
              <a:lnSpc>
                <a:spcPts val="4180"/>
              </a:lnSpc>
              <a:buNone/>
            </a:pPr>
            <a:r>
              <a:rPr lang="en-US" sz="3800" b="1" dirty="0">
                <a:solidFill>
                  <a:srgbClr val="0B7F58"/>
                </a:solidFill>
                <a:latin typeface="Times New Roman" panose="02020603050405020304" pitchFamily="18" charset="0"/>
                <a:ea typeface="Tinos" pitchFamily="34" charset="-122"/>
                <a:cs typeface="Times New Roman" panose="02020603050405020304" pitchFamily="18" charset="0"/>
              </a:rPr>
              <a:t>14</a:t>
            </a:r>
            <a:endParaRPr lang="en-US" sz="3800" dirty="0">
              <a:latin typeface="Times New Roman" panose="02020603050405020304" pitchFamily="18" charset="0"/>
              <a:cs typeface="Times New Roman" panose="02020603050405020304" pitchFamily="18" charset="0"/>
            </a:endParaRPr>
          </a:p>
        </p:txBody>
      </p:sp>
      <p:sp>
        <p:nvSpPr>
          <p:cNvPr id="12" name="Text 10"/>
          <p:cNvSpPr/>
          <p:nvPr/>
        </p:nvSpPr>
        <p:spPr>
          <a:xfrm>
            <a:off x="1487821" y="4682617"/>
            <a:ext cx="2036548" cy="282575"/>
          </a:xfrm>
          <a:prstGeom prst="rect">
            <a:avLst/>
          </a:prstGeom>
          <a:noFill/>
          <a:ln/>
        </p:spPr>
        <p:txBody>
          <a:bodyPr wrap="square" lIns="0" tIns="0" rIns="0" bIns="0" rtlCol="0" anchor="t">
            <a:normAutofit/>
          </a:bodyPr>
          <a:lstStyle/>
          <a:p>
            <a:pPr marL="0" indent="0" algn="ctr">
              <a:lnSpc>
                <a:spcPts val="2025"/>
              </a:lnSpc>
              <a:buNone/>
            </a:pP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bộ lọc: 7 chuẩn + 7 hài</a:t>
            </a:r>
            <a:endParaRPr lang="en-US" sz="1500" dirty="0">
              <a:latin typeface="Times New Roman" panose="02020603050405020304" pitchFamily="18" charset="0"/>
              <a:cs typeface="Times New Roman" panose="02020603050405020304" pitchFamily="18" charset="0"/>
            </a:endParaRPr>
          </a:p>
        </p:txBody>
      </p:sp>
      <p:sp>
        <p:nvSpPr>
          <p:cNvPr id="13" name="Shape 11"/>
          <p:cNvSpPr/>
          <p:nvPr/>
        </p:nvSpPr>
        <p:spPr>
          <a:xfrm>
            <a:off x="4402648" y="3923171"/>
            <a:ext cx="3386705" cy="1194424"/>
          </a:xfrm>
          <a:prstGeom prst="roundRect">
            <a:avLst>
              <a:gd name="adj" fmla="val 8506"/>
            </a:avLst>
          </a:prstGeom>
          <a:solidFill>
            <a:srgbClr val="E8F5EE"/>
          </a:solidFill>
          <a:ln/>
        </p:spPr>
      </p:sp>
      <p:sp>
        <p:nvSpPr>
          <p:cNvPr id="14" name="Text 12"/>
          <p:cNvSpPr/>
          <p:nvPr/>
        </p:nvSpPr>
        <p:spPr>
          <a:xfrm>
            <a:off x="5312796" y="4100971"/>
            <a:ext cx="1617152" cy="556249"/>
          </a:xfrm>
          <a:prstGeom prst="rect">
            <a:avLst/>
          </a:prstGeom>
          <a:noFill/>
          <a:ln/>
        </p:spPr>
        <p:txBody>
          <a:bodyPr wrap="square" lIns="0" tIns="0" rIns="0" bIns="0" rtlCol="0" anchor="t">
            <a:normAutofit/>
          </a:bodyPr>
          <a:lstStyle/>
          <a:p>
            <a:pPr marL="0" indent="0" algn="l">
              <a:lnSpc>
                <a:spcPts val="4180"/>
              </a:lnSpc>
              <a:buNone/>
            </a:pPr>
            <a:r>
              <a:rPr lang="en-US" sz="3800" b="1" dirty="0">
                <a:solidFill>
                  <a:srgbClr val="0B7F58"/>
                </a:solidFill>
                <a:latin typeface="Times New Roman" panose="02020603050405020304" pitchFamily="18" charset="0"/>
                <a:ea typeface="Tinos" pitchFamily="34" charset="-122"/>
                <a:cs typeface="Times New Roman" panose="02020603050405020304" pitchFamily="18" charset="0"/>
              </a:rPr>
              <a:t>r = 0,99</a:t>
            </a:r>
            <a:endParaRPr lang="en-US" sz="3800" dirty="0">
              <a:latin typeface="Times New Roman" panose="02020603050405020304" pitchFamily="18" charset="0"/>
              <a:cs typeface="Times New Roman" panose="02020603050405020304" pitchFamily="18" charset="0"/>
            </a:endParaRPr>
          </a:p>
        </p:txBody>
      </p:sp>
      <p:sp>
        <p:nvSpPr>
          <p:cNvPr id="15" name="Text 13"/>
          <p:cNvSpPr/>
          <p:nvPr/>
        </p:nvSpPr>
        <p:spPr>
          <a:xfrm>
            <a:off x="5130343" y="4682617"/>
            <a:ext cx="1931258" cy="282575"/>
          </a:xfrm>
          <a:prstGeom prst="rect">
            <a:avLst/>
          </a:prstGeom>
          <a:noFill/>
          <a:ln/>
        </p:spPr>
        <p:txBody>
          <a:bodyPr wrap="square" lIns="0" tIns="0" rIns="0" bIns="0" rtlCol="0" anchor="t">
            <a:normAutofit/>
          </a:bodyPr>
          <a:lstStyle/>
          <a:p>
            <a:pPr marL="0" indent="0" algn="ctr">
              <a:lnSpc>
                <a:spcPts val="2025"/>
              </a:lnSpc>
              <a:buNone/>
            </a:pP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băng thông ≈ 25,5 Hz</a:t>
            </a:r>
            <a:endParaRPr lang="en-US" sz="1500" dirty="0">
              <a:latin typeface="Times New Roman" panose="02020603050405020304" pitchFamily="18" charset="0"/>
              <a:cs typeface="Times New Roman" panose="02020603050405020304" pitchFamily="18" charset="0"/>
            </a:endParaRPr>
          </a:p>
        </p:txBody>
      </p:sp>
      <p:sp>
        <p:nvSpPr>
          <p:cNvPr id="16" name="Shape 14"/>
          <p:cNvSpPr/>
          <p:nvPr/>
        </p:nvSpPr>
        <p:spPr>
          <a:xfrm>
            <a:off x="7992552" y="3923171"/>
            <a:ext cx="3386648" cy="1194424"/>
          </a:xfrm>
          <a:prstGeom prst="roundRect">
            <a:avLst>
              <a:gd name="adj" fmla="val 8506"/>
            </a:avLst>
          </a:prstGeom>
          <a:solidFill>
            <a:srgbClr val="E8F5EE"/>
          </a:solidFill>
          <a:ln/>
        </p:spPr>
      </p:sp>
      <p:sp>
        <p:nvSpPr>
          <p:cNvPr id="17" name="Text 15"/>
          <p:cNvSpPr/>
          <p:nvPr/>
        </p:nvSpPr>
        <p:spPr>
          <a:xfrm>
            <a:off x="9498183" y="4100971"/>
            <a:ext cx="426187" cy="556249"/>
          </a:xfrm>
          <a:prstGeom prst="rect">
            <a:avLst/>
          </a:prstGeom>
          <a:noFill/>
          <a:ln/>
        </p:spPr>
        <p:txBody>
          <a:bodyPr wrap="square" lIns="0" tIns="0" rIns="0" bIns="0" rtlCol="0" anchor="t">
            <a:normAutofit/>
          </a:bodyPr>
          <a:lstStyle/>
          <a:p>
            <a:pPr marL="0" indent="0" algn="l">
              <a:lnSpc>
                <a:spcPts val="4180"/>
              </a:lnSpc>
              <a:buNone/>
            </a:pPr>
            <a:r>
              <a:rPr lang="en-US" sz="3800" b="1" dirty="0">
                <a:solidFill>
                  <a:srgbClr val="0B7F58"/>
                </a:solidFill>
                <a:latin typeface="Times New Roman" panose="02020603050405020304" pitchFamily="18" charset="0"/>
                <a:ea typeface="Tinos" pitchFamily="34" charset="-122"/>
                <a:cs typeface="Times New Roman" panose="02020603050405020304" pitchFamily="18" charset="0"/>
              </a:rPr>
              <a:t>G</a:t>
            </a:r>
            <a:endParaRPr lang="en-US" sz="3800" dirty="0">
              <a:latin typeface="Times New Roman" panose="02020603050405020304" pitchFamily="18" charset="0"/>
              <a:cs typeface="Times New Roman" panose="02020603050405020304" pitchFamily="18" charset="0"/>
            </a:endParaRPr>
          </a:p>
        </p:txBody>
      </p:sp>
      <p:sp>
        <p:nvSpPr>
          <p:cNvPr id="18" name="Text 16"/>
          <p:cNvSpPr/>
          <p:nvPr/>
        </p:nvSpPr>
        <p:spPr>
          <a:xfrm>
            <a:off x="8919823" y="4682617"/>
            <a:ext cx="1532051" cy="282575"/>
          </a:xfrm>
          <a:prstGeom prst="rect">
            <a:avLst/>
          </a:prstGeom>
          <a:noFill/>
          <a:ln/>
        </p:spPr>
        <p:txBody>
          <a:bodyPr wrap="square" lIns="0" tIns="0" rIns="0" bIns="0" rtlCol="0" anchor="t">
            <a:normAutofit/>
          </a:bodyPr>
          <a:lstStyle/>
          <a:p>
            <a:pPr marL="0" indent="0" algn="ctr">
              <a:lnSpc>
                <a:spcPts val="2025"/>
              </a:lnSpc>
              <a:buNone/>
            </a:pP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độ lợi = 1 tại tâm</a:t>
            </a:r>
            <a:endParaRPr lang="en-US" sz="1500" dirty="0">
              <a:latin typeface="Times New Roman" panose="02020603050405020304" pitchFamily="18" charset="0"/>
              <a:cs typeface="Times New Roman" panose="02020603050405020304" pitchFamily="18" charset="0"/>
            </a:endParaRPr>
          </a:p>
        </p:txBody>
      </p:sp>
      <p:sp>
        <p:nvSpPr>
          <p:cNvPr id="19" name="Shape 17"/>
          <p:cNvSpPr/>
          <p:nvPr/>
        </p:nvSpPr>
        <p:spPr>
          <a:xfrm>
            <a:off x="812800" y="5760758"/>
            <a:ext cx="10566401" cy="538446"/>
          </a:xfrm>
          <a:prstGeom prst="roundRect">
            <a:avLst>
              <a:gd name="adj" fmla="val 14152"/>
            </a:avLst>
          </a:prstGeom>
          <a:solidFill>
            <a:srgbClr val="FFF2CC"/>
          </a:solidFill>
          <a:ln/>
        </p:spPr>
      </p:sp>
      <p:sp>
        <p:nvSpPr>
          <p:cNvPr id="20" name="Text 18"/>
          <p:cNvSpPr/>
          <p:nvPr/>
        </p:nvSpPr>
        <p:spPr>
          <a:xfrm>
            <a:off x="889762" y="5887758"/>
            <a:ext cx="10412477" cy="309846"/>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F2A44"/>
                </a:solidFill>
                <a:latin typeface="Times New Roman" panose="02020603050405020304" pitchFamily="18" charset="0"/>
                <a:ea typeface="Open Sans" pitchFamily="34" charset="-122"/>
                <a:cs typeface="Times New Roman" panose="02020603050405020304" pitchFamily="18" charset="0"/>
              </a:rPr>
              <a:t>Vì sao IIR?</a:t>
            </a: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 FIR cần bậc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hàng trăm</a:t>
            </a: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 cho dải 25 Hz, IIR bậc 2 chỉ cần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2 hệ số</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10</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Tiêu chí chấp nhận khung</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Khung chỉ được nhận là phím khi qua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đủ 5 điều kiện</a:t>
            </a:r>
            <a:endParaRPr lang="en-US" sz="1700" dirty="0">
              <a:latin typeface="Times New Roman" panose="02020603050405020304" pitchFamily="18" charset="0"/>
              <a:cs typeface="Times New Roman" panose="02020603050405020304" pitchFamily="18" charset="0"/>
            </a:endParaRPr>
          </a:p>
        </p:txBody>
      </p:sp>
      <p:pic>
        <p:nvPicPr>
          <p:cNvPr id="8" name="Image 0" descr="Công suất chuẩn hoá tại 8 tần số của một khung phím 5: hai cột cao tại 770 Hz và 1336 Hz, các tần số khác gần 0, đường ngưỡng hài đứt nét"/>
          <p:cNvPicPr>
            <a:picLocks noChangeAspect="1"/>
          </p:cNvPicPr>
          <p:nvPr/>
        </p:nvPicPr>
        <p:blipFill>
          <a:blip r:embed="rId3"/>
          <a:srcRect t="-67" b="-67"/>
          <a:stretch/>
        </p:blipFill>
        <p:spPr>
          <a:xfrm>
            <a:off x="812800" y="2599134"/>
            <a:ext cx="4445000" cy="2844800"/>
          </a:xfrm>
          <a:prstGeom prst="rect">
            <a:avLst/>
          </a:prstGeom>
        </p:spPr>
      </p:pic>
      <p:sp>
        <p:nvSpPr>
          <p:cNvPr id="9" name="Text 6"/>
          <p:cNvSpPr/>
          <p:nvPr/>
        </p:nvSpPr>
        <p:spPr>
          <a:xfrm>
            <a:off x="746125" y="5545534"/>
            <a:ext cx="4578350" cy="256495"/>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5A6478"/>
                </a:solidFill>
                <a:latin typeface="Times New Roman" panose="02020603050405020304" pitchFamily="18" charset="0"/>
                <a:ea typeface="Open Sans" pitchFamily="34" charset="-122"/>
                <a:cs typeface="Times New Roman" panose="02020603050405020304" pitchFamily="18" charset="0"/>
              </a:rPr>
              <a:t>Phím “5”: hai cột nổi tại 770 Hz và 1336 Hz</a:t>
            </a:r>
            <a:endParaRPr lang="en-US" sz="1300" dirty="0">
              <a:latin typeface="Times New Roman" panose="02020603050405020304" pitchFamily="18" charset="0"/>
              <a:cs typeface="Times New Roman" panose="02020603050405020304" pitchFamily="18" charset="0"/>
            </a:endParaRPr>
          </a:p>
        </p:txBody>
      </p:sp>
      <p:sp>
        <p:nvSpPr>
          <p:cNvPr id="10" name="Shape 7"/>
          <p:cNvSpPr/>
          <p:nvPr/>
        </p:nvSpPr>
        <p:spPr>
          <a:xfrm>
            <a:off x="5613400" y="2884884"/>
            <a:ext cx="381000" cy="381000"/>
          </a:xfrm>
          <a:prstGeom prst="roundRect">
            <a:avLst>
              <a:gd name="adj" fmla="val 50000"/>
            </a:avLst>
          </a:prstGeom>
          <a:solidFill>
            <a:srgbClr val="2E9E4F"/>
          </a:solidFill>
          <a:ln/>
        </p:spPr>
      </p:sp>
      <p:sp>
        <p:nvSpPr>
          <p:cNvPr id="11" name="Text 8"/>
          <p:cNvSpPr/>
          <p:nvPr/>
        </p:nvSpPr>
        <p:spPr>
          <a:xfrm>
            <a:off x="5588000" y="2884884"/>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1</a:t>
            </a:r>
            <a:endParaRPr lang="en-US" sz="1500" dirty="0">
              <a:latin typeface="Times New Roman" panose="02020603050405020304" pitchFamily="18" charset="0"/>
              <a:cs typeface="Times New Roman" panose="02020603050405020304" pitchFamily="18" charset="0"/>
            </a:endParaRPr>
          </a:p>
        </p:txBody>
      </p:sp>
      <p:sp>
        <p:nvSpPr>
          <p:cNvPr id="12" name="Shape 9"/>
          <p:cNvSpPr/>
          <p:nvPr/>
        </p:nvSpPr>
        <p:spPr>
          <a:xfrm>
            <a:off x="6121400" y="2854443"/>
            <a:ext cx="5257800" cy="441949"/>
          </a:xfrm>
          <a:prstGeom prst="roundRect">
            <a:avLst>
              <a:gd name="adj" fmla="val 14368"/>
            </a:avLst>
          </a:prstGeom>
          <a:solidFill>
            <a:srgbClr val="DEEBF7"/>
          </a:solidFill>
          <a:ln/>
        </p:spPr>
      </p:sp>
      <p:sp>
        <p:nvSpPr>
          <p:cNvPr id="13" name="Text 10"/>
          <p:cNvSpPr/>
          <p:nvPr/>
        </p:nvSpPr>
        <p:spPr>
          <a:xfrm>
            <a:off x="6273800" y="2943343"/>
            <a:ext cx="5101590" cy="289549"/>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Nhóm thấp: đỉnh vượt đỉnh nhì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 6 dB</a:t>
            </a:r>
            <a:endParaRPr lang="en-US" sz="1600" dirty="0">
              <a:latin typeface="Times New Roman" panose="02020603050405020304" pitchFamily="18" charset="0"/>
              <a:cs typeface="Times New Roman" panose="02020603050405020304" pitchFamily="18" charset="0"/>
            </a:endParaRPr>
          </a:p>
        </p:txBody>
      </p:sp>
      <p:sp>
        <p:nvSpPr>
          <p:cNvPr id="14" name="Shape 11"/>
          <p:cNvSpPr/>
          <p:nvPr/>
        </p:nvSpPr>
        <p:spPr>
          <a:xfrm>
            <a:off x="5613400" y="3441136"/>
            <a:ext cx="381000" cy="381000"/>
          </a:xfrm>
          <a:prstGeom prst="roundRect">
            <a:avLst>
              <a:gd name="adj" fmla="val 50000"/>
            </a:avLst>
          </a:prstGeom>
          <a:solidFill>
            <a:srgbClr val="2E9E4F"/>
          </a:solidFill>
          <a:ln/>
        </p:spPr>
      </p:sp>
      <p:sp>
        <p:nvSpPr>
          <p:cNvPr id="15" name="Text 12"/>
          <p:cNvSpPr/>
          <p:nvPr/>
        </p:nvSpPr>
        <p:spPr>
          <a:xfrm>
            <a:off x="5588000" y="3441136"/>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2</a:t>
            </a:r>
            <a:endParaRPr lang="en-US" sz="1500" dirty="0">
              <a:latin typeface="Times New Roman" panose="02020603050405020304" pitchFamily="18" charset="0"/>
              <a:cs typeface="Times New Roman" panose="02020603050405020304" pitchFamily="18" charset="0"/>
            </a:endParaRPr>
          </a:p>
        </p:txBody>
      </p:sp>
      <p:sp>
        <p:nvSpPr>
          <p:cNvPr id="16" name="Shape 13"/>
          <p:cNvSpPr/>
          <p:nvPr/>
        </p:nvSpPr>
        <p:spPr>
          <a:xfrm>
            <a:off x="6121400" y="3410688"/>
            <a:ext cx="5257800" cy="441949"/>
          </a:xfrm>
          <a:prstGeom prst="roundRect">
            <a:avLst>
              <a:gd name="adj" fmla="val 14368"/>
            </a:avLst>
          </a:prstGeom>
          <a:solidFill>
            <a:srgbClr val="E2EFDA"/>
          </a:solidFill>
          <a:ln/>
        </p:spPr>
      </p:sp>
      <p:sp>
        <p:nvSpPr>
          <p:cNvPr id="17" name="Text 14"/>
          <p:cNvSpPr/>
          <p:nvPr/>
        </p:nvSpPr>
        <p:spPr>
          <a:xfrm>
            <a:off x="6273800" y="3499588"/>
            <a:ext cx="5101590" cy="289549"/>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Nhóm cao: đỉnh vượt đỉnh nhì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 6 dB</a:t>
            </a:r>
            <a:endParaRPr lang="en-US" sz="1600" dirty="0">
              <a:latin typeface="Times New Roman" panose="02020603050405020304" pitchFamily="18" charset="0"/>
              <a:cs typeface="Times New Roman" panose="02020603050405020304" pitchFamily="18" charset="0"/>
            </a:endParaRPr>
          </a:p>
        </p:txBody>
      </p:sp>
      <p:sp>
        <p:nvSpPr>
          <p:cNvPr id="18" name="Shape 15"/>
          <p:cNvSpPr/>
          <p:nvPr/>
        </p:nvSpPr>
        <p:spPr>
          <a:xfrm>
            <a:off x="5613400" y="3997387"/>
            <a:ext cx="381000" cy="381000"/>
          </a:xfrm>
          <a:prstGeom prst="roundRect">
            <a:avLst>
              <a:gd name="adj" fmla="val 50000"/>
            </a:avLst>
          </a:prstGeom>
          <a:solidFill>
            <a:srgbClr val="2E9E4F"/>
          </a:solidFill>
          <a:ln/>
        </p:spPr>
      </p:sp>
      <p:sp>
        <p:nvSpPr>
          <p:cNvPr id="19" name="Text 16"/>
          <p:cNvSpPr/>
          <p:nvPr/>
        </p:nvSpPr>
        <p:spPr>
          <a:xfrm>
            <a:off x="5588000" y="3997387"/>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3</a:t>
            </a:r>
            <a:endParaRPr lang="en-US" sz="1500" dirty="0">
              <a:latin typeface="Times New Roman" panose="02020603050405020304" pitchFamily="18" charset="0"/>
              <a:cs typeface="Times New Roman" panose="02020603050405020304" pitchFamily="18" charset="0"/>
            </a:endParaRPr>
          </a:p>
        </p:txBody>
      </p:sp>
      <p:sp>
        <p:nvSpPr>
          <p:cNvPr id="20" name="Shape 17"/>
          <p:cNvSpPr/>
          <p:nvPr/>
        </p:nvSpPr>
        <p:spPr>
          <a:xfrm>
            <a:off x="6121400" y="3966939"/>
            <a:ext cx="5257800" cy="441949"/>
          </a:xfrm>
          <a:prstGeom prst="roundRect">
            <a:avLst>
              <a:gd name="adj" fmla="val 14368"/>
            </a:avLst>
          </a:prstGeom>
          <a:solidFill>
            <a:srgbClr val="FFF2CC"/>
          </a:solidFill>
          <a:ln/>
        </p:spPr>
      </p:sp>
      <p:sp>
        <p:nvSpPr>
          <p:cNvPr id="21" name="Text 18"/>
          <p:cNvSpPr/>
          <p:nvPr/>
        </p:nvSpPr>
        <p:spPr>
          <a:xfrm>
            <a:off x="6273800" y="4055839"/>
            <a:ext cx="5101590" cy="289549"/>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Twist trong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[−8, +4] dB</a:t>
            </a: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 (ITU-T Q.24)</a:t>
            </a:r>
            <a:endParaRPr lang="en-US" sz="1600" dirty="0">
              <a:latin typeface="Times New Roman" panose="02020603050405020304" pitchFamily="18" charset="0"/>
              <a:cs typeface="Times New Roman" panose="02020603050405020304" pitchFamily="18" charset="0"/>
            </a:endParaRPr>
          </a:p>
        </p:txBody>
      </p:sp>
      <p:sp>
        <p:nvSpPr>
          <p:cNvPr id="22" name="Shape 19"/>
          <p:cNvSpPr/>
          <p:nvPr/>
        </p:nvSpPr>
        <p:spPr>
          <a:xfrm>
            <a:off x="5613400" y="4553632"/>
            <a:ext cx="381000" cy="381000"/>
          </a:xfrm>
          <a:prstGeom prst="roundRect">
            <a:avLst>
              <a:gd name="adj" fmla="val 50000"/>
            </a:avLst>
          </a:prstGeom>
          <a:solidFill>
            <a:srgbClr val="2E9E4F"/>
          </a:solidFill>
          <a:ln/>
        </p:spPr>
      </p:sp>
      <p:sp>
        <p:nvSpPr>
          <p:cNvPr id="23" name="Text 20"/>
          <p:cNvSpPr/>
          <p:nvPr/>
        </p:nvSpPr>
        <p:spPr>
          <a:xfrm>
            <a:off x="5588000" y="4553632"/>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4</a:t>
            </a:r>
            <a:endParaRPr lang="en-US" sz="1500" dirty="0">
              <a:latin typeface="Times New Roman" panose="02020603050405020304" pitchFamily="18" charset="0"/>
              <a:cs typeface="Times New Roman" panose="02020603050405020304" pitchFamily="18" charset="0"/>
            </a:endParaRPr>
          </a:p>
        </p:txBody>
      </p:sp>
      <p:sp>
        <p:nvSpPr>
          <p:cNvPr id="24" name="Shape 21"/>
          <p:cNvSpPr/>
          <p:nvPr/>
        </p:nvSpPr>
        <p:spPr>
          <a:xfrm>
            <a:off x="6121400" y="4523184"/>
            <a:ext cx="5257800" cy="441949"/>
          </a:xfrm>
          <a:prstGeom prst="roundRect">
            <a:avLst>
              <a:gd name="adj" fmla="val 14368"/>
            </a:avLst>
          </a:prstGeom>
          <a:solidFill>
            <a:srgbClr val="FBE5D6"/>
          </a:solidFill>
          <a:ln/>
        </p:spPr>
      </p:sp>
      <p:sp>
        <p:nvSpPr>
          <p:cNvPr id="25" name="Text 22"/>
          <p:cNvSpPr/>
          <p:nvPr/>
        </p:nvSpPr>
        <p:spPr>
          <a:xfrm>
            <a:off x="6273800" y="4612084"/>
            <a:ext cx="5101590" cy="289549"/>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7 tần số giữ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 70%</a:t>
            </a: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 năng lượng (ρ ≥ 0,70)</a:t>
            </a:r>
            <a:endParaRPr lang="en-US" sz="1600" dirty="0">
              <a:latin typeface="Times New Roman" panose="02020603050405020304" pitchFamily="18" charset="0"/>
              <a:cs typeface="Times New Roman" panose="02020603050405020304" pitchFamily="18" charset="0"/>
            </a:endParaRPr>
          </a:p>
        </p:txBody>
      </p:sp>
      <p:sp>
        <p:nvSpPr>
          <p:cNvPr id="26" name="Shape 23"/>
          <p:cNvSpPr/>
          <p:nvPr/>
        </p:nvSpPr>
        <p:spPr>
          <a:xfrm>
            <a:off x="5613400" y="5109883"/>
            <a:ext cx="381000" cy="381000"/>
          </a:xfrm>
          <a:prstGeom prst="roundRect">
            <a:avLst>
              <a:gd name="adj" fmla="val 50000"/>
            </a:avLst>
          </a:prstGeom>
          <a:solidFill>
            <a:srgbClr val="2E9E4F"/>
          </a:solidFill>
          <a:ln/>
        </p:spPr>
      </p:sp>
      <p:sp>
        <p:nvSpPr>
          <p:cNvPr id="27" name="Text 24"/>
          <p:cNvSpPr/>
          <p:nvPr/>
        </p:nvSpPr>
        <p:spPr>
          <a:xfrm>
            <a:off x="5588000" y="5109883"/>
            <a:ext cx="431800" cy="406400"/>
          </a:xfrm>
          <a:prstGeom prst="rect">
            <a:avLst/>
          </a:prstGeom>
          <a:noFill/>
          <a:ln/>
        </p:spPr>
        <p:txBody>
          <a:bodyPr wrap="square" lIns="0" tIns="0" rIns="0" bIns="0" rtlCol="0" anchor="t">
            <a:normAutofit/>
          </a:bodyPr>
          <a:lstStyle/>
          <a:p>
            <a:pPr marL="0" indent="0" algn="ctr">
              <a:lnSpc>
                <a:spcPts val="3000"/>
              </a:lnSpc>
              <a:buNone/>
            </a:pPr>
            <a:r>
              <a:rPr lang="en-US" sz="1500" b="1" dirty="0">
                <a:solidFill>
                  <a:srgbClr val="FDFDFB"/>
                </a:solidFill>
                <a:latin typeface="Times New Roman" panose="02020603050405020304" pitchFamily="18" charset="0"/>
                <a:ea typeface="Open Sans" pitchFamily="34" charset="-122"/>
                <a:cs typeface="Times New Roman" panose="02020603050405020304" pitchFamily="18" charset="0"/>
              </a:rPr>
              <a:t>5</a:t>
            </a:r>
            <a:endParaRPr lang="en-US" sz="1500" dirty="0">
              <a:latin typeface="Times New Roman" panose="02020603050405020304" pitchFamily="18" charset="0"/>
              <a:cs typeface="Times New Roman" panose="02020603050405020304" pitchFamily="18" charset="0"/>
            </a:endParaRPr>
          </a:p>
        </p:txBody>
      </p:sp>
      <p:sp>
        <p:nvSpPr>
          <p:cNvPr id="28" name="Shape 25"/>
          <p:cNvSpPr/>
          <p:nvPr/>
        </p:nvSpPr>
        <p:spPr>
          <a:xfrm>
            <a:off x="6121400" y="5079436"/>
            <a:ext cx="5257800" cy="441949"/>
          </a:xfrm>
          <a:prstGeom prst="roundRect">
            <a:avLst>
              <a:gd name="adj" fmla="val 14368"/>
            </a:avLst>
          </a:prstGeom>
          <a:solidFill>
            <a:srgbClr val="EDEDED"/>
          </a:solidFill>
          <a:ln/>
        </p:spPr>
      </p:sp>
      <p:sp>
        <p:nvSpPr>
          <p:cNvPr id="29" name="Text 26"/>
          <p:cNvSpPr/>
          <p:nvPr/>
        </p:nvSpPr>
        <p:spPr>
          <a:xfrm>
            <a:off x="6273800" y="5168336"/>
            <a:ext cx="5101590" cy="289549"/>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Hài bậc 2 nhỏ →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loại tiếng nói</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11</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6"/>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Phần mềm DTMFApp</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6"/>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92"/>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Bấm phím · chọn phương pháp · kéo SNR →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giải mã và xem lý do</a:t>
            </a:r>
            <a:endParaRPr lang="en-US" sz="1700" dirty="0">
              <a:latin typeface="Times New Roman" panose="02020603050405020304" pitchFamily="18" charset="0"/>
              <a:cs typeface="Times New Roman" panose="02020603050405020304" pitchFamily="18" charset="0"/>
            </a:endParaRPr>
          </a:p>
        </p:txBody>
      </p:sp>
      <p:pic>
        <p:nvPicPr>
          <p:cNvPr id="8" name="Image 0" descr="Giao diện DTMFApp: bàn phím 12 nút, chuỗi 0912345, phương pháp Goertzel, SNR 20 dB, kết quả đọc được 0912345; bên phải dạng sóng, phổ đồ STFT và công suất chuẩn hoá theo bin"/>
          <p:cNvPicPr>
            <a:picLocks noChangeAspect="1"/>
          </p:cNvPicPr>
          <p:nvPr/>
        </p:nvPicPr>
        <p:blipFill>
          <a:blip r:embed="rId3"/>
          <a:srcRect/>
          <a:stretch/>
        </p:blipFill>
        <p:spPr>
          <a:xfrm>
            <a:off x="825500" y="2348003"/>
            <a:ext cx="6324600" cy="3679767"/>
          </a:xfrm>
          <a:prstGeom prst="roundRect">
            <a:avLst>
              <a:gd name="adj" fmla="val 988"/>
            </a:avLst>
          </a:prstGeom>
          <a:effectLst>
            <a:outerShdw blurRad="152400" dist="50800" dir="5400000" algn="bl" rotWithShape="0">
              <a:srgbClr val="1F2A44">
                <a:alpha val="12000"/>
              </a:srgbClr>
            </a:outerShdw>
          </a:effectLst>
        </p:spPr>
      </p:pic>
      <p:sp>
        <p:nvSpPr>
          <p:cNvPr id="9" name="Shape 6"/>
          <p:cNvSpPr/>
          <p:nvPr/>
        </p:nvSpPr>
        <p:spPr>
          <a:xfrm>
            <a:off x="819150" y="2254312"/>
            <a:ext cx="6337300" cy="3867150"/>
          </a:xfrm>
          <a:prstGeom prst="roundRect">
            <a:avLst>
              <a:gd name="adj" fmla="val 1149"/>
            </a:avLst>
          </a:prstGeom>
          <a:noFill/>
          <a:ln w="12700">
            <a:solidFill>
              <a:srgbClr val="DDE1E7"/>
            </a:solidFill>
            <a:prstDash val="solid"/>
          </a:ln>
        </p:spPr>
      </p:sp>
      <p:sp>
        <p:nvSpPr>
          <p:cNvPr id="10" name="Shape 7"/>
          <p:cNvSpPr/>
          <p:nvPr/>
        </p:nvSpPr>
        <p:spPr>
          <a:xfrm>
            <a:off x="7467600" y="2739858"/>
            <a:ext cx="3911600" cy="1313770"/>
          </a:xfrm>
          <a:prstGeom prst="roundRect">
            <a:avLst>
              <a:gd name="adj" fmla="val 7733"/>
            </a:avLst>
          </a:prstGeom>
          <a:solidFill>
            <a:srgbClr val="E8F5EE"/>
          </a:solidFill>
          <a:ln/>
        </p:spPr>
      </p:sp>
      <p:sp>
        <p:nvSpPr>
          <p:cNvPr id="11" name="Text 8"/>
          <p:cNvSpPr/>
          <p:nvPr/>
        </p:nvSpPr>
        <p:spPr>
          <a:xfrm>
            <a:off x="8928101" y="2892258"/>
            <a:ext cx="1188488" cy="751795"/>
          </a:xfrm>
          <a:prstGeom prst="rect">
            <a:avLst/>
          </a:prstGeom>
          <a:noFill/>
          <a:ln/>
        </p:spPr>
        <p:txBody>
          <a:bodyPr wrap="square" lIns="0" tIns="0" rIns="0" bIns="0" rtlCol="0" anchor="t">
            <a:normAutofit/>
          </a:bodyPr>
          <a:lstStyle/>
          <a:p>
            <a:pPr marL="0" indent="0" algn="l">
              <a:lnSpc>
                <a:spcPts val="5720"/>
              </a:lnSpc>
              <a:buNone/>
            </a:pPr>
            <a:r>
              <a:rPr lang="en-US" sz="5200" b="1" dirty="0">
                <a:solidFill>
                  <a:srgbClr val="178A48"/>
                </a:solidFill>
                <a:latin typeface="Times New Roman" panose="02020603050405020304" pitchFamily="18" charset="0"/>
                <a:ea typeface="Tinos" pitchFamily="34" charset="-122"/>
                <a:cs typeface="Times New Roman" panose="02020603050405020304" pitchFamily="18" charset="0"/>
              </a:rPr>
              <a:t>266</a:t>
            </a:r>
            <a:endParaRPr lang="en-US" sz="5200" dirty="0">
              <a:latin typeface="Times New Roman" panose="02020603050405020304" pitchFamily="18" charset="0"/>
              <a:cs typeface="Times New Roman" panose="02020603050405020304" pitchFamily="18" charset="0"/>
            </a:endParaRPr>
          </a:p>
        </p:txBody>
      </p:sp>
      <p:sp>
        <p:nvSpPr>
          <p:cNvPr id="12" name="Text 9"/>
          <p:cNvSpPr/>
          <p:nvPr/>
        </p:nvSpPr>
        <p:spPr>
          <a:xfrm>
            <a:off x="7777881" y="3644050"/>
            <a:ext cx="3291040" cy="282575"/>
          </a:xfrm>
          <a:prstGeom prst="rect">
            <a:avLst/>
          </a:prstGeom>
          <a:noFill/>
          <a:ln/>
        </p:spPr>
        <p:txBody>
          <a:bodyPr wrap="square" lIns="0" tIns="0" rIns="0" bIns="0" rtlCol="0" anchor="t">
            <a:normAutofit/>
          </a:bodyPr>
          <a:lstStyle/>
          <a:p>
            <a:pPr marL="0" indent="0" algn="ctr">
              <a:lnSpc>
                <a:spcPts val="2025"/>
              </a:lnSpc>
              <a:buNone/>
            </a:pP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ca kiểm thử tự động, kể cả giao diện</a:t>
            </a:r>
            <a:endParaRPr lang="en-US" sz="1500" dirty="0">
              <a:latin typeface="Times New Roman" panose="02020603050405020304" pitchFamily="18" charset="0"/>
              <a:cs typeface="Times New Roman" panose="02020603050405020304" pitchFamily="18" charset="0"/>
            </a:endParaRPr>
          </a:p>
        </p:txBody>
      </p:sp>
      <p:sp>
        <p:nvSpPr>
          <p:cNvPr id="13" name="Shape 10"/>
          <p:cNvSpPr/>
          <p:nvPr/>
        </p:nvSpPr>
        <p:spPr>
          <a:xfrm>
            <a:off x="7486650" y="4231425"/>
            <a:ext cx="0" cy="613342"/>
          </a:xfrm>
          <a:prstGeom prst="line">
            <a:avLst/>
          </a:prstGeom>
          <a:noFill/>
          <a:ln w="38100">
            <a:solidFill>
              <a:srgbClr val="1F4E9A"/>
            </a:solidFill>
            <a:prstDash val="solid"/>
          </a:ln>
        </p:spPr>
      </p:sp>
      <p:sp>
        <p:nvSpPr>
          <p:cNvPr id="14" name="Text 11"/>
          <p:cNvSpPr/>
          <p:nvPr/>
        </p:nvSpPr>
        <p:spPr>
          <a:xfrm>
            <a:off x="7656286" y="4256825"/>
            <a:ext cx="3834602" cy="30984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4E9A"/>
                </a:solidFill>
                <a:latin typeface="Times New Roman" panose="02020603050405020304" pitchFamily="18" charset="0"/>
                <a:ea typeface="Open Sans" pitchFamily="34" charset="-122"/>
                <a:cs typeface="Times New Roman" panose="02020603050405020304" pitchFamily="18" charset="0"/>
              </a:rPr>
              <a:t>6 hình theo 3 bước</a:t>
            </a:r>
            <a:endParaRPr lang="en-US" sz="1600" dirty="0">
              <a:latin typeface="Times New Roman" panose="02020603050405020304" pitchFamily="18" charset="0"/>
              <a:cs typeface="Times New Roman" panose="02020603050405020304" pitchFamily="18" charset="0"/>
            </a:endParaRPr>
          </a:p>
        </p:txBody>
      </p:sp>
      <p:sp>
        <p:nvSpPr>
          <p:cNvPr id="15" name="Text 12"/>
          <p:cNvSpPr/>
          <p:nvPr/>
        </p:nvSpPr>
        <p:spPr>
          <a:xfrm>
            <a:off x="7656286" y="4579373"/>
            <a:ext cx="3834602"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Dạng sóng · phổ công suất · năng lượng 8 bin</a:t>
            </a:r>
            <a:endParaRPr lang="en-US" sz="1400" dirty="0">
              <a:latin typeface="Times New Roman" panose="02020603050405020304" pitchFamily="18" charset="0"/>
              <a:cs typeface="Times New Roman" panose="02020603050405020304" pitchFamily="18" charset="0"/>
            </a:endParaRPr>
          </a:p>
        </p:txBody>
      </p:sp>
      <p:sp>
        <p:nvSpPr>
          <p:cNvPr id="16" name="Shape 13"/>
          <p:cNvSpPr/>
          <p:nvPr/>
        </p:nvSpPr>
        <p:spPr>
          <a:xfrm>
            <a:off x="7486650" y="5022571"/>
            <a:ext cx="0" cy="613342"/>
          </a:xfrm>
          <a:prstGeom prst="line">
            <a:avLst/>
          </a:prstGeom>
          <a:noFill/>
          <a:ln w="38100">
            <a:solidFill>
              <a:srgbClr val="1F4E9A"/>
            </a:solidFill>
            <a:prstDash val="solid"/>
          </a:ln>
        </p:spPr>
      </p:sp>
      <p:sp>
        <p:nvSpPr>
          <p:cNvPr id="17" name="Text 14"/>
          <p:cNvSpPr/>
          <p:nvPr/>
        </p:nvSpPr>
        <p:spPr>
          <a:xfrm>
            <a:off x="7656286" y="5047971"/>
            <a:ext cx="3834602" cy="30984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4E9A"/>
                </a:solidFill>
                <a:latin typeface="Times New Roman" panose="02020603050405020304" pitchFamily="18" charset="0"/>
                <a:ea typeface="Open Sans" pitchFamily="34" charset="-122"/>
                <a:cs typeface="Times New Roman" panose="02020603050405020304" pitchFamily="18" charset="0"/>
              </a:rPr>
              <a:t>So sánh công bằng</a:t>
            </a:r>
            <a:endParaRPr lang="en-US" sz="1600" dirty="0">
              <a:latin typeface="Times New Roman" panose="02020603050405020304" pitchFamily="18" charset="0"/>
              <a:cs typeface="Times New Roman" panose="02020603050405020304" pitchFamily="18" charset="0"/>
            </a:endParaRPr>
          </a:p>
        </p:txBody>
      </p:sp>
      <p:sp>
        <p:nvSpPr>
          <p:cNvPr id="18" name="Text 15"/>
          <p:cNvSpPr/>
          <p:nvPr/>
        </p:nvSpPr>
        <p:spPr>
          <a:xfrm>
            <a:off x="7656286" y="5370519"/>
            <a:ext cx="3834602"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Đổi phương pháp → giải lại trên cùng y[n]</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12</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Kết quả: độ bền với nhiễu</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Ngân hàng bộ lọc bền nhiễu nhất, </a:t>
            </a:r>
            <a:r>
              <a:rPr lang="en-US" sz="1700" dirty="0">
                <a:solidFill>
                  <a:srgbClr val="C00000"/>
                </a:solidFill>
                <a:latin typeface="Times New Roman" panose="02020603050405020304" pitchFamily="18" charset="0"/>
                <a:ea typeface="Open Sans" pitchFamily="34" charset="-122"/>
                <a:cs typeface="Times New Roman" panose="02020603050405020304" pitchFamily="18" charset="0"/>
              </a:rPr>
              <a:t>nhờ đo đúng tại tần số chuẩn</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1711268" y="2025817"/>
            <a:ext cx="2216660" cy="332695"/>
          </a:xfrm>
          <a:prstGeom prst="roundRect">
            <a:avLst>
              <a:gd name="adj" fmla="val 50000"/>
            </a:avLst>
          </a:prstGeom>
          <a:solidFill>
            <a:srgbClr val="F3F6FA"/>
          </a:solidFill>
          <a:ln/>
        </p:spPr>
      </p:sp>
      <p:sp>
        <p:nvSpPr>
          <p:cNvPr id="9" name="Text 7"/>
          <p:cNvSpPr/>
          <p:nvPr/>
        </p:nvSpPr>
        <p:spPr>
          <a:xfrm>
            <a:off x="1876368" y="2076617"/>
            <a:ext cx="1943054" cy="25649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3415C"/>
                </a:solidFill>
                <a:latin typeface="Times New Roman" panose="02020603050405020304" pitchFamily="18" charset="0"/>
                <a:ea typeface="Open Sans" pitchFamily="34" charset="-122"/>
                <a:cs typeface="Times New Roman" panose="02020603050405020304" pitchFamily="18" charset="0"/>
              </a:rPr>
              <a:t>240</a:t>
            </a:r>
            <a:r>
              <a:rPr lang="en-US" sz="1300" dirty="0">
                <a:solidFill>
                  <a:srgbClr val="33415C"/>
                </a:solidFill>
                <a:latin typeface="Times New Roman" panose="02020603050405020304" pitchFamily="18" charset="0"/>
                <a:ea typeface="Open Sans" pitchFamily="34" charset="-122"/>
                <a:cs typeface="Times New Roman" panose="02020603050405020304" pitchFamily="18" charset="0"/>
              </a:rPr>
              <a:t> phím (20 chuỗi × 12)</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4029529" y="2025817"/>
            <a:ext cx="2228226" cy="332695"/>
          </a:xfrm>
          <a:prstGeom prst="roundRect">
            <a:avLst>
              <a:gd name="adj" fmla="val 50000"/>
            </a:avLst>
          </a:prstGeom>
          <a:solidFill>
            <a:srgbClr val="F3F6FA"/>
          </a:solidFill>
          <a:ln/>
        </p:spPr>
      </p:sp>
      <p:sp>
        <p:nvSpPr>
          <p:cNvPr id="11" name="Text 9"/>
          <p:cNvSpPr/>
          <p:nvPr/>
        </p:nvSpPr>
        <p:spPr>
          <a:xfrm>
            <a:off x="4194629" y="2076617"/>
            <a:ext cx="1954967" cy="25649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3415C"/>
                </a:solidFill>
                <a:latin typeface="Times New Roman" panose="02020603050405020304" pitchFamily="18" charset="0"/>
                <a:ea typeface="Open Sans" pitchFamily="34" charset="-122"/>
                <a:cs typeface="Times New Roman" panose="02020603050405020304" pitchFamily="18" charset="0"/>
              </a:rPr>
              <a:t>15</a:t>
            </a:r>
            <a:r>
              <a:rPr lang="en-US" sz="1300" dirty="0">
                <a:solidFill>
                  <a:srgbClr val="33415C"/>
                </a:solidFill>
                <a:latin typeface="Times New Roman" panose="02020603050405020304" pitchFamily="18" charset="0"/>
                <a:ea typeface="Open Sans" pitchFamily="34" charset="-122"/>
                <a:cs typeface="Times New Roman" panose="02020603050405020304" pitchFamily="18" charset="0"/>
              </a:rPr>
              <a:t> mức SNR: −5 → 30 dB</a:t>
            </a:r>
            <a:endParaRPr lang="en-US" sz="1300" dirty="0">
              <a:latin typeface="Times New Roman" panose="02020603050405020304" pitchFamily="18" charset="0"/>
              <a:cs typeface="Times New Roman" panose="02020603050405020304" pitchFamily="18" charset="0"/>
            </a:endParaRPr>
          </a:p>
        </p:txBody>
      </p:sp>
      <p:sp>
        <p:nvSpPr>
          <p:cNvPr id="12" name="Shape 10"/>
          <p:cNvSpPr/>
          <p:nvPr/>
        </p:nvSpPr>
        <p:spPr>
          <a:xfrm>
            <a:off x="6359355" y="2025817"/>
            <a:ext cx="2211614" cy="332695"/>
          </a:xfrm>
          <a:prstGeom prst="roundRect">
            <a:avLst>
              <a:gd name="adj" fmla="val 50000"/>
            </a:avLst>
          </a:prstGeom>
          <a:solidFill>
            <a:srgbClr val="F3F6FA"/>
          </a:solidFill>
          <a:ln/>
        </p:spPr>
      </p:sp>
      <p:sp>
        <p:nvSpPr>
          <p:cNvPr id="13" name="Text 11"/>
          <p:cNvSpPr/>
          <p:nvPr/>
        </p:nvSpPr>
        <p:spPr>
          <a:xfrm>
            <a:off x="6524455" y="2076617"/>
            <a:ext cx="1937857" cy="25649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415C"/>
                </a:solidFill>
                <a:latin typeface="Times New Roman" panose="02020603050405020304" pitchFamily="18" charset="0"/>
                <a:ea typeface="Open Sans" pitchFamily="34" charset="-122"/>
                <a:cs typeface="Times New Roman" panose="02020603050405020304" pitchFamily="18" charset="0"/>
              </a:rPr>
              <a:t>Nhiễu </a:t>
            </a:r>
            <a:r>
              <a:rPr lang="en-US" sz="1300" b="1" dirty="0">
                <a:solidFill>
                  <a:srgbClr val="33415C"/>
                </a:solidFill>
                <a:latin typeface="Times New Roman" panose="02020603050405020304" pitchFamily="18" charset="0"/>
                <a:ea typeface="Open Sans" pitchFamily="34" charset="-122"/>
                <a:cs typeface="Times New Roman" panose="02020603050405020304" pitchFamily="18" charset="0"/>
              </a:rPr>
              <a:t>AWGN</a:t>
            </a:r>
            <a:r>
              <a:rPr lang="en-US" sz="1300" dirty="0">
                <a:solidFill>
                  <a:srgbClr val="33415C"/>
                </a:solidFill>
                <a:latin typeface="Times New Roman" panose="02020603050405020304" pitchFamily="18" charset="0"/>
                <a:ea typeface="Open Sans" pitchFamily="34" charset="-122"/>
                <a:cs typeface="Times New Roman" panose="02020603050405020304" pitchFamily="18" charset="0"/>
              </a:rPr>
              <a:t> và </a:t>
            </a:r>
            <a:r>
              <a:rPr lang="en-US" sz="1300" b="1" dirty="0">
                <a:solidFill>
                  <a:srgbClr val="33415C"/>
                </a:solidFill>
                <a:latin typeface="Times New Roman" panose="02020603050405020304" pitchFamily="18" charset="0"/>
                <a:ea typeface="Open Sans" pitchFamily="34" charset="-122"/>
                <a:cs typeface="Times New Roman" panose="02020603050405020304" pitchFamily="18" charset="0"/>
              </a:rPr>
              <a:t>điện lưới</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8672570" y="2025817"/>
            <a:ext cx="1808163" cy="332695"/>
          </a:xfrm>
          <a:prstGeom prst="roundRect">
            <a:avLst>
              <a:gd name="adj" fmla="val 50000"/>
            </a:avLst>
          </a:prstGeom>
          <a:solidFill>
            <a:srgbClr val="F3F6FA"/>
          </a:solidFill>
          <a:ln/>
        </p:spPr>
      </p:sp>
      <p:sp>
        <p:nvSpPr>
          <p:cNvPr id="15" name="Text 13"/>
          <p:cNvSpPr/>
          <p:nvPr/>
        </p:nvSpPr>
        <p:spPr>
          <a:xfrm>
            <a:off x="8837670" y="2076617"/>
            <a:ext cx="1528763" cy="25649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3415C"/>
                </a:solidFill>
                <a:latin typeface="Times New Roman" panose="02020603050405020304" pitchFamily="18" charset="0"/>
                <a:ea typeface="Open Sans" pitchFamily="34" charset="-122"/>
                <a:cs typeface="Times New Roman" panose="02020603050405020304" pitchFamily="18" charset="0"/>
              </a:rPr>
              <a:t>5 400</a:t>
            </a:r>
            <a:r>
              <a:rPr lang="en-US" sz="1300" dirty="0">
                <a:solidFill>
                  <a:srgbClr val="33415C"/>
                </a:solidFill>
                <a:latin typeface="Times New Roman" panose="02020603050405020304" pitchFamily="18" charset="0"/>
                <a:ea typeface="Open Sans" pitchFamily="34" charset="-122"/>
                <a:cs typeface="Times New Roman" panose="02020603050405020304" pitchFamily="18" charset="0"/>
              </a:rPr>
              <a:t> điều kiện thử</a:t>
            </a:r>
            <a:endParaRPr lang="en-US" sz="1300" dirty="0">
              <a:latin typeface="Times New Roman" panose="02020603050405020304" pitchFamily="18" charset="0"/>
              <a:cs typeface="Times New Roman" panose="02020603050405020304" pitchFamily="18" charset="0"/>
            </a:endParaRPr>
          </a:p>
        </p:txBody>
      </p:sp>
      <p:pic>
        <p:nvPicPr>
          <p:cNvPr id="16" name="Image 0" descr="Độ chính xác theo SNR của FFT, Goertzel và ngân hàng bộ lọc; trái: nhiễu AWGN, phải: nhiễu ù 50 Hz. Ngân hàng lọc lên 1 sớm nhất, cả ba đạt 1 từ 7,5 dB"/>
          <p:cNvPicPr>
            <a:picLocks noChangeAspect="1"/>
          </p:cNvPicPr>
          <p:nvPr/>
        </p:nvPicPr>
        <p:blipFill>
          <a:blip r:embed="rId3"/>
          <a:srcRect t="-20" b="-20"/>
          <a:stretch/>
        </p:blipFill>
        <p:spPr>
          <a:xfrm>
            <a:off x="812800" y="2739454"/>
            <a:ext cx="7048500" cy="3079750"/>
          </a:xfrm>
          <a:prstGeom prst="rect">
            <a:avLst/>
          </a:prstGeom>
        </p:spPr>
      </p:pic>
      <p:sp>
        <p:nvSpPr>
          <p:cNvPr id="17" name="Text 14"/>
          <p:cNvSpPr/>
          <p:nvPr/>
        </p:nvSpPr>
        <p:spPr>
          <a:xfrm>
            <a:off x="707073" y="5882704"/>
            <a:ext cx="7259955" cy="238749"/>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6478"/>
                </a:solidFill>
                <a:latin typeface="Times New Roman" panose="02020603050405020304" pitchFamily="18" charset="0"/>
                <a:ea typeface="Open Sans" pitchFamily="34" charset="-122"/>
                <a:cs typeface="Times New Roman" panose="02020603050405020304" pitchFamily="18" charset="0"/>
              </a:rPr>
              <a:t>Độ chính xác theo SNR · trái: AWGN · phải: điện lưới 50 Hz · nền xanh: SNR ≥ 10 dB</a:t>
            </a:r>
            <a:endParaRPr lang="en-US" sz="1200" dirty="0">
              <a:latin typeface="Times New Roman" panose="02020603050405020304" pitchFamily="18" charset="0"/>
              <a:cs typeface="Times New Roman" panose="02020603050405020304" pitchFamily="18" charset="0"/>
            </a:endParaRPr>
          </a:p>
        </p:txBody>
      </p:sp>
      <p:sp>
        <p:nvSpPr>
          <p:cNvPr id="18" name="Text 15"/>
          <p:cNvSpPr/>
          <p:nvPr/>
        </p:nvSpPr>
        <p:spPr>
          <a:xfrm>
            <a:off x="8166100" y="2986088"/>
            <a:ext cx="330949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4E9A"/>
                </a:solidFill>
                <a:latin typeface="Times New Roman" panose="02020603050405020304" pitchFamily="18" charset="0"/>
                <a:ea typeface="Open Sans" pitchFamily="34" charset="-122"/>
                <a:cs typeface="Times New Roman" panose="02020603050405020304" pitchFamily="18" charset="0"/>
              </a:rPr>
              <a:t>Tại SNR 2,5 dB (AWGN)</a:t>
            </a:r>
            <a:endParaRPr lang="en-US" sz="1500" dirty="0">
              <a:latin typeface="Times New Roman" panose="02020603050405020304" pitchFamily="18" charset="0"/>
              <a:cs typeface="Times New Roman" panose="02020603050405020304" pitchFamily="18" charset="0"/>
            </a:endParaRPr>
          </a:p>
        </p:txBody>
      </p:sp>
      <p:sp>
        <p:nvSpPr>
          <p:cNvPr id="19" name="Shape 16"/>
          <p:cNvSpPr/>
          <p:nvPr/>
        </p:nvSpPr>
        <p:spPr>
          <a:xfrm>
            <a:off x="8166100" y="3354388"/>
            <a:ext cx="3213100" cy="635000"/>
          </a:xfrm>
          <a:prstGeom prst="roundRect">
            <a:avLst>
              <a:gd name="adj" fmla="val 12000"/>
            </a:avLst>
          </a:prstGeom>
          <a:solidFill>
            <a:srgbClr val="DEEBF7"/>
          </a:solidFill>
          <a:ln/>
        </p:spPr>
      </p:sp>
      <p:sp>
        <p:nvSpPr>
          <p:cNvPr id="20" name="Text 17"/>
          <p:cNvSpPr/>
          <p:nvPr/>
        </p:nvSpPr>
        <p:spPr>
          <a:xfrm>
            <a:off x="8318500" y="3538538"/>
            <a:ext cx="37022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64A8"/>
                </a:solidFill>
                <a:latin typeface="Times New Roman" panose="02020603050405020304" pitchFamily="18" charset="0"/>
                <a:ea typeface="Open Sans" pitchFamily="34" charset="-122"/>
                <a:cs typeface="Times New Roman" panose="02020603050405020304" pitchFamily="18" charset="0"/>
              </a:rPr>
              <a:t>FFT</a:t>
            </a:r>
            <a:endParaRPr lang="en-US" sz="1500" dirty="0">
              <a:latin typeface="Times New Roman" panose="02020603050405020304" pitchFamily="18" charset="0"/>
              <a:cs typeface="Times New Roman" panose="02020603050405020304" pitchFamily="18" charset="0"/>
            </a:endParaRPr>
          </a:p>
        </p:txBody>
      </p:sp>
      <p:sp>
        <p:nvSpPr>
          <p:cNvPr id="21" name="Text 18"/>
          <p:cNvSpPr/>
          <p:nvPr/>
        </p:nvSpPr>
        <p:spPr>
          <a:xfrm>
            <a:off x="10560051" y="3405188"/>
            <a:ext cx="717550" cy="558800"/>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0B64A8"/>
                </a:solidFill>
                <a:latin typeface="Times New Roman" panose="02020603050405020304" pitchFamily="18" charset="0"/>
                <a:ea typeface="Tinos" pitchFamily="34" charset="-122"/>
                <a:cs typeface="Times New Roman" panose="02020603050405020304" pitchFamily="18" charset="0"/>
              </a:rPr>
              <a:t>0,16</a:t>
            </a:r>
            <a:endParaRPr lang="en-US" sz="3000" dirty="0">
              <a:latin typeface="Times New Roman" panose="02020603050405020304" pitchFamily="18" charset="0"/>
              <a:cs typeface="Times New Roman" panose="02020603050405020304" pitchFamily="18" charset="0"/>
            </a:endParaRPr>
          </a:p>
        </p:txBody>
      </p:sp>
      <p:sp>
        <p:nvSpPr>
          <p:cNvPr id="22" name="Shape 19"/>
          <p:cNvSpPr/>
          <p:nvPr/>
        </p:nvSpPr>
        <p:spPr>
          <a:xfrm>
            <a:off x="8166100" y="4090987"/>
            <a:ext cx="3213100" cy="635000"/>
          </a:xfrm>
          <a:prstGeom prst="roundRect">
            <a:avLst>
              <a:gd name="adj" fmla="val 12000"/>
            </a:avLst>
          </a:prstGeom>
          <a:solidFill>
            <a:srgbClr val="FBE5D6"/>
          </a:solidFill>
          <a:ln/>
        </p:spPr>
      </p:sp>
      <p:sp>
        <p:nvSpPr>
          <p:cNvPr id="23" name="Text 20"/>
          <p:cNvSpPr/>
          <p:nvPr/>
        </p:nvSpPr>
        <p:spPr>
          <a:xfrm>
            <a:off x="8318500" y="4275138"/>
            <a:ext cx="85209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8480F"/>
                </a:solidFill>
                <a:latin typeface="Times New Roman" panose="02020603050405020304" pitchFamily="18" charset="0"/>
                <a:ea typeface="Open Sans" pitchFamily="34" charset="-122"/>
                <a:cs typeface="Times New Roman" panose="02020603050405020304" pitchFamily="18" charset="0"/>
              </a:rPr>
              <a:t>Goertzel</a:t>
            </a:r>
            <a:endParaRPr lang="en-US" sz="1500" dirty="0">
              <a:latin typeface="Times New Roman" panose="02020603050405020304" pitchFamily="18" charset="0"/>
              <a:cs typeface="Times New Roman" panose="02020603050405020304" pitchFamily="18" charset="0"/>
            </a:endParaRPr>
          </a:p>
        </p:txBody>
      </p:sp>
      <p:sp>
        <p:nvSpPr>
          <p:cNvPr id="24" name="Text 21"/>
          <p:cNvSpPr/>
          <p:nvPr/>
        </p:nvSpPr>
        <p:spPr>
          <a:xfrm>
            <a:off x="10560051" y="4141788"/>
            <a:ext cx="717550" cy="558800"/>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B8480F"/>
                </a:solidFill>
                <a:latin typeface="Times New Roman" panose="02020603050405020304" pitchFamily="18" charset="0"/>
                <a:ea typeface="Tinos" pitchFamily="34" charset="-122"/>
                <a:cs typeface="Times New Roman" panose="02020603050405020304" pitchFamily="18" charset="0"/>
              </a:rPr>
              <a:t>0,35</a:t>
            </a:r>
            <a:endParaRPr lang="en-US" sz="3000" dirty="0">
              <a:latin typeface="Times New Roman" panose="02020603050405020304" pitchFamily="18" charset="0"/>
              <a:cs typeface="Times New Roman" panose="02020603050405020304" pitchFamily="18" charset="0"/>
            </a:endParaRPr>
          </a:p>
        </p:txBody>
      </p:sp>
      <p:sp>
        <p:nvSpPr>
          <p:cNvPr id="25" name="Shape 22"/>
          <p:cNvSpPr/>
          <p:nvPr/>
        </p:nvSpPr>
        <p:spPr>
          <a:xfrm>
            <a:off x="8175625" y="4837113"/>
            <a:ext cx="3194050" cy="652236"/>
          </a:xfrm>
          <a:prstGeom prst="roundRect">
            <a:avLst>
              <a:gd name="adj" fmla="val 10223"/>
            </a:avLst>
          </a:prstGeom>
          <a:solidFill>
            <a:srgbClr val="E8F5EE"/>
          </a:solidFill>
          <a:ln w="19050">
            <a:solidFill>
              <a:srgbClr val="0B7F58"/>
            </a:solidFill>
            <a:prstDash val="solid"/>
          </a:ln>
        </p:spPr>
      </p:sp>
      <p:sp>
        <p:nvSpPr>
          <p:cNvPr id="26" name="Text 23"/>
          <p:cNvSpPr/>
          <p:nvPr/>
        </p:nvSpPr>
        <p:spPr>
          <a:xfrm>
            <a:off x="8336643" y="5029876"/>
            <a:ext cx="139966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7F58"/>
                </a:solidFill>
                <a:latin typeface="Times New Roman" panose="02020603050405020304" pitchFamily="18" charset="0"/>
                <a:ea typeface="Open Sans" pitchFamily="34" charset="-122"/>
                <a:cs typeface="Times New Roman" panose="02020603050405020304" pitchFamily="18" charset="0"/>
              </a:rPr>
              <a:t>Ngân hàng lọc</a:t>
            </a:r>
            <a:endParaRPr lang="en-US" sz="1500" dirty="0">
              <a:latin typeface="Times New Roman" panose="02020603050405020304" pitchFamily="18" charset="0"/>
              <a:cs typeface="Times New Roman" panose="02020603050405020304" pitchFamily="18" charset="0"/>
            </a:endParaRPr>
          </a:p>
        </p:txBody>
      </p:sp>
      <p:sp>
        <p:nvSpPr>
          <p:cNvPr id="27" name="Text 24"/>
          <p:cNvSpPr/>
          <p:nvPr/>
        </p:nvSpPr>
        <p:spPr>
          <a:xfrm>
            <a:off x="10541908" y="4896526"/>
            <a:ext cx="717550" cy="558800"/>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0B7F58"/>
                </a:solidFill>
                <a:latin typeface="Times New Roman" panose="02020603050405020304" pitchFamily="18" charset="0"/>
                <a:ea typeface="Tinos" pitchFamily="34" charset="-122"/>
                <a:cs typeface="Times New Roman" panose="02020603050405020304" pitchFamily="18" charset="0"/>
              </a:rPr>
              <a:t>0,96</a:t>
            </a:r>
            <a:endParaRPr lang="en-US" sz="3000" dirty="0">
              <a:latin typeface="Times New Roman" panose="02020603050405020304" pitchFamily="18" charset="0"/>
              <a:cs typeface="Times New Roman" panose="02020603050405020304" pitchFamily="18" charset="0"/>
            </a:endParaRPr>
          </a:p>
        </p:txBody>
      </p:sp>
      <p:sp>
        <p:nvSpPr>
          <p:cNvPr id="28" name="Text 25"/>
          <p:cNvSpPr/>
          <p:nvPr/>
        </p:nvSpPr>
        <p:spPr>
          <a:xfrm>
            <a:off x="8166100" y="5600471"/>
            <a:ext cx="3309493"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Cả ba đúng </a:t>
            </a:r>
            <a:r>
              <a:rPr lang="en-US" sz="1400" dirty="0">
                <a:solidFill>
                  <a:srgbClr val="C00000"/>
                </a:solidFill>
                <a:latin typeface="Times New Roman" panose="02020603050405020304" pitchFamily="18" charset="0"/>
                <a:ea typeface="Open Sans" pitchFamily="34" charset="-122"/>
                <a:cs typeface="Times New Roman" panose="02020603050405020304" pitchFamily="18" charset="0"/>
              </a:rPr>
              <a:t>100% từ 7,5 dB</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13</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Vì sao ngân hàng lọc bền hơn?</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Càng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xa ngưỡng ρ = 0,70</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trên khung sạch → càng chịu được nhiều nhiễu</a:t>
            </a:r>
            <a:endParaRPr lang="en-US" sz="1700" dirty="0">
              <a:latin typeface="Times New Roman" panose="02020603050405020304" pitchFamily="18" charset="0"/>
              <a:cs typeface="Times New Roman" panose="02020603050405020304" pitchFamily="18" charset="0"/>
            </a:endParaRPr>
          </a:p>
        </p:txBody>
      </p:sp>
      <p:sp>
        <p:nvSpPr>
          <p:cNvPr id="8" name="Text 6"/>
          <p:cNvSpPr/>
          <p:nvPr/>
        </p:nvSpPr>
        <p:spPr>
          <a:xfrm>
            <a:off x="812800" y="2919183"/>
            <a:ext cx="68021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4E9A"/>
                </a:solidFill>
                <a:latin typeface="Times New Roman" panose="02020603050405020304" pitchFamily="18" charset="0"/>
                <a:ea typeface="Open Sans" pitchFamily="34" charset="-122"/>
                <a:cs typeface="Times New Roman" panose="02020603050405020304" pitchFamily="18" charset="0"/>
              </a:rPr>
              <a:t>ρ trung vị trên khung sạch</a:t>
            </a:r>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762000" y="3477983"/>
            <a:ext cx="1447800" cy="254000"/>
          </a:xfrm>
          <a:prstGeom prst="rect">
            <a:avLst/>
          </a:prstGeom>
          <a:noFill/>
          <a:ln/>
        </p:spPr>
        <p:txBody>
          <a:bodyPr wrap="square" lIns="0" tIns="0" rIns="0" bIns="0" rtlCol="0" anchor="t">
            <a:normAutofit/>
          </a:bodyPr>
          <a:lstStyle/>
          <a:p>
            <a:pPr marL="0" indent="0" algn="r">
              <a:lnSpc>
                <a:spcPts val="1800"/>
              </a:lnSpc>
              <a:buNone/>
            </a:pPr>
            <a:r>
              <a:rPr lang="en-US" sz="1500" b="1" dirty="0">
                <a:solidFill>
                  <a:srgbClr val="0B64A8"/>
                </a:solidFill>
                <a:latin typeface="Times New Roman" panose="02020603050405020304" pitchFamily="18" charset="0"/>
                <a:ea typeface="Open Sans" pitchFamily="34" charset="-122"/>
                <a:cs typeface="Times New Roman" panose="02020603050405020304" pitchFamily="18" charset="0"/>
              </a:rPr>
              <a:t>FFT</a:t>
            </a:r>
            <a:endParaRPr lang="en-US" sz="1500" dirty="0">
              <a:latin typeface="Times New Roman" panose="02020603050405020304" pitchFamily="18" charset="0"/>
              <a:cs typeface="Times New Roman" panose="02020603050405020304" pitchFamily="18" charset="0"/>
            </a:endParaRPr>
          </a:p>
        </p:txBody>
      </p:sp>
      <p:sp>
        <p:nvSpPr>
          <p:cNvPr id="10" name="Shape 8"/>
          <p:cNvSpPr/>
          <p:nvPr/>
        </p:nvSpPr>
        <p:spPr>
          <a:xfrm>
            <a:off x="2336800" y="3363683"/>
            <a:ext cx="3810000" cy="457200"/>
          </a:xfrm>
          <a:prstGeom prst="rect">
            <a:avLst/>
          </a:prstGeom>
          <a:solidFill>
            <a:srgbClr val="EEF1F5"/>
          </a:solidFill>
          <a:ln/>
        </p:spPr>
      </p:sp>
      <p:sp>
        <p:nvSpPr>
          <p:cNvPr id="11" name="Shape 9"/>
          <p:cNvSpPr/>
          <p:nvPr/>
        </p:nvSpPr>
        <p:spPr>
          <a:xfrm>
            <a:off x="2336800" y="3363683"/>
            <a:ext cx="3359150" cy="457200"/>
          </a:xfrm>
          <a:prstGeom prst="rect">
            <a:avLst/>
          </a:prstGeom>
          <a:solidFill>
            <a:srgbClr val="0B64A8"/>
          </a:solidFill>
          <a:ln/>
        </p:spPr>
      </p:sp>
      <p:sp>
        <p:nvSpPr>
          <p:cNvPr id="12" name="Shape 10"/>
          <p:cNvSpPr/>
          <p:nvPr/>
        </p:nvSpPr>
        <p:spPr>
          <a:xfrm>
            <a:off x="4991100" y="3363683"/>
            <a:ext cx="25400" cy="457200"/>
          </a:xfrm>
          <a:prstGeom prst="rect">
            <a:avLst/>
          </a:prstGeom>
          <a:solidFill>
            <a:srgbClr val="C00000"/>
          </a:solidFill>
          <a:ln/>
        </p:spPr>
      </p:sp>
      <p:sp>
        <p:nvSpPr>
          <p:cNvPr id="13" name="Text 11"/>
          <p:cNvSpPr/>
          <p:nvPr/>
        </p:nvSpPr>
        <p:spPr>
          <a:xfrm>
            <a:off x="6273800" y="3396679"/>
            <a:ext cx="1003300" cy="416549"/>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64A8"/>
                </a:solidFill>
                <a:latin typeface="Times New Roman" panose="02020603050405020304" pitchFamily="18" charset="0"/>
                <a:ea typeface="Tinos" pitchFamily="34" charset="-122"/>
                <a:cs typeface="Times New Roman" panose="02020603050405020304" pitchFamily="18" charset="0"/>
              </a:rPr>
              <a:t>0,881</a:t>
            </a:r>
            <a:endParaRPr lang="en-US" sz="2200" dirty="0">
              <a:latin typeface="Times New Roman" panose="02020603050405020304" pitchFamily="18" charset="0"/>
              <a:cs typeface="Times New Roman" panose="02020603050405020304" pitchFamily="18" charset="0"/>
            </a:endParaRPr>
          </a:p>
        </p:txBody>
      </p:sp>
      <p:sp>
        <p:nvSpPr>
          <p:cNvPr id="14" name="Text 12"/>
          <p:cNvSpPr/>
          <p:nvPr/>
        </p:nvSpPr>
        <p:spPr>
          <a:xfrm>
            <a:off x="762000" y="4112983"/>
            <a:ext cx="1447800" cy="254000"/>
          </a:xfrm>
          <a:prstGeom prst="rect">
            <a:avLst/>
          </a:prstGeom>
          <a:noFill/>
          <a:ln/>
        </p:spPr>
        <p:txBody>
          <a:bodyPr wrap="square" lIns="0" tIns="0" rIns="0" bIns="0" rtlCol="0" anchor="t">
            <a:normAutofit/>
          </a:bodyPr>
          <a:lstStyle/>
          <a:p>
            <a:pPr marL="0" indent="0" algn="r">
              <a:lnSpc>
                <a:spcPts val="1800"/>
              </a:lnSpc>
              <a:buNone/>
            </a:pPr>
            <a:r>
              <a:rPr lang="en-US" sz="1500" b="1" dirty="0">
                <a:solidFill>
                  <a:srgbClr val="B8480F"/>
                </a:solidFill>
                <a:latin typeface="Times New Roman" panose="02020603050405020304" pitchFamily="18" charset="0"/>
                <a:ea typeface="Open Sans" pitchFamily="34" charset="-122"/>
                <a:cs typeface="Times New Roman" panose="02020603050405020304" pitchFamily="18" charset="0"/>
              </a:rPr>
              <a:t>Goertzel</a:t>
            </a:r>
            <a:endParaRPr lang="en-US" sz="1500" dirty="0">
              <a:latin typeface="Times New Roman" panose="02020603050405020304" pitchFamily="18" charset="0"/>
              <a:cs typeface="Times New Roman" panose="02020603050405020304" pitchFamily="18" charset="0"/>
            </a:endParaRPr>
          </a:p>
        </p:txBody>
      </p:sp>
      <p:sp>
        <p:nvSpPr>
          <p:cNvPr id="15" name="Shape 13"/>
          <p:cNvSpPr/>
          <p:nvPr/>
        </p:nvSpPr>
        <p:spPr>
          <a:xfrm>
            <a:off x="2336800" y="3998683"/>
            <a:ext cx="3810000" cy="457200"/>
          </a:xfrm>
          <a:prstGeom prst="rect">
            <a:avLst/>
          </a:prstGeom>
          <a:solidFill>
            <a:srgbClr val="EEF1F5"/>
          </a:solidFill>
          <a:ln/>
        </p:spPr>
      </p:sp>
      <p:sp>
        <p:nvSpPr>
          <p:cNvPr id="16" name="Shape 14"/>
          <p:cNvSpPr/>
          <p:nvPr/>
        </p:nvSpPr>
        <p:spPr>
          <a:xfrm>
            <a:off x="2336800" y="3998683"/>
            <a:ext cx="3536950" cy="457200"/>
          </a:xfrm>
          <a:prstGeom prst="rect">
            <a:avLst/>
          </a:prstGeom>
          <a:solidFill>
            <a:srgbClr val="B8480F"/>
          </a:solidFill>
          <a:ln/>
        </p:spPr>
      </p:sp>
      <p:sp>
        <p:nvSpPr>
          <p:cNvPr id="17" name="Shape 15"/>
          <p:cNvSpPr/>
          <p:nvPr/>
        </p:nvSpPr>
        <p:spPr>
          <a:xfrm>
            <a:off x="4991100" y="3998683"/>
            <a:ext cx="25400" cy="457200"/>
          </a:xfrm>
          <a:prstGeom prst="rect">
            <a:avLst/>
          </a:prstGeom>
          <a:solidFill>
            <a:srgbClr val="C00000"/>
          </a:solidFill>
          <a:ln/>
        </p:spPr>
      </p:sp>
      <p:sp>
        <p:nvSpPr>
          <p:cNvPr id="18" name="Text 16"/>
          <p:cNvSpPr/>
          <p:nvPr/>
        </p:nvSpPr>
        <p:spPr>
          <a:xfrm>
            <a:off x="6273800" y="4031679"/>
            <a:ext cx="1003300" cy="416549"/>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480F"/>
                </a:solidFill>
                <a:latin typeface="Times New Roman" panose="02020603050405020304" pitchFamily="18" charset="0"/>
                <a:ea typeface="Tinos" pitchFamily="34" charset="-122"/>
                <a:cs typeface="Times New Roman" panose="02020603050405020304" pitchFamily="18" charset="0"/>
              </a:rPr>
              <a:t>0,928</a:t>
            </a:r>
            <a:endParaRPr lang="en-US" sz="2200" dirty="0">
              <a:latin typeface="Times New Roman" panose="02020603050405020304" pitchFamily="18" charset="0"/>
              <a:cs typeface="Times New Roman" panose="02020603050405020304" pitchFamily="18" charset="0"/>
            </a:endParaRPr>
          </a:p>
        </p:txBody>
      </p:sp>
      <p:sp>
        <p:nvSpPr>
          <p:cNvPr id="19" name="Text 17"/>
          <p:cNvSpPr/>
          <p:nvPr/>
        </p:nvSpPr>
        <p:spPr>
          <a:xfrm>
            <a:off x="762000" y="4747983"/>
            <a:ext cx="1447800" cy="254000"/>
          </a:xfrm>
          <a:prstGeom prst="rect">
            <a:avLst/>
          </a:prstGeom>
          <a:noFill/>
          <a:ln/>
        </p:spPr>
        <p:txBody>
          <a:bodyPr wrap="square" lIns="0" tIns="0" rIns="0" bIns="0" rtlCol="0" anchor="t">
            <a:normAutofit/>
          </a:bodyPr>
          <a:lstStyle/>
          <a:p>
            <a:pPr marL="0" indent="0" algn="r">
              <a:lnSpc>
                <a:spcPts val="1800"/>
              </a:lnSpc>
              <a:buNone/>
            </a:pPr>
            <a:r>
              <a:rPr lang="en-US" sz="1500" b="1" dirty="0">
                <a:solidFill>
                  <a:srgbClr val="0B7F58"/>
                </a:solidFill>
                <a:latin typeface="Times New Roman" panose="02020603050405020304" pitchFamily="18" charset="0"/>
                <a:ea typeface="Open Sans" pitchFamily="34" charset="-122"/>
                <a:cs typeface="Times New Roman" panose="02020603050405020304" pitchFamily="18" charset="0"/>
              </a:rPr>
              <a:t>Ngân hàng lọc</a:t>
            </a:r>
            <a:endParaRPr lang="en-US" sz="1500" dirty="0">
              <a:latin typeface="Times New Roman" panose="02020603050405020304" pitchFamily="18" charset="0"/>
              <a:cs typeface="Times New Roman" panose="02020603050405020304" pitchFamily="18" charset="0"/>
            </a:endParaRPr>
          </a:p>
        </p:txBody>
      </p:sp>
      <p:sp>
        <p:nvSpPr>
          <p:cNvPr id="20" name="Shape 18"/>
          <p:cNvSpPr/>
          <p:nvPr/>
        </p:nvSpPr>
        <p:spPr>
          <a:xfrm>
            <a:off x="2336800" y="4633683"/>
            <a:ext cx="3810000" cy="457200"/>
          </a:xfrm>
          <a:prstGeom prst="rect">
            <a:avLst/>
          </a:prstGeom>
          <a:solidFill>
            <a:srgbClr val="EEF1F5"/>
          </a:solidFill>
          <a:ln/>
        </p:spPr>
      </p:sp>
      <p:sp>
        <p:nvSpPr>
          <p:cNvPr id="21" name="Shape 19"/>
          <p:cNvSpPr/>
          <p:nvPr/>
        </p:nvSpPr>
        <p:spPr>
          <a:xfrm>
            <a:off x="2336800" y="4633683"/>
            <a:ext cx="3714750" cy="457200"/>
          </a:xfrm>
          <a:prstGeom prst="rect">
            <a:avLst/>
          </a:prstGeom>
          <a:solidFill>
            <a:srgbClr val="0B7F58"/>
          </a:solidFill>
          <a:ln/>
        </p:spPr>
      </p:sp>
      <p:sp>
        <p:nvSpPr>
          <p:cNvPr id="22" name="Shape 20"/>
          <p:cNvSpPr/>
          <p:nvPr/>
        </p:nvSpPr>
        <p:spPr>
          <a:xfrm>
            <a:off x="4991100" y="4633683"/>
            <a:ext cx="25400" cy="457200"/>
          </a:xfrm>
          <a:prstGeom prst="rect">
            <a:avLst/>
          </a:prstGeom>
          <a:solidFill>
            <a:srgbClr val="C00000"/>
          </a:solidFill>
          <a:ln/>
        </p:spPr>
      </p:sp>
      <p:sp>
        <p:nvSpPr>
          <p:cNvPr id="23" name="Text 21"/>
          <p:cNvSpPr/>
          <p:nvPr/>
        </p:nvSpPr>
        <p:spPr>
          <a:xfrm>
            <a:off x="6273800" y="4666679"/>
            <a:ext cx="1003300" cy="416549"/>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7F58"/>
                </a:solidFill>
                <a:latin typeface="Times New Roman" panose="02020603050405020304" pitchFamily="18" charset="0"/>
                <a:ea typeface="Tinos" pitchFamily="34" charset="-122"/>
                <a:cs typeface="Times New Roman" panose="02020603050405020304" pitchFamily="18" charset="0"/>
              </a:rPr>
              <a:t>0,975</a:t>
            </a:r>
            <a:endParaRPr lang="en-US" sz="2200" dirty="0">
              <a:latin typeface="Times New Roman" panose="02020603050405020304" pitchFamily="18" charset="0"/>
              <a:cs typeface="Times New Roman" panose="02020603050405020304" pitchFamily="18" charset="0"/>
            </a:endParaRPr>
          </a:p>
        </p:txBody>
      </p:sp>
      <p:sp>
        <p:nvSpPr>
          <p:cNvPr id="24" name="Text 22"/>
          <p:cNvSpPr/>
          <p:nvPr/>
        </p:nvSpPr>
        <p:spPr>
          <a:xfrm>
            <a:off x="812800" y="5268683"/>
            <a:ext cx="6802120" cy="23874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Times New Roman" panose="02020603050405020304" pitchFamily="18" charset="0"/>
                <a:ea typeface="Open Sans" pitchFamily="34" charset="-122"/>
                <a:cs typeface="Times New Roman" panose="02020603050405020304" pitchFamily="18" charset="0"/>
              </a:rPr>
              <a:t>Vạch đỏ: ngưỡng ρ = 0,70 · thang 0 → 1</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7842250" y="2982795"/>
            <a:ext cx="0" cy="613342"/>
          </a:xfrm>
          <a:prstGeom prst="line">
            <a:avLst/>
          </a:prstGeom>
          <a:noFill/>
          <a:ln w="38100">
            <a:solidFill>
              <a:srgbClr val="1F4E9A"/>
            </a:solidFill>
            <a:prstDash val="solid"/>
          </a:ln>
        </p:spPr>
      </p:sp>
      <p:sp>
        <p:nvSpPr>
          <p:cNvPr id="26" name="Text 24"/>
          <p:cNvSpPr/>
          <p:nvPr/>
        </p:nvSpPr>
        <p:spPr>
          <a:xfrm>
            <a:off x="8011886" y="3008195"/>
            <a:ext cx="3468334" cy="30984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4E9A"/>
                </a:solidFill>
                <a:latin typeface="Times New Roman" panose="02020603050405020304" pitchFamily="18" charset="0"/>
                <a:ea typeface="Open Sans" pitchFamily="34" charset="-122"/>
                <a:cs typeface="Times New Roman" panose="02020603050405020304" pitchFamily="18" charset="0"/>
              </a:rPr>
              <a:t>Nhiễu lọt vào như nhau</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011886" y="3330742"/>
            <a:ext cx="3468334"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~7% ở cả ba phương pháp</a:t>
            </a:r>
            <a:endParaRPr lang="en-US" sz="1400" dirty="0">
              <a:latin typeface="Times New Roman" panose="02020603050405020304" pitchFamily="18" charset="0"/>
              <a:cs typeface="Times New Roman" panose="02020603050405020304" pitchFamily="18" charset="0"/>
            </a:endParaRPr>
          </a:p>
        </p:txBody>
      </p:sp>
      <p:sp>
        <p:nvSpPr>
          <p:cNvPr id="28" name="Shape 26"/>
          <p:cNvSpPr/>
          <p:nvPr/>
        </p:nvSpPr>
        <p:spPr>
          <a:xfrm>
            <a:off x="7842250" y="3773940"/>
            <a:ext cx="0" cy="853338"/>
          </a:xfrm>
          <a:prstGeom prst="line">
            <a:avLst/>
          </a:prstGeom>
          <a:noFill/>
          <a:ln w="38100">
            <a:solidFill>
              <a:srgbClr val="1F4E9A"/>
            </a:solidFill>
            <a:prstDash val="solid"/>
          </a:ln>
        </p:spPr>
      </p:sp>
      <p:sp>
        <p:nvSpPr>
          <p:cNvPr id="29" name="Text 27"/>
          <p:cNvSpPr/>
          <p:nvPr/>
        </p:nvSpPr>
        <p:spPr>
          <a:xfrm>
            <a:off x="8011886" y="3799340"/>
            <a:ext cx="3468334" cy="30984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4E9A"/>
                </a:solidFill>
                <a:latin typeface="Times New Roman" panose="02020603050405020304" pitchFamily="18" charset="0"/>
                <a:ea typeface="Open Sans" pitchFamily="34" charset="-122"/>
                <a:cs typeface="Times New Roman" panose="02020603050405020304" pitchFamily="18" charset="0"/>
              </a:rPr>
              <a:t>Khác ở phần tín hiệu</a:t>
            </a:r>
            <a:endParaRPr lang="en-US" sz="1600" dirty="0">
              <a:latin typeface="Times New Roman" panose="02020603050405020304" pitchFamily="18" charset="0"/>
              <a:cs typeface="Times New Roman" panose="02020603050405020304" pitchFamily="18" charset="0"/>
            </a:endParaRPr>
          </a:p>
        </p:txBody>
      </p:sp>
      <p:sp>
        <p:nvSpPr>
          <p:cNvPr id="30" name="Text 28"/>
          <p:cNvSpPr/>
          <p:nvPr/>
        </p:nvSpPr>
        <p:spPr>
          <a:xfrm>
            <a:off x="8011886" y="4121882"/>
            <a:ext cx="3468334" cy="50539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FFT, Goertzel mất năng lượng do lệch tâm bin</a:t>
            </a:r>
            <a:endParaRPr lang="en-US" sz="1400" dirty="0">
              <a:latin typeface="Times New Roman" panose="02020603050405020304" pitchFamily="18" charset="0"/>
              <a:cs typeface="Times New Roman" panose="02020603050405020304" pitchFamily="18" charset="0"/>
            </a:endParaRPr>
          </a:p>
        </p:txBody>
      </p:sp>
      <p:sp>
        <p:nvSpPr>
          <p:cNvPr id="31" name="Shape 29"/>
          <p:cNvSpPr/>
          <p:nvPr/>
        </p:nvSpPr>
        <p:spPr>
          <a:xfrm>
            <a:off x="7842250" y="4805077"/>
            <a:ext cx="0" cy="613342"/>
          </a:xfrm>
          <a:prstGeom prst="line">
            <a:avLst/>
          </a:prstGeom>
          <a:noFill/>
          <a:ln w="38100">
            <a:solidFill>
              <a:srgbClr val="C00000"/>
            </a:solidFill>
            <a:prstDash val="solid"/>
          </a:ln>
        </p:spPr>
      </p:sp>
      <p:sp>
        <p:nvSpPr>
          <p:cNvPr id="32" name="Text 30"/>
          <p:cNvSpPr/>
          <p:nvPr/>
        </p:nvSpPr>
        <p:spPr>
          <a:xfrm>
            <a:off x="8011886" y="4830477"/>
            <a:ext cx="3468334" cy="30984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C00000"/>
                </a:solidFill>
                <a:latin typeface="Times New Roman" panose="02020603050405020304" pitchFamily="18" charset="0"/>
                <a:ea typeface="Open Sans" pitchFamily="34" charset="-122"/>
                <a:cs typeface="Times New Roman" panose="02020603050405020304" pitchFamily="18" charset="0"/>
              </a:rPr>
              <a:t>Lỗi = bỏ sót, không nhầm</a:t>
            </a:r>
            <a:endParaRPr lang="en-US" sz="1600" dirty="0">
              <a:latin typeface="Times New Roman" panose="02020603050405020304" pitchFamily="18" charset="0"/>
              <a:cs typeface="Times New Roman" panose="02020603050405020304" pitchFamily="18" charset="0"/>
            </a:endParaRPr>
          </a:p>
        </p:txBody>
      </p:sp>
      <p:sp>
        <p:nvSpPr>
          <p:cNvPr id="33" name="Text 31"/>
          <p:cNvSpPr/>
          <p:nvPr/>
        </p:nvSpPr>
        <p:spPr>
          <a:xfrm>
            <a:off x="8011886" y="5153025"/>
            <a:ext cx="3468334" cy="265396"/>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2,5 dB: 368 lỗi, chỉ 1 lần thay phím</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14</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Chi phí tính toán</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Goertzel cần ít phép nhân nhất: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¼ FFT</a:t>
            </a: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 và </a:t>
            </a:r>
            <a:r>
              <a:rPr lang="en-US" sz="1700" b="1" dirty="0">
                <a:solidFill>
                  <a:srgbClr val="1F2A44"/>
                </a:solidFill>
                <a:latin typeface="Times New Roman" panose="02020603050405020304" pitchFamily="18" charset="0"/>
                <a:ea typeface="Open Sans" pitchFamily="34" charset="-122"/>
                <a:cs typeface="Times New Roman" panose="02020603050405020304" pitchFamily="18" charset="0"/>
              </a:rPr>
              <a:t>1/10 ngân hàng lọc</a:t>
            </a:r>
            <a:endParaRPr lang="en-US" sz="1700" dirty="0">
              <a:latin typeface="Times New Roman" panose="02020603050405020304" pitchFamily="18" charset="0"/>
              <a:cs typeface="Times New Roman" panose="02020603050405020304" pitchFamily="18" charset="0"/>
            </a:endParaRPr>
          </a:p>
        </p:txBody>
      </p:sp>
      <p:sp>
        <p:nvSpPr>
          <p:cNvPr id="8" name="Text 6"/>
          <p:cNvSpPr/>
          <p:nvPr/>
        </p:nvSpPr>
        <p:spPr>
          <a:xfrm>
            <a:off x="2870200" y="2595389"/>
            <a:ext cx="7089902" cy="25649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A6478"/>
                </a:solidFill>
                <a:latin typeface="Times New Roman" panose="02020603050405020304" pitchFamily="18" charset="0"/>
                <a:ea typeface="Open Sans" pitchFamily="34" charset="-122"/>
                <a:cs typeface="Times New Roman" panose="02020603050405020304" pitchFamily="18" charset="0"/>
              </a:rPr>
              <a:t>Phép nhân mỗi giây âm thanh (lý thuyết)</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9906001" y="2364296"/>
            <a:ext cx="1447800" cy="4875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A6478"/>
                </a:solidFill>
                <a:latin typeface="Times New Roman" panose="02020603050405020304" pitchFamily="18" charset="0"/>
                <a:ea typeface="Open Sans" pitchFamily="34" charset="-122"/>
                <a:cs typeface="Times New Roman" panose="02020603050405020304" pitchFamily="18" charset="0"/>
              </a:rPr>
              <a:t>Đo trong MATLAB</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755650" y="3119834"/>
            <a:ext cx="1962150" cy="327649"/>
          </a:xfrm>
          <a:prstGeom prst="rect">
            <a:avLst/>
          </a:prstGeom>
          <a:noFill/>
          <a:ln/>
        </p:spPr>
        <p:txBody>
          <a:bodyPr wrap="square" lIns="0" tIns="0" rIns="0" bIns="0" rtlCol="0" anchor="t">
            <a:normAutofit/>
          </a:bodyPr>
          <a:lstStyle/>
          <a:p>
            <a:pPr marL="0" indent="0" algn="r">
              <a:lnSpc>
                <a:spcPts val="2380"/>
              </a:lnSpc>
              <a:buNone/>
            </a:pPr>
            <a:r>
              <a:rPr lang="en-US" sz="1700" b="1" dirty="0">
                <a:solidFill>
                  <a:srgbClr val="0B64A8"/>
                </a:solidFill>
                <a:latin typeface="Times New Roman" panose="02020603050405020304" pitchFamily="18" charset="0"/>
                <a:ea typeface="Open Sans" pitchFamily="34" charset="-122"/>
                <a:cs typeface="Times New Roman" panose="02020603050405020304" pitchFamily="18" charset="0"/>
              </a:rPr>
              <a:t>FFT</a:t>
            </a:r>
            <a:endParaRPr lang="en-US" sz="1700" dirty="0">
              <a:latin typeface="Times New Roman" panose="02020603050405020304" pitchFamily="18" charset="0"/>
              <a:cs typeface="Times New Roman" panose="02020603050405020304" pitchFamily="18" charset="0"/>
            </a:endParaRPr>
          </a:p>
        </p:txBody>
      </p:sp>
      <p:sp>
        <p:nvSpPr>
          <p:cNvPr id="11" name="Shape 9"/>
          <p:cNvSpPr/>
          <p:nvPr/>
        </p:nvSpPr>
        <p:spPr>
          <a:xfrm>
            <a:off x="2870200" y="3004288"/>
            <a:ext cx="5461000" cy="533400"/>
          </a:xfrm>
          <a:prstGeom prst="rect">
            <a:avLst/>
          </a:prstGeom>
          <a:solidFill>
            <a:srgbClr val="EEF1F5"/>
          </a:solidFill>
          <a:ln/>
        </p:spPr>
      </p:sp>
      <p:sp>
        <p:nvSpPr>
          <p:cNvPr id="12" name="Shape 10"/>
          <p:cNvSpPr/>
          <p:nvPr/>
        </p:nvSpPr>
        <p:spPr>
          <a:xfrm>
            <a:off x="2870200" y="3004288"/>
            <a:ext cx="2216150" cy="533400"/>
          </a:xfrm>
          <a:prstGeom prst="rect">
            <a:avLst/>
          </a:prstGeom>
          <a:solidFill>
            <a:srgbClr val="0B64A8"/>
          </a:solidFill>
          <a:ln/>
        </p:spPr>
      </p:sp>
      <p:sp>
        <p:nvSpPr>
          <p:cNvPr id="13" name="Text 11"/>
          <p:cNvSpPr/>
          <p:nvPr/>
        </p:nvSpPr>
        <p:spPr>
          <a:xfrm>
            <a:off x="8483600" y="3057637"/>
            <a:ext cx="1320800" cy="45209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64A8"/>
                </a:solidFill>
                <a:latin typeface="Times New Roman" panose="02020603050405020304" pitchFamily="18" charset="0"/>
                <a:ea typeface="Tinos" pitchFamily="34" charset="-122"/>
                <a:cs typeface="Times New Roman" panose="02020603050405020304" pitchFamily="18" charset="0"/>
              </a:rPr>
              <a:t>273 000</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9906001" y="3128733"/>
            <a:ext cx="1447800" cy="30984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2,52 ms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755650" y="3831034"/>
            <a:ext cx="1962150" cy="327649"/>
          </a:xfrm>
          <a:prstGeom prst="rect">
            <a:avLst/>
          </a:prstGeom>
          <a:noFill/>
          <a:ln/>
        </p:spPr>
        <p:txBody>
          <a:bodyPr wrap="square" lIns="0" tIns="0" rIns="0" bIns="0" rtlCol="0" anchor="t">
            <a:normAutofit/>
          </a:bodyPr>
          <a:lstStyle/>
          <a:p>
            <a:pPr marL="0" indent="0" algn="r">
              <a:lnSpc>
                <a:spcPts val="2380"/>
              </a:lnSpc>
              <a:buNone/>
            </a:pPr>
            <a:r>
              <a:rPr lang="en-US" sz="1700" b="1" dirty="0">
                <a:solidFill>
                  <a:srgbClr val="B8480F"/>
                </a:solidFill>
                <a:latin typeface="Times New Roman" panose="02020603050405020304" pitchFamily="18" charset="0"/>
                <a:ea typeface="Open Sans" pitchFamily="34" charset="-122"/>
                <a:cs typeface="Times New Roman" panose="02020603050405020304" pitchFamily="18" charset="0"/>
              </a:rPr>
              <a:t>Goertzel</a:t>
            </a:r>
            <a:endParaRPr lang="en-US" sz="1700" dirty="0">
              <a:latin typeface="Times New Roman" panose="02020603050405020304" pitchFamily="18" charset="0"/>
              <a:cs typeface="Times New Roman" panose="02020603050405020304" pitchFamily="18" charset="0"/>
            </a:endParaRPr>
          </a:p>
        </p:txBody>
      </p:sp>
      <p:sp>
        <p:nvSpPr>
          <p:cNvPr id="16" name="Shape 14"/>
          <p:cNvSpPr/>
          <p:nvPr/>
        </p:nvSpPr>
        <p:spPr>
          <a:xfrm>
            <a:off x="2870200" y="3715488"/>
            <a:ext cx="5461000" cy="533400"/>
          </a:xfrm>
          <a:prstGeom prst="rect">
            <a:avLst/>
          </a:prstGeom>
          <a:solidFill>
            <a:srgbClr val="EEF1F5"/>
          </a:solidFill>
          <a:ln/>
        </p:spPr>
      </p:sp>
      <p:sp>
        <p:nvSpPr>
          <p:cNvPr id="17" name="Shape 15"/>
          <p:cNvSpPr/>
          <p:nvPr/>
        </p:nvSpPr>
        <p:spPr>
          <a:xfrm>
            <a:off x="2870200" y="3715488"/>
            <a:ext cx="533400" cy="533400"/>
          </a:xfrm>
          <a:prstGeom prst="rect">
            <a:avLst/>
          </a:prstGeom>
          <a:solidFill>
            <a:srgbClr val="B8480F"/>
          </a:solidFill>
          <a:ln/>
        </p:spPr>
      </p:sp>
      <p:sp>
        <p:nvSpPr>
          <p:cNvPr id="18" name="Text 16"/>
          <p:cNvSpPr/>
          <p:nvPr/>
        </p:nvSpPr>
        <p:spPr>
          <a:xfrm>
            <a:off x="8483600" y="3768837"/>
            <a:ext cx="1320800" cy="45209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80F"/>
                </a:solidFill>
                <a:latin typeface="Times New Roman" panose="02020603050405020304" pitchFamily="18" charset="0"/>
                <a:ea typeface="Tinos" pitchFamily="34" charset="-122"/>
                <a:cs typeface="Times New Roman" panose="02020603050405020304" pitchFamily="18" charset="0"/>
              </a:rPr>
              <a:t>65 249</a:t>
            </a:r>
            <a:endParaRPr lang="en-US" sz="2400" dirty="0">
              <a:latin typeface="Times New Roman" panose="02020603050405020304" pitchFamily="18" charset="0"/>
              <a:cs typeface="Times New Roman" panose="02020603050405020304" pitchFamily="18" charset="0"/>
            </a:endParaRPr>
          </a:p>
        </p:txBody>
      </p:sp>
      <p:sp>
        <p:nvSpPr>
          <p:cNvPr id="19" name="Text 17"/>
          <p:cNvSpPr/>
          <p:nvPr/>
        </p:nvSpPr>
        <p:spPr>
          <a:xfrm>
            <a:off x="9906001" y="3839933"/>
            <a:ext cx="1447800" cy="30984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8A48"/>
                </a:solidFill>
                <a:latin typeface="Times New Roman" panose="02020603050405020304" pitchFamily="18" charset="0"/>
                <a:ea typeface="Open Sans" pitchFamily="34" charset="-122"/>
                <a:cs typeface="Times New Roman" panose="02020603050405020304" pitchFamily="18" charset="0"/>
              </a:rPr>
              <a:t>1,50 ms</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755650" y="4542234"/>
            <a:ext cx="1962150" cy="327649"/>
          </a:xfrm>
          <a:prstGeom prst="rect">
            <a:avLst/>
          </a:prstGeom>
          <a:noFill/>
          <a:ln/>
        </p:spPr>
        <p:txBody>
          <a:bodyPr wrap="square" lIns="0" tIns="0" rIns="0" bIns="0" rtlCol="0" anchor="t">
            <a:normAutofit/>
          </a:bodyPr>
          <a:lstStyle/>
          <a:p>
            <a:pPr marL="0" indent="0" algn="r">
              <a:lnSpc>
                <a:spcPts val="2380"/>
              </a:lnSpc>
              <a:buNone/>
            </a:pPr>
            <a:r>
              <a:rPr lang="en-US" sz="1700" b="1" dirty="0">
                <a:solidFill>
                  <a:srgbClr val="0B7F58"/>
                </a:solidFill>
                <a:latin typeface="Times New Roman" panose="02020603050405020304" pitchFamily="18" charset="0"/>
                <a:ea typeface="Open Sans" pitchFamily="34" charset="-122"/>
                <a:cs typeface="Times New Roman" panose="02020603050405020304" pitchFamily="18" charset="0"/>
              </a:rPr>
              <a:t>Ngân hàng lọc</a:t>
            </a:r>
            <a:endParaRPr lang="en-US" sz="1700" dirty="0">
              <a:latin typeface="Times New Roman" panose="02020603050405020304" pitchFamily="18" charset="0"/>
              <a:cs typeface="Times New Roman" panose="02020603050405020304" pitchFamily="18" charset="0"/>
            </a:endParaRPr>
          </a:p>
        </p:txBody>
      </p:sp>
      <p:sp>
        <p:nvSpPr>
          <p:cNvPr id="21" name="Shape 19"/>
          <p:cNvSpPr/>
          <p:nvPr/>
        </p:nvSpPr>
        <p:spPr>
          <a:xfrm>
            <a:off x="2870200" y="4426688"/>
            <a:ext cx="5461000" cy="533400"/>
          </a:xfrm>
          <a:prstGeom prst="rect">
            <a:avLst/>
          </a:prstGeom>
          <a:solidFill>
            <a:srgbClr val="EEF1F5"/>
          </a:solidFill>
          <a:ln/>
        </p:spPr>
      </p:sp>
      <p:sp>
        <p:nvSpPr>
          <p:cNvPr id="22" name="Shape 20"/>
          <p:cNvSpPr/>
          <p:nvPr/>
        </p:nvSpPr>
        <p:spPr>
          <a:xfrm>
            <a:off x="2870200" y="4426688"/>
            <a:ext cx="5461000" cy="533400"/>
          </a:xfrm>
          <a:prstGeom prst="rect">
            <a:avLst/>
          </a:prstGeom>
          <a:solidFill>
            <a:srgbClr val="0B7F58"/>
          </a:solidFill>
          <a:ln/>
        </p:spPr>
      </p:sp>
      <p:sp>
        <p:nvSpPr>
          <p:cNvPr id="23" name="Text 21"/>
          <p:cNvSpPr/>
          <p:nvPr/>
        </p:nvSpPr>
        <p:spPr>
          <a:xfrm>
            <a:off x="8483600" y="4480037"/>
            <a:ext cx="1320800" cy="45209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F58"/>
                </a:solidFill>
                <a:latin typeface="Times New Roman" panose="02020603050405020304" pitchFamily="18" charset="0"/>
                <a:ea typeface="Tinos" pitchFamily="34" charset="-122"/>
                <a:cs typeface="Times New Roman" panose="02020603050405020304" pitchFamily="18" charset="0"/>
              </a:rPr>
              <a:t>672 000</a:t>
            </a:r>
            <a:endParaRPr lang="en-US" sz="2400" dirty="0">
              <a:latin typeface="Times New Roman" panose="02020603050405020304" pitchFamily="18" charset="0"/>
              <a:cs typeface="Times New Roman" panose="02020603050405020304" pitchFamily="18" charset="0"/>
            </a:endParaRPr>
          </a:p>
        </p:txBody>
      </p:sp>
      <p:sp>
        <p:nvSpPr>
          <p:cNvPr id="24" name="Text 22"/>
          <p:cNvSpPr/>
          <p:nvPr/>
        </p:nvSpPr>
        <p:spPr>
          <a:xfrm>
            <a:off x="9906001" y="4551133"/>
            <a:ext cx="1447800" cy="30984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4,36 ms</a:t>
            </a:r>
            <a:endParaRPr lang="en-US" sz="1600" dirty="0">
              <a:latin typeface="Times New Roman" panose="02020603050405020304" pitchFamily="18" charset="0"/>
              <a:cs typeface="Times New Roman" panose="02020603050405020304" pitchFamily="18" charset="0"/>
            </a:endParaRPr>
          </a:p>
        </p:txBody>
      </p:sp>
      <p:sp>
        <p:nvSpPr>
          <p:cNvPr id="25" name="Shape 23"/>
          <p:cNvSpPr/>
          <p:nvPr/>
        </p:nvSpPr>
        <p:spPr>
          <a:xfrm>
            <a:off x="812800" y="5476304"/>
            <a:ext cx="10566401" cy="822892"/>
          </a:xfrm>
          <a:prstGeom prst="roundRect">
            <a:avLst>
              <a:gd name="adj" fmla="val 9260"/>
            </a:avLst>
          </a:prstGeom>
          <a:solidFill>
            <a:srgbClr val="FFF2CC"/>
          </a:solidFill>
          <a:ln/>
        </p:spPr>
      </p:sp>
      <p:sp>
        <p:nvSpPr>
          <p:cNvPr id="26" name="Text 24"/>
          <p:cNvSpPr/>
          <p:nvPr/>
        </p:nvSpPr>
        <p:spPr>
          <a:xfrm>
            <a:off x="889762" y="5603304"/>
            <a:ext cx="10412477" cy="594292"/>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Cả ba đều </a:t>
            </a:r>
            <a:r>
              <a:rPr lang="en-US" sz="1600" b="1" dirty="0">
                <a:solidFill>
                  <a:srgbClr val="1F2A44"/>
                </a:solidFill>
                <a:latin typeface="Times New Roman" panose="02020603050405020304" pitchFamily="18" charset="0"/>
                <a:ea typeface="Open Sans" pitchFamily="34" charset="-122"/>
                <a:cs typeface="Times New Roman" panose="02020603050405020304" pitchFamily="18" charset="0"/>
              </a:rPr>
              <a:t>nhanh gấp hàng trăm lần thời gian thực</a:t>
            </a: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 · trên phần cứng nhúng, </a:t>
            </a:r>
            <a:r>
              <a:rPr lang="en-US" sz="1600" dirty="0">
                <a:solidFill>
                  <a:srgbClr val="C00000"/>
                </a:solidFill>
                <a:latin typeface="Times New Roman" panose="02020603050405020304" pitchFamily="18" charset="0"/>
                <a:ea typeface="Open Sans" pitchFamily="34" charset="-122"/>
                <a:cs typeface="Times New Roman" panose="02020603050405020304" pitchFamily="18" charset="0"/>
              </a:rPr>
              <a:t>số phép nhân</a:t>
            </a: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 là thước đo đúng</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15</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Chọn phương pháp nào?</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9150" y="1301750"/>
            <a:ext cx="10553701" cy="539920"/>
          </a:xfrm>
          <a:prstGeom prst="rect">
            <a:avLst/>
          </a:prstGeom>
          <a:solidFill>
            <a:srgbClr val="DAE3F3"/>
          </a:solidFill>
          <a:ln w="12700">
            <a:solidFill>
              <a:srgbClr val="33415C"/>
            </a:solidFill>
            <a:prstDash val="solid"/>
          </a:ln>
        </p:spPr>
      </p:sp>
      <p:sp>
        <p:nvSpPr>
          <p:cNvPr id="7" name="Text 5"/>
          <p:cNvSpPr/>
          <p:nvPr/>
        </p:nvSpPr>
        <p:spPr>
          <a:xfrm>
            <a:off x="874812" y="1420586"/>
            <a:ext cx="10442376" cy="327649"/>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1F2A44"/>
                </a:solidFill>
                <a:latin typeface="Times New Roman" panose="02020603050405020304" pitchFamily="18" charset="0"/>
                <a:ea typeface="Open Sans" pitchFamily="34" charset="-122"/>
                <a:cs typeface="Times New Roman" panose="02020603050405020304" pitchFamily="18" charset="0"/>
              </a:rPr>
              <a:t>Không có phương pháp tốt nhất ở mọi mặt, </a:t>
            </a:r>
            <a:r>
              <a:rPr lang="en-US" sz="1700" dirty="0">
                <a:solidFill>
                  <a:srgbClr val="C00000"/>
                </a:solidFill>
                <a:latin typeface="Times New Roman" panose="02020603050405020304" pitchFamily="18" charset="0"/>
                <a:ea typeface="Open Sans" pitchFamily="34" charset="-122"/>
                <a:cs typeface="Times New Roman" panose="02020603050405020304" pitchFamily="18" charset="0"/>
              </a:rPr>
              <a:t>chọn theo bối cảnh</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822325" y="2111542"/>
            <a:ext cx="3333750" cy="4178130"/>
          </a:xfrm>
          <a:prstGeom prst="roundRect">
            <a:avLst>
              <a:gd name="adj" fmla="val 2762"/>
            </a:avLst>
          </a:prstGeom>
          <a:solidFill>
            <a:srgbClr val="FFFFFF"/>
          </a:solidFill>
          <a:ln w="19050">
            <a:solidFill>
              <a:srgbClr val="B8480F"/>
            </a:solidFill>
            <a:prstDash val="solid"/>
          </a:ln>
        </p:spPr>
      </p:sp>
      <p:sp>
        <p:nvSpPr>
          <p:cNvPr id="9" name="Shape 7"/>
          <p:cNvSpPr/>
          <p:nvPr/>
        </p:nvSpPr>
        <p:spPr>
          <a:xfrm>
            <a:off x="830943" y="2120162"/>
            <a:ext cx="3316515" cy="604497"/>
          </a:xfrm>
          <a:custGeom>
            <a:avLst/>
            <a:gdLst/>
            <a:ahLst/>
            <a:cxnLst/>
            <a:rect l="l" t="t" r="r" b="b"/>
            <a:pathLst>
              <a:path w="3316515" h="604497">
                <a:moveTo>
                  <a:pt x="0" y="83457"/>
                </a:moveTo>
                <a:arcTo wR="83457" hR="83457" stAng="10800000" swAng="5400000"/>
                <a:lnTo>
                  <a:pt x="3233057" y="0"/>
                </a:lnTo>
                <a:arcTo wR="83457" hR="83457" stAng="16200000" swAng="5400000"/>
                <a:lnTo>
                  <a:pt x="3316515" y="604497"/>
                </a:lnTo>
                <a:lnTo>
                  <a:pt x="0" y="604497"/>
                </a:lnTo>
                <a:close/>
              </a:path>
            </a:pathLst>
          </a:custGeom>
          <a:solidFill>
            <a:srgbClr val="B8480F"/>
          </a:solidFill>
          <a:ln/>
        </p:spPr>
      </p:sp>
      <p:sp>
        <p:nvSpPr>
          <p:cNvPr id="10" name="Text 8"/>
          <p:cNvSpPr/>
          <p:nvPr/>
        </p:nvSpPr>
        <p:spPr>
          <a:xfrm>
            <a:off x="938167" y="2209062"/>
            <a:ext cx="3102066" cy="452097"/>
          </a:xfrm>
          <a:prstGeom prst="rect">
            <a:avLst/>
          </a:prstGeom>
          <a:noFill/>
          <a:ln/>
        </p:spPr>
        <p:txBody>
          <a:bodyPr wrap="square" lIns="0" tIns="0" rIns="0" bIns="0" rtlCol="0" anchor="t">
            <a:normAutofit/>
          </a:bodyPr>
          <a:lstStyle/>
          <a:p>
            <a:pPr marL="0" indent="0" algn="ctr">
              <a:lnSpc>
                <a:spcPts val="3360"/>
              </a:lnSpc>
              <a:buNone/>
            </a:pPr>
            <a:r>
              <a:rPr lang="en-US" sz="2400" b="1" dirty="0">
                <a:solidFill>
                  <a:srgbClr val="FDFDFB"/>
                </a:solidFill>
                <a:latin typeface="Times New Roman" panose="02020603050405020304" pitchFamily="18" charset="0"/>
                <a:ea typeface="Tinos" pitchFamily="34" charset="-122"/>
                <a:cs typeface="Times New Roman" panose="02020603050405020304" pitchFamily="18" charset="0"/>
              </a:rPr>
              <a:t>Goertzel</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1034143" y="2902458"/>
            <a:ext cx="2997418" cy="238749"/>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A6478"/>
                </a:solidFill>
                <a:latin typeface="Times New Roman" panose="02020603050405020304" pitchFamily="18" charset="0"/>
                <a:ea typeface="Open Sans" pitchFamily="34" charset="-122"/>
                <a:cs typeface="Times New Roman" panose="02020603050405020304" pitchFamily="18" charset="0"/>
              </a:rPr>
              <a:t>DÙNG KHI</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1034143" y="3192010"/>
            <a:ext cx="2997418" cy="586695"/>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B8480F"/>
                </a:solidFill>
                <a:latin typeface="Times New Roman" panose="02020603050405020304" pitchFamily="18" charset="0"/>
                <a:ea typeface="Open Sans" pitchFamily="34" charset="-122"/>
                <a:cs typeface="Times New Roman" panose="02020603050405020304" pitchFamily="18" charset="0"/>
              </a:rPr>
              <a:t>Thiết bị nhúng, ít tài nguyên</a:t>
            </a:r>
            <a:endParaRPr lang="en-US" sz="1700" dirty="0">
              <a:latin typeface="Times New Roman" panose="02020603050405020304" pitchFamily="18" charset="0"/>
              <a:cs typeface="Times New Roman" panose="02020603050405020304" pitchFamily="18" charset="0"/>
            </a:endParaRPr>
          </a:p>
        </p:txBody>
      </p:sp>
      <p:pic>
        <p:nvPicPr>
          <p:cNvPr id="13" name="Image 0" descr="line"/>
          <p:cNvPicPr>
            <a:picLocks noChangeAspect="1"/>
          </p:cNvPicPr>
          <p:nvPr/>
        </p:nvPicPr>
        <p:blipFill>
          <a:blip r:embed="rId3"/>
          <a:srcRect t="-7106" b="-7106"/>
          <a:stretch/>
        </p:blipFill>
        <p:spPr>
          <a:xfrm>
            <a:off x="1034143" y="3829503"/>
            <a:ext cx="2910114" cy="21771"/>
          </a:xfrm>
          <a:prstGeom prst="rect">
            <a:avLst/>
          </a:prstGeom>
        </p:spPr>
      </p:pic>
      <p:sp>
        <p:nvSpPr>
          <p:cNvPr id="14" name="Text 11"/>
          <p:cNvSpPr/>
          <p:nvPr/>
        </p:nvSpPr>
        <p:spPr>
          <a:xfrm>
            <a:off x="1034143" y="3927475"/>
            <a:ext cx="29974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8A48"/>
                </a:solidFill>
                <a:latin typeface="Times New Roman" panose="02020603050405020304" pitchFamily="18" charset="0"/>
                <a:ea typeface="Open Sans" pitchFamily="34" charset="-122"/>
                <a:cs typeface="Times New Roman" panose="02020603050405020304" pitchFamily="18" charset="0"/>
              </a:rPr>
              <a:t>+</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Bộ nhớ 2 số thực/bin</a:t>
            </a:r>
            <a:endParaRPr lang="en-US" sz="1500" dirty="0">
              <a:latin typeface="Times New Roman" panose="02020603050405020304" pitchFamily="18" charset="0"/>
              <a:cs typeface="Times New Roman" panose="02020603050405020304" pitchFamily="18" charset="0"/>
            </a:endParaRPr>
          </a:p>
        </p:txBody>
      </p:sp>
      <p:sp>
        <p:nvSpPr>
          <p:cNvPr id="15" name="Text 12"/>
          <p:cNvSpPr/>
          <p:nvPr/>
        </p:nvSpPr>
        <p:spPr>
          <a:xfrm>
            <a:off x="1034143" y="4270375"/>
            <a:ext cx="29974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00000"/>
                </a:solidFill>
                <a:latin typeface="Times New Roman" panose="02020603050405020304" pitchFamily="18" charset="0"/>
                <a:ea typeface="Open Sans" pitchFamily="34" charset="-122"/>
                <a:cs typeface="Times New Roman" panose="02020603050405020304" pitchFamily="18" charset="0"/>
              </a:rPr>
              <a:t>−</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Chịu nhiễu kém ngân hàng lọc</a:t>
            </a:r>
            <a:endParaRPr lang="en-US" sz="1500" dirty="0">
              <a:latin typeface="Times New Roman" panose="02020603050405020304" pitchFamily="18" charset="0"/>
              <a:cs typeface="Times New Roman" panose="02020603050405020304" pitchFamily="18" charset="0"/>
            </a:endParaRPr>
          </a:p>
        </p:txBody>
      </p:sp>
      <p:sp>
        <p:nvSpPr>
          <p:cNvPr id="16" name="Shape 13"/>
          <p:cNvSpPr/>
          <p:nvPr/>
        </p:nvSpPr>
        <p:spPr>
          <a:xfrm>
            <a:off x="830943" y="5143159"/>
            <a:ext cx="3316515" cy="1137897"/>
          </a:xfrm>
          <a:custGeom>
            <a:avLst/>
            <a:gdLst/>
            <a:ahLst/>
            <a:cxnLst/>
            <a:rect l="l" t="t" r="r" b="b"/>
            <a:pathLst>
              <a:path w="3316515" h="1137897">
                <a:moveTo>
                  <a:pt x="3316515" y="1054440"/>
                </a:moveTo>
                <a:arcTo wR="83457" hR="83457" stAng="0" swAng="5400000"/>
                <a:lnTo>
                  <a:pt x="83457" y="1137897"/>
                </a:lnTo>
                <a:arcTo wR="83457" hR="83457" stAng="5400000" swAng="5400000"/>
                <a:lnTo>
                  <a:pt x="0" y="0"/>
                </a:lnTo>
                <a:lnTo>
                  <a:pt x="3316515" y="0"/>
                </a:lnTo>
                <a:close/>
              </a:path>
            </a:pathLst>
          </a:custGeom>
          <a:solidFill>
            <a:srgbClr val="FBE5D6"/>
          </a:solidFill>
          <a:ln/>
        </p:spPr>
      </p:sp>
      <p:sp>
        <p:nvSpPr>
          <p:cNvPr id="17" name="Text 14"/>
          <p:cNvSpPr/>
          <p:nvPr/>
        </p:nvSpPr>
        <p:spPr>
          <a:xfrm>
            <a:off x="1790700" y="5295559"/>
            <a:ext cx="1447800"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B8480F"/>
                </a:solidFill>
                <a:latin typeface="Times New Roman" panose="02020603050405020304" pitchFamily="18" charset="0"/>
                <a:ea typeface="Tinos" pitchFamily="34" charset="-122"/>
                <a:cs typeface="Times New Roman" panose="02020603050405020304" pitchFamily="18" charset="0"/>
              </a:rPr>
              <a:t>65.249</a:t>
            </a:r>
            <a:endParaRPr lang="en-US" sz="4000" dirty="0">
              <a:latin typeface="Times New Roman" panose="02020603050405020304" pitchFamily="18" charset="0"/>
              <a:cs typeface="Times New Roman" panose="02020603050405020304" pitchFamily="18" charset="0"/>
            </a:endParaRPr>
          </a:p>
        </p:txBody>
      </p:sp>
      <p:sp>
        <p:nvSpPr>
          <p:cNvPr id="18" name="Text 15"/>
          <p:cNvSpPr/>
          <p:nvPr/>
        </p:nvSpPr>
        <p:spPr>
          <a:xfrm>
            <a:off x="1501585" y="5879759"/>
            <a:ext cx="1975173" cy="27429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phép nhân/s, ít nhất</a:t>
            </a:r>
            <a:endParaRPr lang="en-US" sz="1400" dirty="0">
              <a:latin typeface="Times New Roman" panose="02020603050405020304" pitchFamily="18" charset="0"/>
              <a:cs typeface="Times New Roman" panose="02020603050405020304" pitchFamily="18" charset="0"/>
            </a:endParaRPr>
          </a:p>
        </p:txBody>
      </p:sp>
      <p:sp>
        <p:nvSpPr>
          <p:cNvPr id="19" name="Shape 16"/>
          <p:cNvSpPr/>
          <p:nvPr/>
        </p:nvSpPr>
        <p:spPr>
          <a:xfrm>
            <a:off x="4429125" y="2111542"/>
            <a:ext cx="3333750" cy="4178130"/>
          </a:xfrm>
          <a:prstGeom prst="roundRect">
            <a:avLst>
              <a:gd name="adj" fmla="val 2762"/>
            </a:avLst>
          </a:prstGeom>
          <a:solidFill>
            <a:srgbClr val="FFFFFF"/>
          </a:solidFill>
          <a:ln w="19050">
            <a:solidFill>
              <a:srgbClr val="0B7F58"/>
            </a:solidFill>
            <a:prstDash val="solid"/>
          </a:ln>
        </p:spPr>
      </p:sp>
      <p:sp>
        <p:nvSpPr>
          <p:cNvPr id="20" name="Shape 17"/>
          <p:cNvSpPr/>
          <p:nvPr/>
        </p:nvSpPr>
        <p:spPr>
          <a:xfrm>
            <a:off x="4437743" y="2120162"/>
            <a:ext cx="3316515" cy="604497"/>
          </a:xfrm>
          <a:custGeom>
            <a:avLst/>
            <a:gdLst/>
            <a:ahLst/>
            <a:cxnLst/>
            <a:rect l="l" t="t" r="r" b="b"/>
            <a:pathLst>
              <a:path w="3316515" h="604497">
                <a:moveTo>
                  <a:pt x="0" y="83457"/>
                </a:moveTo>
                <a:arcTo wR="83457" hR="83457" stAng="10800000" swAng="5400000"/>
                <a:lnTo>
                  <a:pt x="3233057" y="0"/>
                </a:lnTo>
                <a:arcTo wR="83457" hR="83457" stAng="16200000" swAng="5400000"/>
                <a:lnTo>
                  <a:pt x="3316515" y="604497"/>
                </a:lnTo>
                <a:lnTo>
                  <a:pt x="0" y="604497"/>
                </a:lnTo>
                <a:close/>
              </a:path>
            </a:pathLst>
          </a:custGeom>
          <a:solidFill>
            <a:srgbClr val="0B7F58"/>
          </a:solidFill>
          <a:ln/>
        </p:spPr>
      </p:sp>
      <p:sp>
        <p:nvSpPr>
          <p:cNvPr id="21" name="Text 18"/>
          <p:cNvSpPr/>
          <p:nvPr/>
        </p:nvSpPr>
        <p:spPr>
          <a:xfrm>
            <a:off x="4544967" y="2209062"/>
            <a:ext cx="3102066" cy="452097"/>
          </a:xfrm>
          <a:prstGeom prst="rect">
            <a:avLst/>
          </a:prstGeom>
          <a:noFill/>
          <a:ln/>
        </p:spPr>
        <p:txBody>
          <a:bodyPr wrap="square" lIns="0" tIns="0" rIns="0" bIns="0" rtlCol="0" anchor="t">
            <a:normAutofit/>
          </a:bodyPr>
          <a:lstStyle/>
          <a:p>
            <a:pPr marL="0" indent="0" algn="ctr">
              <a:lnSpc>
                <a:spcPts val="3360"/>
              </a:lnSpc>
              <a:buNone/>
            </a:pPr>
            <a:r>
              <a:rPr lang="en-US" sz="2400" b="1" dirty="0">
                <a:solidFill>
                  <a:srgbClr val="FDFDFB"/>
                </a:solidFill>
                <a:latin typeface="Times New Roman" panose="02020603050405020304" pitchFamily="18" charset="0"/>
                <a:ea typeface="Tinos" pitchFamily="34" charset="-122"/>
                <a:cs typeface="Times New Roman" panose="02020603050405020304" pitchFamily="18" charset="0"/>
              </a:rPr>
              <a:t>Ngân hàng bộ lọc</a:t>
            </a:r>
            <a:endParaRPr lang="en-US" sz="2400" dirty="0">
              <a:latin typeface="Times New Roman" panose="02020603050405020304" pitchFamily="18" charset="0"/>
              <a:cs typeface="Times New Roman" panose="02020603050405020304" pitchFamily="18" charset="0"/>
            </a:endParaRPr>
          </a:p>
        </p:txBody>
      </p:sp>
      <p:sp>
        <p:nvSpPr>
          <p:cNvPr id="22" name="Text 19"/>
          <p:cNvSpPr/>
          <p:nvPr/>
        </p:nvSpPr>
        <p:spPr>
          <a:xfrm>
            <a:off x="4640943" y="2902458"/>
            <a:ext cx="2997418" cy="238749"/>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A6478"/>
                </a:solidFill>
                <a:latin typeface="Times New Roman" panose="02020603050405020304" pitchFamily="18" charset="0"/>
                <a:ea typeface="Open Sans" pitchFamily="34" charset="-122"/>
                <a:cs typeface="Times New Roman" panose="02020603050405020304" pitchFamily="18" charset="0"/>
              </a:rPr>
              <a:t>DÙNG KHI</a:t>
            </a:r>
            <a:endParaRPr lang="en-US" sz="1200" dirty="0">
              <a:latin typeface="Times New Roman" panose="02020603050405020304" pitchFamily="18" charset="0"/>
              <a:cs typeface="Times New Roman" panose="02020603050405020304" pitchFamily="18" charset="0"/>
            </a:endParaRPr>
          </a:p>
        </p:txBody>
      </p:sp>
      <p:sp>
        <p:nvSpPr>
          <p:cNvPr id="23" name="Text 20"/>
          <p:cNvSpPr/>
          <p:nvPr/>
        </p:nvSpPr>
        <p:spPr>
          <a:xfrm>
            <a:off x="4640943" y="3192010"/>
            <a:ext cx="2997418" cy="306047"/>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0B7F58"/>
                </a:solidFill>
                <a:latin typeface="Times New Roman" panose="02020603050405020304" pitchFamily="18" charset="0"/>
                <a:ea typeface="Open Sans" pitchFamily="34" charset="-122"/>
                <a:cs typeface="Times New Roman" panose="02020603050405020304" pitchFamily="18" charset="0"/>
              </a:rPr>
              <a:t>Nhiễu mạnh, nhiễu điện lưới</a:t>
            </a:r>
            <a:endParaRPr lang="en-US" sz="1700" dirty="0">
              <a:latin typeface="Times New Roman" panose="02020603050405020304" pitchFamily="18" charset="0"/>
              <a:cs typeface="Times New Roman" panose="02020603050405020304" pitchFamily="18" charset="0"/>
            </a:endParaRPr>
          </a:p>
        </p:txBody>
      </p:sp>
      <p:pic>
        <p:nvPicPr>
          <p:cNvPr id="24" name="Image 1" descr="line"/>
          <p:cNvPicPr>
            <a:picLocks noChangeAspect="1"/>
          </p:cNvPicPr>
          <p:nvPr/>
        </p:nvPicPr>
        <p:blipFill>
          <a:blip r:embed="rId3"/>
          <a:srcRect t="-7106" b="-7106"/>
          <a:stretch/>
        </p:blipFill>
        <p:spPr>
          <a:xfrm>
            <a:off x="4640943" y="3548856"/>
            <a:ext cx="2910114" cy="21771"/>
          </a:xfrm>
          <a:prstGeom prst="rect">
            <a:avLst/>
          </a:prstGeom>
        </p:spPr>
      </p:pic>
      <p:sp>
        <p:nvSpPr>
          <p:cNvPr id="25" name="Text 21"/>
          <p:cNvSpPr/>
          <p:nvPr/>
        </p:nvSpPr>
        <p:spPr>
          <a:xfrm>
            <a:off x="4640943" y="3646829"/>
            <a:ext cx="29974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8A48"/>
                </a:solidFill>
                <a:latin typeface="Times New Roman" panose="02020603050405020304" pitchFamily="18" charset="0"/>
                <a:ea typeface="Open Sans" pitchFamily="34" charset="-122"/>
                <a:cs typeface="Times New Roman" panose="02020603050405020304" pitchFamily="18" charset="0"/>
              </a:rPr>
              <a:t>+</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1,00 với nhiễu điện lưới</a:t>
            </a:r>
            <a:endParaRPr lang="en-US" sz="1500" dirty="0">
              <a:latin typeface="Times New Roman" panose="02020603050405020304" pitchFamily="18" charset="0"/>
              <a:cs typeface="Times New Roman" panose="02020603050405020304" pitchFamily="18" charset="0"/>
            </a:endParaRPr>
          </a:p>
        </p:txBody>
      </p:sp>
      <p:sp>
        <p:nvSpPr>
          <p:cNvPr id="26" name="Text 22"/>
          <p:cNvSpPr/>
          <p:nvPr/>
        </p:nvSpPr>
        <p:spPr>
          <a:xfrm>
            <a:off x="4640943" y="3989729"/>
            <a:ext cx="29974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00000"/>
                </a:solidFill>
                <a:latin typeface="Times New Roman" panose="02020603050405020304" pitchFamily="18" charset="0"/>
                <a:ea typeface="Open Sans" pitchFamily="34" charset="-122"/>
                <a:cs typeface="Times New Roman" panose="02020603050405020304" pitchFamily="18" charset="0"/>
              </a:rPr>
              <a:t>−</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Chi phí cao nhất, khó cài nhất</a:t>
            </a:r>
            <a:endParaRPr lang="en-US" sz="1500" dirty="0">
              <a:latin typeface="Times New Roman" panose="02020603050405020304" pitchFamily="18" charset="0"/>
              <a:cs typeface="Times New Roman" panose="02020603050405020304" pitchFamily="18" charset="0"/>
            </a:endParaRPr>
          </a:p>
        </p:txBody>
      </p:sp>
      <p:sp>
        <p:nvSpPr>
          <p:cNvPr id="27" name="Shape 23"/>
          <p:cNvSpPr/>
          <p:nvPr/>
        </p:nvSpPr>
        <p:spPr>
          <a:xfrm>
            <a:off x="4437743" y="5143159"/>
            <a:ext cx="3316515" cy="1137897"/>
          </a:xfrm>
          <a:custGeom>
            <a:avLst/>
            <a:gdLst/>
            <a:ahLst/>
            <a:cxnLst/>
            <a:rect l="l" t="t" r="r" b="b"/>
            <a:pathLst>
              <a:path w="3316515" h="1137897">
                <a:moveTo>
                  <a:pt x="3316515" y="1054440"/>
                </a:moveTo>
                <a:arcTo wR="83457" hR="83457" stAng="0" swAng="5400000"/>
                <a:lnTo>
                  <a:pt x="83457" y="1137897"/>
                </a:lnTo>
                <a:arcTo wR="83457" hR="83457" stAng="5400000" swAng="5400000"/>
                <a:lnTo>
                  <a:pt x="0" y="0"/>
                </a:lnTo>
                <a:lnTo>
                  <a:pt x="3316515" y="0"/>
                </a:lnTo>
                <a:close/>
              </a:path>
            </a:pathLst>
          </a:custGeom>
          <a:solidFill>
            <a:srgbClr val="E8F5EE"/>
          </a:solidFill>
          <a:ln/>
        </p:spPr>
      </p:sp>
      <p:sp>
        <p:nvSpPr>
          <p:cNvPr id="28" name="Text 24"/>
          <p:cNvSpPr/>
          <p:nvPr/>
        </p:nvSpPr>
        <p:spPr>
          <a:xfrm>
            <a:off x="5433332" y="5287138"/>
            <a:ext cx="1424667" cy="584200"/>
          </a:xfrm>
          <a:prstGeom prst="rect">
            <a:avLst/>
          </a:prstGeom>
          <a:noFill/>
          <a:ln/>
        </p:spPr>
        <p:txBody>
          <a:bodyPr wrap="square" lIns="0" tIns="0" rIns="0" bIns="0" rtlCol="0" anchor="t">
            <a:normAutofit/>
          </a:bodyPr>
          <a:lstStyle/>
          <a:p>
            <a:pPr marL="0" indent="0" algn="ctr">
              <a:lnSpc>
                <a:spcPts val="4400"/>
              </a:lnSpc>
              <a:buNone/>
            </a:pPr>
            <a:r>
              <a:rPr lang="en-US" sz="4000" b="1" dirty="0">
                <a:solidFill>
                  <a:srgbClr val="0B7F58"/>
                </a:solidFill>
                <a:latin typeface="Times New Roman" panose="02020603050405020304" pitchFamily="18" charset="0"/>
                <a:ea typeface="Tinos" pitchFamily="34" charset="-122"/>
                <a:cs typeface="Times New Roman" panose="02020603050405020304" pitchFamily="18" charset="0"/>
              </a:rPr>
              <a:t>0,96</a:t>
            </a:r>
            <a:endParaRPr lang="en-US" sz="4000" dirty="0">
              <a:latin typeface="Times New Roman" panose="02020603050405020304" pitchFamily="18" charset="0"/>
              <a:cs typeface="Times New Roman" panose="02020603050405020304" pitchFamily="18" charset="0"/>
            </a:endParaRPr>
          </a:p>
        </p:txBody>
      </p:sp>
      <p:sp>
        <p:nvSpPr>
          <p:cNvPr id="29" name="Text 25"/>
          <p:cNvSpPr/>
          <p:nvPr/>
        </p:nvSpPr>
        <p:spPr>
          <a:xfrm>
            <a:off x="5188156" y="5879759"/>
            <a:ext cx="1815631" cy="27429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độ chính xác ở 2,5 dB</a:t>
            </a:r>
            <a:endParaRPr lang="en-US" sz="1400" dirty="0">
              <a:latin typeface="Times New Roman" panose="02020603050405020304" pitchFamily="18" charset="0"/>
              <a:cs typeface="Times New Roman" panose="02020603050405020304" pitchFamily="18" charset="0"/>
            </a:endParaRPr>
          </a:p>
        </p:txBody>
      </p:sp>
      <p:sp>
        <p:nvSpPr>
          <p:cNvPr id="30" name="Shape 26"/>
          <p:cNvSpPr/>
          <p:nvPr/>
        </p:nvSpPr>
        <p:spPr>
          <a:xfrm>
            <a:off x="8035925" y="2111542"/>
            <a:ext cx="3333750" cy="4178130"/>
          </a:xfrm>
          <a:prstGeom prst="roundRect">
            <a:avLst>
              <a:gd name="adj" fmla="val 2762"/>
            </a:avLst>
          </a:prstGeom>
          <a:solidFill>
            <a:srgbClr val="FFFFFF"/>
          </a:solidFill>
          <a:ln w="19050">
            <a:solidFill>
              <a:srgbClr val="0B64A8"/>
            </a:solidFill>
            <a:prstDash val="solid"/>
          </a:ln>
        </p:spPr>
      </p:sp>
      <p:sp>
        <p:nvSpPr>
          <p:cNvPr id="31" name="Shape 27"/>
          <p:cNvSpPr/>
          <p:nvPr/>
        </p:nvSpPr>
        <p:spPr>
          <a:xfrm>
            <a:off x="8044543" y="2120162"/>
            <a:ext cx="3316515" cy="604497"/>
          </a:xfrm>
          <a:custGeom>
            <a:avLst/>
            <a:gdLst/>
            <a:ahLst/>
            <a:cxnLst/>
            <a:rect l="l" t="t" r="r" b="b"/>
            <a:pathLst>
              <a:path w="3316515" h="604497">
                <a:moveTo>
                  <a:pt x="0" y="83457"/>
                </a:moveTo>
                <a:arcTo wR="83457" hR="83457" stAng="10800000" swAng="5400000"/>
                <a:lnTo>
                  <a:pt x="3233057" y="0"/>
                </a:lnTo>
                <a:arcTo wR="83457" hR="83457" stAng="16200000" swAng="5400000"/>
                <a:lnTo>
                  <a:pt x="3316515" y="604497"/>
                </a:lnTo>
                <a:lnTo>
                  <a:pt x="0" y="604497"/>
                </a:lnTo>
                <a:close/>
              </a:path>
            </a:pathLst>
          </a:custGeom>
          <a:solidFill>
            <a:srgbClr val="0B64A8"/>
          </a:solidFill>
          <a:ln/>
        </p:spPr>
      </p:sp>
      <p:sp>
        <p:nvSpPr>
          <p:cNvPr id="32" name="Text 28"/>
          <p:cNvSpPr/>
          <p:nvPr/>
        </p:nvSpPr>
        <p:spPr>
          <a:xfrm>
            <a:off x="8151767" y="2209062"/>
            <a:ext cx="3102066" cy="452097"/>
          </a:xfrm>
          <a:prstGeom prst="rect">
            <a:avLst/>
          </a:prstGeom>
          <a:noFill/>
          <a:ln/>
        </p:spPr>
        <p:txBody>
          <a:bodyPr wrap="square" lIns="0" tIns="0" rIns="0" bIns="0" rtlCol="0" anchor="t">
            <a:normAutofit/>
          </a:bodyPr>
          <a:lstStyle/>
          <a:p>
            <a:pPr marL="0" indent="0" algn="ctr">
              <a:lnSpc>
                <a:spcPts val="3360"/>
              </a:lnSpc>
              <a:buNone/>
            </a:pPr>
            <a:r>
              <a:rPr lang="en-US" sz="2400" b="1" dirty="0">
                <a:solidFill>
                  <a:srgbClr val="FDFDFB"/>
                </a:solidFill>
                <a:latin typeface="Times New Roman" panose="02020603050405020304" pitchFamily="18" charset="0"/>
                <a:ea typeface="Tinos" pitchFamily="34" charset="-122"/>
                <a:cs typeface="Times New Roman" panose="02020603050405020304" pitchFamily="18" charset="0"/>
              </a:rPr>
              <a:t>DFT / FFT</a:t>
            </a:r>
            <a:endParaRPr lang="en-US" sz="2400" dirty="0">
              <a:latin typeface="Times New Roman" panose="02020603050405020304" pitchFamily="18" charset="0"/>
              <a:cs typeface="Times New Roman" panose="02020603050405020304" pitchFamily="18" charset="0"/>
            </a:endParaRPr>
          </a:p>
        </p:txBody>
      </p:sp>
      <p:sp>
        <p:nvSpPr>
          <p:cNvPr id="33" name="Text 29"/>
          <p:cNvSpPr/>
          <p:nvPr/>
        </p:nvSpPr>
        <p:spPr>
          <a:xfrm>
            <a:off x="8247743" y="2902458"/>
            <a:ext cx="2997418" cy="238749"/>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A6478"/>
                </a:solidFill>
                <a:latin typeface="Times New Roman" panose="02020603050405020304" pitchFamily="18" charset="0"/>
                <a:ea typeface="Open Sans" pitchFamily="34" charset="-122"/>
                <a:cs typeface="Times New Roman" panose="02020603050405020304" pitchFamily="18" charset="0"/>
              </a:rPr>
              <a:t>DÙNG KHI</a:t>
            </a:r>
            <a:endParaRPr lang="en-US" sz="1200" dirty="0">
              <a:latin typeface="Times New Roman" panose="02020603050405020304" pitchFamily="18" charset="0"/>
              <a:cs typeface="Times New Roman" panose="02020603050405020304" pitchFamily="18" charset="0"/>
            </a:endParaRPr>
          </a:p>
        </p:txBody>
      </p:sp>
      <p:sp>
        <p:nvSpPr>
          <p:cNvPr id="34" name="Text 30"/>
          <p:cNvSpPr/>
          <p:nvPr/>
        </p:nvSpPr>
        <p:spPr>
          <a:xfrm>
            <a:off x="8247743" y="3192010"/>
            <a:ext cx="2997418" cy="586695"/>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0B64A8"/>
                </a:solidFill>
                <a:latin typeface="Times New Roman" panose="02020603050405020304" pitchFamily="18" charset="0"/>
                <a:ea typeface="Open Sans" pitchFamily="34" charset="-122"/>
                <a:cs typeface="Times New Roman" panose="02020603050405020304" pitchFamily="18" charset="0"/>
              </a:rPr>
              <a:t>Cần phổ đầy đủ, dò tín hiệu khác</a:t>
            </a:r>
            <a:endParaRPr lang="en-US" sz="1700" dirty="0">
              <a:latin typeface="Times New Roman" panose="02020603050405020304" pitchFamily="18" charset="0"/>
              <a:cs typeface="Times New Roman" panose="02020603050405020304" pitchFamily="18" charset="0"/>
            </a:endParaRPr>
          </a:p>
        </p:txBody>
      </p:sp>
      <p:pic>
        <p:nvPicPr>
          <p:cNvPr id="35" name="Image 2" descr="line"/>
          <p:cNvPicPr>
            <a:picLocks noChangeAspect="1"/>
          </p:cNvPicPr>
          <p:nvPr/>
        </p:nvPicPr>
        <p:blipFill>
          <a:blip r:embed="rId3"/>
          <a:srcRect t="-7106" b="-7106"/>
          <a:stretch/>
        </p:blipFill>
        <p:spPr>
          <a:xfrm>
            <a:off x="8247743" y="3829503"/>
            <a:ext cx="2910114" cy="21771"/>
          </a:xfrm>
          <a:prstGeom prst="rect">
            <a:avLst/>
          </a:prstGeom>
        </p:spPr>
      </p:pic>
      <p:sp>
        <p:nvSpPr>
          <p:cNvPr id="36" name="Text 31"/>
          <p:cNvSpPr/>
          <p:nvPr/>
        </p:nvSpPr>
        <p:spPr>
          <a:xfrm>
            <a:off x="8247743" y="3927475"/>
            <a:ext cx="29974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8A48"/>
                </a:solidFill>
                <a:latin typeface="Times New Roman" panose="02020603050405020304" pitchFamily="18" charset="0"/>
                <a:ea typeface="Open Sans" pitchFamily="34" charset="-122"/>
                <a:cs typeface="Times New Roman" panose="02020603050405020304" pitchFamily="18" charset="0"/>
              </a:rPr>
              <a:t>+</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Dễ cài đặt nhất</a:t>
            </a:r>
            <a:endParaRPr lang="en-US" sz="1500" dirty="0">
              <a:latin typeface="Times New Roman" panose="02020603050405020304" pitchFamily="18" charset="0"/>
              <a:cs typeface="Times New Roman" panose="02020603050405020304" pitchFamily="18" charset="0"/>
            </a:endParaRPr>
          </a:p>
        </p:txBody>
      </p:sp>
      <p:sp>
        <p:nvSpPr>
          <p:cNvPr id="37" name="Text 32"/>
          <p:cNvSpPr/>
          <p:nvPr/>
        </p:nvSpPr>
        <p:spPr>
          <a:xfrm>
            <a:off x="8247743" y="4270375"/>
            <a:ext cx="29974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00000"/>
                </a:solidFill>
                <a:latin typeface="Times New Roman" panose="02020603050405020304" pitchFamily="18" charset="0"/>
                <a:ea typeface="Open Sans" pitchFamily="34" charset="-122"/>
                <a:cs typeface="Times New Roman" panose="02020603050405020304" pitchFamily="18" charset="0"/>
              </a:rPr>
              <a:t>−</a:t>
            </a:r>
            <a:r>
              <a:rPr lang="en-US" sz="1500" dirty="0">
                <a:solidFill>
                  <a:srgbClr val="1F2A44"/>
                </a:solidFill>
                <a:latin typeface="Times New Roman" panose="02020603050405020304" pitchFamily="18" charset="0"/>
                <a:ea typeface="Open Sans" pitchFamily="34" charset="-122"/>
                <a:cs typeface="Times New Roman" panose="02020603050405020304" pitchFamily="18" charset="0"/>
              </a:rPr>
              <a:t> Kém bền nhiễu nhất</a:t>
            </a:r>
            <a:endParaRPr lang="en-US" sz="1500" dirty="0">
              <a:latin typeface="Times New Roman" panose="02020603050405020304" pitchFamily="18" charset="0"/>
              <a:cs typeface="Times New Roman" panose="02020603050405020304" pitchFamily="18" charset="0"/>
            </a:endParaRPr>
          </a:p>
        </p:txBody>
      </p:sp>
      <p:sp>
        <p:nvSpPr>
          <p:cNvPr id="38" name="Shape 33"/>
          <p:cNvSpPr/>
          <p:nvPr/>
        </p:nvSpPr>
        <p:spPr>
          <a:xfrm>
            <a:off x="8044543" y="5143159"/>
            <a:ext cx="3316515" cy="1137897"/>
          </a:xfrm>
          <a:custGeom>
            <a:avLst/>
            <a:gdLst/>
            <a:ahLst/>
            <a:cxnLst/>
            <a:rect l="l" t="t" r="r" b="b"/>
            <a:pathLst>
              <a:path w="3316515" h="1137897">
                <a:moveTo>
                  <a:pt x="3316515" y="1054440"/>
                </a:moveTo>
                <a:arcTo wR="83457" hR="83457" stAng="0" swAng="5400000"/>
                <a:lnTo>
                  <a:pt x="83457" y="1137897"/>
                </a:lnTo>
                <a:arcTo wR="83457" hR="83457" stAng="5400000" swAng="5400000"/>
                <a:lnTo>
                  <a:pt x="0" y="0"/>
                </a:lnTo>
                <a:lnTo>
                  <a:pt x="3316515" y="0"/>
                </a:lnTo>
                <a:close/>
              </a:path>
            </a:pathLst>
          </a:custGeom>
          <a:solidFill>
            <a:srgbClr val="DEEBF7"/>
          </a:solidFill>
          <a:ln/>
        </p:spPr>
      </p:sp>
      <p:sp>
        <p:nvSpPr>
          <p:cNvPr id="39" name="Text 34"/>
          <p:cNvSpPr/>
          <p:nvPr/>
        </p:nvSpPr>
        <p:spPr>
          <a:xfrm>
            <a:off x="9321800" y="5295559"/>
            <a:ext cx="1079499"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0B64A8"/>
                </a:solidFill>
                <a:latin typeface="Times New Roman" panose="02020603050405020304" pitchFamily="18" charset="0"/>
                <a:ea typeface="Tinos" pitchFamily="34" charset="-122"/>
                <a:cs typeface="Times New Roman" panose="02020603050405020304" pitchFamily="18" charset="0"/>
              </a:rPr>
              <a:t>256</a:t>
            </a:r>
            <a:endParaRPr lang="en-US" sz="4000" dirty="0">
              <a:latin typeface="Times New Roman" panose="02020603050405020304" pitchFamily="18" charset="0"/>
              <a:cs typeface="Times New Roman" panose="02020603050405020304" pitchFamily="18" charset="0"/>
            </a:endParaRPr>
          </a:p>
        </p:txBody>
      </p:sp>
      <p:sp>
        <p:nvSpPr>
          <p:cNvPr id="40" name="Text 35"/>
          <p:cNvSpPr/>
          <p:nvPr/>
        </p:nvSpPr>
        <p:spPr>
          <a:xfrm>
            <a:off x="8897598" y="5879759"/>
            <a:ext cx="1610405" cy="27429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1F2A44"/>
                </a:solidFill>
                <a:latin typeface="Times New Roman" panose="02020603050405020304" pitchFamily="18" charset="0"/>
                <a:ea typeface="Open Sans" pitchFamily="34" charset="-122"/>
                <a:cs typeface="Times New Roman" panose="02020603050405020304" pitchFamily="18" charset="0"/>
              </a:rPr>
              <a:t>bin phổ mỗi khung</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DFB"/>
        </a:solidFill>
        <a:effectLst/>
      </p:bgPr>
    </p:bg>
    <p:spTree>
      <p:nvGrpSpPr>
        <p:cNvPr id="1" name=""/>
        <p:cNvGrpSpPr/>
        <p:nvPr/>
      </p:nvGrpSpPr>
      <p:grpSpPr>
        <a:xfrm>
          <a:off x="0" y="0"/>
          <a:ext cx="0" cy="0"/>
          <a:chOff x="0" y="0"/>
          <a:chExt cx="0" cy="0"/>
        </a:xfrm>
      </p:grpSpPr>
      <p:sp>
        <p:nvSpPr>
          <p:cNvPr id="2" name="Shape 0"/>
          <p:cNvSpPr/>
          <p:nvPr/>
        </p:nvSpPr>
        <p:spPr>
          <a:xfrm>
            <a:off x="0" y="0"/>
            <a:ext cx="609600" cy="863600"/>
          </a:xfrm>
          <a:prstGeom prst="rect">
            <a:avLst/>
          </a:prstGeom>
          <a:solidFill>
            <a:srgbClr val="B4C7E7"/>
          </a:solidFill>
          <a:ln/>
        </p:spPr>
      </p:sp>
      <p:sp>
        <p:nvSpPr>
          <p:cNvPr id="3" name="Text 1"/>
          <p:cNvSpPr/>
          <p:nvPr/>
        </p:nvSpPr>
        <p:spPr>
          <a:xfrm>
            <a:off x="-25400" y="0"/>
            <a:ext cx="660400" cy="889000"/>
          </a:xfrm>
          <a:prstGeom prst="rect">
            <a:avLst/>
          </a:prstGeom>
          <a:noFill/>
          <a:ln/>
        </p:spPr>
        <p:txBody>
          <a:bodyPr wrap="square" lIns="0" tIns="0" rIns="0" bIns="0" rtlCol="0" anchor="t">
            <a:normAutofit/>
          </a:bodyPr>
          <a:lstStyle/>
          <a:p>
            <a:pPr marL="0" indent="0" algn="ctr">
              <a:lnSpc>
                <a:spcPts val="6804"/>
              </a:lnSpc>
              <a:buNone/>
            </a:pPr>
            <a:r>
              <a:rPr lang="en-US" sz="1800" dirty="0">
                <a:solidFill>
                  <a:srgbClr val="1F2A44"/>
                </a:solidFill>
                <a:latin typeface="Times New Roman" panose="02020603050405020304" pitchFamily="18" charset="0"/>
                <a:ea typeface="Tinos" pitchFamily="34" charset="-122"/>
                <a:cs typeface="Times New Roman" panose="02020603050405020304" pitchFamily="18" charset="0"/>
              </a:rPr>
              <a:t>16</a:t>
            </a:r>
            <a:endParaRPr lang="en-US" sz="1800" dirty="0">
              <a:latin typeface="Times New Roman" panose="02020603050405020304" pitchFamily="18" charset="0"/>
              <a:cs typeface="Times New Roman" panose="02020603050405020304" pitchFamily="18" charset="0"/>
            </a:endParaRPr>
          </a:p>
        </p:txBody>
      </p:sp>
      <p:sp>
        <p:nvSpPr>
          <p:cNvPr id="4" name="Shape 2"/>
          <p:cNvSpPr/>
          <p:nvPr/>
        </p:nvSpPr>
        <p:spPr>
          <a:xfrm>
            <a:off x="0" y="863600"/>
            <a:ext cx="12192001" cy="127000"/>
          </a:xfrm>
          <a:prstGeom prst="rect">
            <a:avLst/>
          </a:prstGeom>
          <a:solidFill>
            <a:srgbClr val="F4B183"/>
          </a:solidFill>
          <a:ln/>
        </p:spPr>
      </p:sp>
      <p:sp>
        <p:nvSpPr>
          <p:cNvPr id="5" name="Text 3"/>
          <p:cNvSpPr/>
          <p:nvPr/>
        </p:nvSpPr>
        <p:spPr>
          <a:xfrm>
            <a:off x="654304" y="127000"/>
            <a:ext cx="10883393" cy="640046"/>
          </a:xfrm>
          <a:prstGeom prst="rect">
            <a:avLst/>
          </a:prstGeom>
          <a:noFill/>
          <a:ln/>
        </p:spPr>
        <p:txBody>
          <a:bodyPr wrap="none" lIns="0" tIns="0" rIns="0" bIns="0" rtlCol="0" anchor="t">
            <a:normAutofit/>
          </a:bodyPr>
          <a:lstStyle/>
          <a:p>
            <a:pPr marL="0" indent="0" algn="ctr">
              <a:lnSpc>
                <a:spcPts val="4840"/>
              </a:lnSpc>
              <a:buNone/>
            </a:pPr>
            <a:r>
              <a:rPr lang="en-US" sz="4400" b="1" dirty="0">
                <a:solidFill>
                  <a:srgbClr val="178A48"/>
                </a:solidFill>
                <a:latin typeface="Times New Roman" panose="02020603050405020304" pitchFamily="18" charset="0"/>
                <a:ea typeface="Tinos" pitchFamily="34" charset="-122"/>
                <a:cs typeface="Times New Roman" panose="02020603050405020304" pitchFamily="18" charset="0"/>
              </a:rPr>
              <a:t>Kết luận và hướng phát triển</a:t>
            </a:r>
            <a:endParaRPr lang="en-US" sz="4400" dirty="0">
              <a:latin typeface="Times New Roman" panose="02020603050405020304" pitchFamily="18" charset="0"/>
              <a:cs typeface="Times New Roman" panose="02020603050405020304" pitchFamily="18" charset="0"/>
            </a:endParaRPr>
          </a:p>
        </p:txBody>
      </p:sp>
      <p:sp>
        <p:nvSpPr>
          <p:cNvPr id="6" name="Shape 4"/>
          <p:cNvSpPr/>
          <p:nvPr/>
        </p:nvSpPr>
        <p:spPr>
          <a:xfrm>
            <a:off x="812800" y="1295394"/>
            <a:ext cx="5130800" cy="5003800"/>
          </a:xfrm>
          <a:prstGeom prst="roundRect">
            <a:avLst>
              <a:gd name="adj" fmla="val 2030"/>
            </a:avLst>
          </a:prstGeom>
          <a:solidFill>
            <a:srgbClr val="F6FAF4"/>
          </a:solidFill>
          <a:ln/>
        </p:spPr>
      </p:sp>
      <p:sp>
        <p:nvSpPr>
          <p:cNvPr id="7" name="Shape 5"/>
          <p:cNvSpPr/>
          <p:nvPr/>
        </p:nvSpPr>
        <p:spPr>
          <a:xfrm>
            <a:off x="812800" y="1295394"/>
            <a:ext cx="5130800" cy="619749"/>
          </a:xfrm>
          <a:custGeom>
            <a:avLst/>
            <a:gdLst/>
            <a:ahLst/>
            <a:cxnLst/>
            <a:rect l="l" t="t" r="r" b="b"/>
            <a:pathLst>
              <a:path w="5130800" h="619749">
                <a:moveTo>
                  <a:pt x="0" y="101600"/>
                </a:moveTo>
                <a:arcTo wR="101600" hR="101600" stAng="10800000" swAng="5400000"/>
                <a:lnTo>
                  <a:pt x="5029200" y="0"/>
                </a:lnTo>
                <a:arcTo wR="101600" hR="101600" stAng="16200000" swAng="5400000"/>
                <a:lnTo>
                  <a:pt x="5130800" y="619749"/>
                </a:lnTo>
                <a:lnTo>
                  <a:pt x="0" y="619749"/>
                </a:lnTo>
                <a:close/>
              </a:path>
            </a:pathLst>
          </a:custGeom>
          <a:solidFill>
            <a:srgbClr val="178A48"/>
          </a:solidFill>
          <a:ln/>
        </p:spPr>
      </p:sp>
      <p:sp>
        <p:nvSpPr>
          <p:cNvPr id="8" name="Text 6"/>
          <p:cNvSpPr/>
          <p:nvPr/>
        </p:nvSpPr>
        <p:spPr>
          <a:xfrm>
            <a:off x="1016000" y="1409694"/>
            <a:ext cx="4866132" cy="416549"/>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DFDFB"/>
                </a:solidFill>
                <a:latin typeface="Times New Roman" panose="02020603050405020304" pitchFamily="18" charset="0"/>
                <a:ea typeface="Tinos" pitchFamily="34" charset="-122"/>
                <a:cs typeface="Times New Roman" panose="02020603050405020304" pitchFamily="18" charset="0"/>
              </a:rPr>
              <a:t>Đã làm được</a:t>
            </a:r>
            <a:endParaRPr lang="en-US" sz="2200" dirty="0">
              <a:latin typeface="Times New Roman" panose="02020603050405020304" pitchFamily="18" charset="0"/>
              <a:cs typeface="Times New Roman" panose="02020603050405020304" pitchFamily="18" charset="0"/>
            </a:endParaRPr>
          </a:p>
        </p:txBody>
      </p:sp>
      <p:pic>
        <p:nvPicPr>
          <p:cNvPr id="9" name="Image 0" descr="CheckCircle"/>
          <p:cNvPicPr>
            <a:picLocks noChangeAspect="1"/>
          </p:cNvPicPr>
          <p:nvPr/>
        </p:nvPicPr>
        <p:blipFill>
          <a:blip r:embed="rId3"/>
          <a:srcRect/>
          <a:stretch/>
        </p:blipFill>
        <p:spPr>
          <a:xfrm>
            <a:off x="1041400" y="2583650"/>
            <a:ext cx="279400" cy="279400"/>
          </a:xfrm>
          <a:prstGeom prst="rect">
            <a:avLst/>
          </a:prstGeom>
        </p:spPr>
      </p:pic>
      <p:sp>
        <p:nvSpPr>
          <p:cNvPr id="10" name="Text 7"/>
          <p:cNvSpPr/>
          <p:nvPr/>
        </p:nvSpPr>
        <p:spPr>
          <a:xfrm>
            <a:off x="1447800" y="2586205"/>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Bộ phát DTMF chuẩn + cộng nhiễu đúng SNR</a:t>
            </a:r>
            <a:endParaRPr lang="en-US" sz="1600" dirty="0">
              <a:latin typeface="Times New Roman" panose="02020603050405020304" pitchFamily="18" charset="0"/>
              <a:cs typeface="Times New Roman" panose="02020603050405020304" pitchFamily="18" charset="0"/>
            </a:endParaRPr>
          </a:p>
        </p:txBody>
      </p:sp>
      <p:pic>
        <p:nvPicPr>
          <p:cNvPr id="11" name="Image 1" descr="CheckCircle"/>
          <p:cNvPicPr>
            <a:picLocks noChangeAspect="1"/>
          </p:cNvPicPr>
          <p:nvPr/>
        </p:nvPicPr>
        <p:blipFill>
          <a:blip r:embed="rId3"/>
          <a:srcRect/>
          <a:stretch/>
        </p:blipFill>
        <p:spPr>
          <a:xfrm>
            <a:off x="1041400" y="3506161"/>
            <a:ext cx="279400" cy="279400"/>
          </a:xfrm>
          <a:prstGeom prst="rect">
            <a:avLst/>
          </a:prstGeom>
        </p:spPr>
      </p:pic>
      <p:sp>
        <p:nvSpPr>
          <p:cNvPr id="12" name="Text 8"/>
          <p:cNvSpPr/>
          <p:nvPr/>
        </p:nvSpPr>
        <p:spPr>
          <a:xfrm>
            <a:off x="1447800" y="3508716"/>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3 bộ giải mã, chung tiêu chí chấp nhận khung</a:t>
            </a:r>
            <a:endParaRPr lang="en-US" sz="1600" dirty="0">
              <a:latin typeface="Times New Roman" panose="02020603050405020304" pitchFamily="18" charset="0"/>
              <a:cs typeface="Times New Roman" panose="02020603050405020304" pitchFamily="18" charset="0"/>
            </a:endParaRPr>
          </a:p>
        </p:txBody>
      </p:sp>
      <p:pic>
        <p:nvPicPr>
          <p:cNvPr id="13" name="Image 2" descr="CheckCircle"/>
          <p:cNvPicPr>
            <a:picLocks noChangeAspect="1"/>
          </p:cNvPicPr>
          <p:nvPr/>
        </p:nvPicPr>
        <p:blipFill>
          <a:blip r:embed="rId3"/>
          <a:srcRect/>
          <a:stretch/>
        </p:blipFill>
        <p:spPr>
          <a:xfrm>
            <a:off x="1041400" y="4428722"/>
            <a:ext cx="279400" cy="279400"/>
          </a:xfrm>
          <a:prstGeom prst="rect">
            <a:avLst/>
          </a:prstGeom>
        </p:spPr>
      </p:pic>
      <p:sp>
        <p:nvSpPr>
          <p:cNvPr id="14" name="Text 9"/>
          <p:cNvSpPr/>
          <p:nvPr/>
        </p:nvSpPr>
        <p:spPr>
          <a:xfrm>
            <a:off x="1447800" y="4431277"/>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Cả ba đúng 100% từ SNR 7,5 dB</a:t>
            </a:r>
            <a:endParaRPr lang="en-US" sz="1600" dirty="0">
              <a:latin typeface="Times New Roman" panose="02020603050405020304" pitchFamily="18" charset="0"/>
              <a:cs typeface="Times New Roman" panose="02020603050405020304" pitchFamily="18" charset="0"/>
            </a:endParaRPr>
          </a:p>
        </p:txBody>
      </p:sp>
      <p:pic>
        <p:nvPicPr>
          <p:cNvPr id="15" name="Image 3" descr="CheckCircle"/>
          <p:cNvPicPr>
            <a:picLocks noChangeAspect="1"/>
          </p:cNvPicPr>
          <p:nvPr/>
        </p:nvPicPr>
        <p:blipFill>
          <a:blip r:embed="rId3"/>
          <a:srcRect/>
          <a:stretch/>
        </p:blipFill>
        <p:spPr>
          <a:xfrm>
            <a:off x="1041400" y="5351233"/>
            <a:ext cx="279400" cy="279400"/>
          </a:xfrm>
          <a:prstGeom prst="rect">
            <a:avLst/>
          </a:prstGeom>
        </p:spPr>
      </p:pic>
      <p:sp>
        <p:nvSpPr>
          <p:cNvPr id="16" name="Text 10"/>
          <p:cNvSpPr/>
          <p:nvPr/>
        </p:nvSpPr>
        <p:spPr>
          <a:xfrm>
            <a:off x="1447800" y="5353788"/>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Giao diện trực quan, 266 ca kiểm thử</a:t>
            </a:r>
            <a:endParaRPr lang="en-US" sz="1600" dirty="0">
              <a:latin typeface="Times New Roman" panose="02020603050405020304" pitchFamily="18" charset="0"/>
              <a:cs typeface="Times New Roman" panose="02020603050405020304" pitchFamily="18" charset="0"/>
            </a:endParaRPr>
          </a:p>
        </p:txBody>
      </p:sp>
      <p:sp>
        <p:nvSpPr>
          <p:cNvPr id="17" name="Shape 11"/>
          <p:cNvSpPr/>
          <p:nvPr/>
        </p:nvSpPr>
        <p:spPr>
          <a:xfrm>
            <a:off x="6248400" y="1295394"/>
            <a:ext cx="5130800" cy="5003800"/>
          </a:xfrm>
          <a:prstGeom prst="roundRect">
            <a:avLst>
              <a:gd name="adj" fmla="val 2030"/>
            </a:avLst>
          </a:prstGeom>
          <a:solidFill>
            <a:srgbClr val="F3F6FA"/>
          </a:solidFill>
          <a:ln/>
        </p:spPr>
      </p:sp>
      <p:sp>
        <p:nvSpPr>
          <p:cNvPr id="18" name="Shape 12"/>
          <p:cNvSpPr/>
          <p:nvPr/>
        </p:nvSpPr>
        <p:spPr>
          <a:xfrm>
            <a:off x="6248400" y="1295394"/>
            <a:ext cx="5130800" cy="619749"/>
          </a:xfrm>
          <a:custGeom>
            <a:avLst/>
            <a:gdLst/>
            <a:ahLst/>
            <a:cxnLst/>
            <a:rect l="l" t="t" r="r" b="b"/>
            <a:pathLst>
              <a:path w="5130800" h="619749">
                <a:moveTo>
                  <a:pt x="0" y="101600"/>
                </a:moveTo>
                <a:arcTo wR="101600" hR="101600" stAng="10800000" swAng="5400000"/>
                <a:lnTo>
                  <a:pt x="5029200" y="0"/>
                </a:lnTo>
                <a:arcTo wR="101600" hR="101600" stAng="16200000" swAng="5400000"/>
                <a:lnTo>
                  <a:pt x="5130800" y="619749"/>
                </a:lnTo>
                <a:lnTo>
                  <a:pt x="0" y="619749"/>
                </a:lnTo>
                <a:close/>
              </a:path>
            </a:pathLst>
          </a:custGeom>
          <a:solidFill>
            <a:srgbClr val="1F4E9A"/>
          </a:solidFill>
          <a:ln/>
        </p:spPr>
      </p:sp>
      <p:sp>
        <p:nvSpPr>
          <p:cNvPr id="19" name="Text 13"/>
          <p:cNvSpPr/>
          <p:nvPr/>
        </p:nvSpPr>
        <p:spPr>
          <a:xfrm>
            <a:off x="6451600" y="1409694"/>
            <a:ext cx="4866132" cy="416549"/>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DFDFB"/>
                </a:solidFill>
                <a:latin typeface="Times New Roman" panose="02020603050405020304" pitchFamily="18" charset="0"/>
                <a:ea typeface="Tinos" pitchFamily="34" charset="-122"/>
                <a:cs typeface="Times New Roman" panose="02020603050405020304" pitchFamily="18" charset="0"/>
              </a:rPr>
              <a:t>Hướng phát triển</a:t>
            </a:r>
            <a:endParaRPr lang="en-US" sz="2200" dirty="0">
              <a:latin typeface="Times New Roman" panose="02020603050405020304" pitchFamily="18" charset="0"/>
              <a:cs typeface="Times New Roman" panose="02020603050405020304" pitchFamily="18" charset="0"/>
            </a:endParaRPr>
          </a:p>
        </p:txBody>
      </p:sp>
      <p:pic>
        <p:nvPicPr>
          <p:cNvPr id="20" name="Image 4" descr="Lightbulb"/>
          <p:cNvPicPr>
            <a:picLocks noChangeAspect="1"/>
          </p:cNvPicPr>
          <p:nvPr/>
        </p:nvPicPr>
        <p:blipFill>
          <a:blip r:embed="rId4"/>
          <a:srcRect/>
          <a:stretch/>
        </p:blipFill>
        <p:spPr>
          <a:xfrm>
            <a:off x="6477000" y="2583650"/>
            <a:ext cx="279400" cy="279400"/>
          </a:xfrm>
          <a:prstGeom prst="rect">
            <a:avLst/>
          </a:prstGeom>
        </p:spPr>
      </p:pic>
      <p:sp>
        <p:nvSpPr>
          <p:cNvPr id="21" name="Text 14"/>
          <p:cNvSpPr/>
          <p:nvPr/>
        </p:nvSpPr>
        <p:spPr>
          <a:xfrm>
            <a:off x="6883400" y="2586205"/>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Ngưỡng thích nghi, thử với tiếng nói thật</a:t>
            </a:r>
            <a:endParaRPr lang="en-US" sz="1600" dirty="0">
              <a:latin typeface="Times New Roman" panose="02020603050405020304" pitchFamily="18" charset="0"/>
              <a:cs typeface="Times New Roman" panose="02020603050405020304" pitchFamily="18" charset="0"/>
            </a:endParaRPr>
          </a:p>
        </p:txBody>
      </p:sp>
      <p:pic>
        <p:nvPicPr>
          <p:cNvPr id="22" name="Image 5" descr="Lightbulb"/>
          <p:cNvPicPr>
            <a:picLocks noChangeAspect="1"/>
          </p:cNvPicPr>
          <p:nvPr/>
        </p:nvPicPr>
        <p:blipFill>
          <a:blip r:embed="rId4"/>
          <a:srcRect/>
          <a:stretch/>
        </p:blipFill>
        <p:spPr>
          <a:xfrm>
            <a:off x="6477000" y="3506161"/>
            <a:ext cx="279400" cy="279400"/>
          </a:xfrm>
          <a:prstGeom prst="rect">
            <a:avLst/>
          </a:prstGeom>
        </p:spPr>
      </p:pic>
      <p:sp>
        <p:nvSpPr>
          <p:cNvPr id="23" name="Text 15"/>
          <p:cNvSpPr/>
          <p:nvPr/>
        </p:nvSpPr>
        <p:spPr>
          <a:xfrm>
            <a:off x="6883400" y="3508716"/>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Tuân thủ đủ ITU-T Q.24</a:t>
            </a:r>
            <a:endParaRPr lang="en-US" sz="1600" dirty="0">
              <a:latin typeface="Times New Roman" panose="02020603050405020304" pitchFamily="18" charset="0"/>
              <a:cs typeface="Times New Roman" panose="02020603050405020304" pitchFamily="18" charset="0"/>
            </a:endParaRPr>
          </a:p>
        </p:txBody>
      </p:sp>
      <p:pic>
        <p:nvPicPr>
          <p:cNvPr id="24" name="Image 6" descr="Lightbulb"/>
          <p:cNvPicPr>
            <a:picLocks noChangeAspect="1"/>
          </p:cNvPicPr>
          <p:nvPr/>
        </p:nvPicPr>
        <p:blipFill>
          <a:blip r:embed="rId4"/>
          <a:srcRect/>
          <a:stretch/>
        </p:blipFill>
        <p:spPr>
          <a:xfrm>
            <a:off x="6477000" y="4428722"/>
            <a:ext cx="279400" cy="279400"/>
          </a:xfrm>
          <a:prstGeom prst="rect">
            <a:avLst/>
          </a:prstGeom>
        </p:spPr>
      </p:pic>
      <p:sp>
        <p:nvSpPr>
          <p:cNvPr id="25" name="Text 16"/>
          <p:cNvSpPr/>
          <p:nvPr/>
        </p:nvSpPr>
        <p:spPr>
          <a:xfrm>
            <a:off x="6883400" y="4431277"/>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Goertzel thời gian thực trên vi điều khiển</a:t>
            </a:r>
            <a:endParaRPr lang="en-US" sz="1600" dirty="0">
              <a:latin typeface="Times New Roman" panose="02020603050405020304" pitchFamily="18" charset="0"/>
              <a:cs typeface="Times New Roman" panose="02020603050405020304" pitchFamily="18" charset="0"/>
            </a:endParaRPr>
          </a:p>
        </p:txBody>
      </p:sp>
      <p:pic>
        <p:nvPicPr>
          <p:cNvPr id="26" name="Image 7" descr="Lightbulb"/>
          <p:cNvPicPr>
            <a:picLocks noChangeAspect="1"/>
          </p:cNvPicPr>
          <p:nvPr/>
        </p:nvPicPr>
        <p:blipFill>
          <a:blip r:embed="rId4"/>
          <a:srcRect/>
          <a:stretch/>
        </p:blipFill>
        <p:spPr>
          <a:xfrm>
            <a:off x="6477000" y="5351233"/>
            <a:ext cx="279400" cy="279400"/>
          </a:xfrm>
          <a:prstGeom prst="rect">
            <a:avLst/>
          </a:prstGeom>
        </p:spPr>
      </p:pic>
      <p:sp>
        <p:nvSpPr>
          <p:cNvPr id="27" name="Text 17"/>
          <p:cNvSpPr/>
          <p:nvPr/>
        </p:nvSpPr>
        <p:spPr>
          <a:xfrm>
            <a:off x="6883400" y="5353788"/>
            <a:ext cx="4395216" cy="29969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44"/>
                </a:solidFill>
                <a:latin typeface="Times New Roman" panose="02020603050405020304" pitchFamily="18" charset="0"/>
                <a:ea typeface="Open Sans" pitchFamily="34" charset="-122"/>
                <a:cs typeface="Times New Roman" panose="02020603050405020304" pitchFamily="18" charset="0"/>
              </a:rPr>
              <a:t>Thêm cột 1633 Hz cho phím A–D</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F5E22"/>
        </a:solidFill>
        <a:effectLst/>
      </p:bgPr>
    </p:bg>
    <p:spTree>
      <p:nvGrpSpPr>
        <p:cNvPr id="1" name=""/>
        <p:cNvGrpSpPr/>
        <p:nvPr/>
      </p:nvGrpSpPr>
      <p:grpSpPr>
        <a:xfrm>
          <a:off x="0" y="0"/>
          <a:ext cx="0" cy="0"/>
          <a:chOff x="0" y="0"/>
          <a:chExt cx="0" cy="0"/>
        </a:xfrm>
      </p:grpSpPr>
      <p:sp>
        <p:nvSpPr>
          <p:cNvPr id="2" name="Shape 0"/>
          <p:cNvSpPr/>
          <p:nvPr/>
        </p:nvSpPr>
        <p:spPr>
          <a:xfrm>
            <a:off x="0" y="0"/>
            <a:ext cx="12192001" cy="6858000"/>
          </a:xfrm>
          <a:prstGeom prst="rect">
            <a:avLst/>
          </a:prstGeom>
          <a:gradFill rotWithShape="1">
            <a:gsLst>
              <a:gs pos="0">
                <a:srgbClr val="2F5E22"/>
              </a:gs>
              <a:gs pos="50000">
                <a:srgbClr val="5E9C3F"/>
              </a:gs>
              <a:gs pos="100000">
                <a:srgbClr val="2F5E22"/>
              </a:gs>
            </a:gsLst>
            <a:lin ang="0" scaled="0"/>
          </a:gradFill>
          <a:ln/>
        </p:spPr>
      </p:sp>
      <p:sp>
        <p:nvSpPr>
          <p:cNvPr id="3" name="Text 1"/>
          <p:cNvSpPr/>
          <p:nvPr/>
        </p:nvSpPr>
        <p:spPr>
          <a:xfrm>
            <a:off x="1884619" y="2204765"/>
            <a:ext cx="8422763" cy="1661092"/>
          </a:xfrm>
          <a:prstGeom prst="rect">
            <a:avLst/>
          </a:prstGeom>
          <a:noFill/>
          <a:ln/>
        </p:spPr>
        <p:txBody>
          <a:bodyPr wrap="square" lIns="0" tIns="0" rIns="0" bIns="0" rtlCol="0" anchor="t">
            <a:normAutofit/>
          </a:bodyPr>
          <a:lstStyle/>
          <a:p>
            <a:pPr marL="0" indent="0" algn="ctr">
              <a:lnSpc>
                <a:spcPts val="6440"/>
              </a:lnSpc>
              <a:buNone/>
            </a:pPr>
            <a:r>
              <a:rPr lang="en-US" sz="5600" b="1" dirty="0">
                <a:solidFill>
                  <a:srgbClr val="FDFDFB"/>
                </a:solidFill>
                <a:latin typeface="Times New Roman" panose="02020603050405020304" pitchFamily="18" charset="0"/>
                <a:ea typeface="Tinos" pitchFamily="34" charset="-122"/>
                <a:cs typeface="Times New Roman" panose="02020603050405020304" pitchFamily="18" charset="0"/>
              </a:rPr>
              <a:t>Cảm ơn thầy cô và các bạn</a:t>
            </a:r>
            <a:endParaRPr lang="en-US" sz="5600" dirty="0">
              <a:latin typeface="Times New Roman" panose="02020603050405020304" pitchFamily="18" charset="0"/>
              <a:cs typeface="Times New Roman" panose="02020603050405020304" pitchFamily="18" charset="0"/>
            </a:endParaRPr>
          </a:p>
          <a:p>
            <a:pPr marL="0" indent="0" algn="ctr">
              <a:lnSpc>
                <a:spcPts val="6440"/>
              </a:lnSpc>
              <a:buNone/>
            </a:pPr>
            <a:r>
              <a:rPr lang="en-US" sz="5600" b="1" dirty="0">
                <a:solidFill>
                  <a:srgbClr val="FDFDFB"/>
                </a:solidFill>
                <a:latin typeface="Times New Roman" panose="02020603050405020304" pitchFamily="18" charset="0"/>
                <a:ea typeface="Tinos" pitchFamily="34" charset="-122"/>
                <a:cs typeface="Times New Roman" panose="02020603050405020304" pitchFamily="18" charset="0"/>
              </a:rPr>
              <a:t>đã lắng nghe!</a:t>
            </a:r>
            <a:endParaRPr lang="en-US" sz="5600" dirty="0">
              <a:latin typeface="Times New Roman" panose="02020603050405020304" pitchFamily="18" charset="0"/>
              <a:cs typeface="Times New Roman" panose="02020603050405020304" pitchFamily="18" charset="0"/>
            </a:endParaRPr>
          </a:p>
        </p:txBody>
      </p:sp>
      <p:sp>
        <p:nvSpPr>
          <p:cNvPr id="4" name="Shape 2"/>
          <p:cNvSpPr/>
          <p:nvPr/>
        </p:nvSpPr>
        <p:spPr>
          <a:xfrm>
            <a:off x="3473110" y="4094448"/>
            <a:ext cx="5245724" cy="558800"/>
          </a:xfrm>
          <a:prstGeom prst="roundRect">
            <a:avLst>
              <a:gd name="adj" fmla="val 50000"/>
            </a:avLst>
          </a:prstGeom>
          <a:solidFill>
            <a:srgbClr val="FDFDFB"/>
          </a:solidFill>
          <a:ln/>
        </p:spPr>
      </p:sp>
      <p:sp>
        <p:nvSpPr>
          <p:cNvPr id="5" name="Text 3"/>
          <p:cNvSpPr/>
          <p:nvPr/>
        </p:nvSpPr>
        <p:spPr>
          <a:xfrm>
            <a:off x="3777910" y="4196048"/>
            <a:ext cx="477520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5E22"/>
                </a:solidFill>
                <a:latin typeface="Times New Roman" panose="02020603050405020304" pitchFamily="18" charset="0"/>
                <a:ea typeface="Open Sans" pitchFamily="34" charset="-122"/>
                <a:cs typeface="Times New Roman" panose="02020603050405020304" pitchFamily="18" charset="0"/>
              </a:rPr>
              <a:t>Hỏi &amp; đáp · Demo trực tiếp</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654304" y="5943600"/>
            <a:ext cx="10883393" cy="27429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EAF5E4"/>
                </a:solidFill>
                <a:latin typeface="Times New Roman" panose="02020603050405020304" pitchFamily="18" charset="0"/>
                <a:ea typeface="Open Sans" pitchFamily="34" charset="-122"/>
                <a:cs typeface="Times New Roman" panose="02020603050405020304" pitchFamily="18" charset="0"/>
              </a:rPr>
              <a:t>Nhóm 4 · Xử lý tín hiệu số · Học viện An ninh nhân dân</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2421</Words>
  <Application>Microsoft Office PowerPoint</Application>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phát và giải mã tín hiệu DTMF</dc:title>
  <dc:subject>PptxGenJS Presentation</dc:subject>
  <dc:creator>PptxGenJS</dc:creator>
  <cp:lastModifiedBy>Nhất Đỗ</cp:lastModifiedBy>
  <cp:revision>3</cp:revision>
  <dcterms:created xsi:type="dcterms:W3CDTF">2026-09-25T05:23:54Z</dcterms:created>
  <dcterms:modified xsi:type="dcterms:W3CDTF">2026-09-25T06:36:08Z</dcterms:modified>
</cp:coreProperties>
</file>